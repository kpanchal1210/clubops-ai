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Rectangle 1"/>
          <p:cNvSpPr/>
          <p:nvPr/>
        </p:nvSpPr>
        <p:spPr>
          <a:xfrm>
            <a:off x="731520" y="749808"/>
            <a:ext cx="10725912" cy="5358384"/>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88720" y="1143000"/>
            <a:ext cx="1097280" cy="274320"/>
          </a:xfrm>
          <a:prstGeom prst="rect">
            <a:avLst/>
          </a:prstGeom>
          <a:solidFill>
            <a:srgbClr val="FF2D5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BIT N BUILD</a:t>
            </a:r>
          </a:p>
        </p:txBody>
      </p:sp>
      <p:sp>
        <p:nvSpPr>
          <p:cNvPr id="4" name="TextBox 3"/>
          <p:cNvSpPr txBox="1"/>
          <p:nvPr/>
        </p:nvSpPr>
        <p:spPr>
          <a:xfrm>
            <a:off x="2423160" y="1143000"/>
            <a:ext cx="8229600" cy="274320"/>
          </a:xfrm>
          <a:prstGeom prst="rect">
            <a:avLst/>
          </a:prstGeom>
          <a:noFill/>
        </p:spPr>
        <p:txBody>
          <a:bodyPr wrap="none" lIns="0" tIns="0" rIns="0" bIns="0">
            <a:spAutoFit/>
          </a:bodyPr>
          <a:lstStyle/>
          <a:p>
            <a:pPr>
              <a:defRPr sz="950" b="1">
                <a:solidFill>
                  <a:srgbClr val="9CA3AF"/>
                </a:solidFill>
                <a:latin typeface="Segoe UI"/>
              </a:defRPr>
            </a:pPr>
            <a:r>
              <a:t>GUJARAT REGIONAL ROUND  •  TEAM: BIT COMPUTING</a:t>
            </a:r>
          </a:p>
        </p:txBody>
      </p:sp>
      <p:sp>
        <p:nvSpPr>
          <p:cNvPr id="5" name="TextBox 4"/>
          <p:cNvSpPr txBox="1"/>
          <p:nvPr/>
        </p:nvSpPr>
        <p:spPr>
          <a:xfrm>
            <a:off x="1188720" y="1600200"/>
            <a:ext cx="9601200" cy="1005840"/>
          </a:xfrm>
          <a:prstGeom prst="rect">
            <a:avLst/>
          </a:prstGeom>
          <a:noFill/>
        </p:spPr>
        <p:txBody>
          <a:bodyPr wrap="none" lIns="0" tIns="0" rIns="0" bIns="0">
            <a:spAutoFit/>
          </a:bodyPr>
          <a:lstStyle/>
          <a:p>
            <a:pPr>
              <a:defRPr sz="4800" b="1">
                <a:solidFill>
                  <a:srgbClr val="FFFFFF"/>
                </a:solidFill>
                <a:latin typeface="Segoe UI"/>
              </a:defRPr>
            </a:pPr>
            <a:r>
              <a:t>CLUBOPS AI</a:t>
            </a:r>
          </a:p>
        </p:txBody>
      </p:sp>
      <p:sp>
        <p:nvSpPr>
          <p:cNvPr id="6" name="TextBox 5"/>
          <p:cNvSpPr txBox="1"/>
          <p:nvPr/>
        </p:nvSpPr>
        <p:spPr>
          <a:xfrm>
            <a:off x="1188720" y="2606040"/>
            <a:ext cx="9601200" cy="548640"/>
          </a:xfrm>
          <a:prstGeom prst="rect">
            <a:avLst/>
          </a:prstGeom>
          <a:noFill/>
        </p:spPr>
        <p:txBody>
          <a:bodyPr wrap="none" lIns="0" tIns="0" rIns="0" bIns="0">
            <a:spAutoFit/>
          </a:bodyPr>
          <a:lstStyle/>
          <a:p>
            <a:pPr>
              <a:defRPr sz="1700" b="1">
                <a:solidFill>
                  <a:srgbClr val="FF2D55"/>
                </a:solidFill>
                <a:latin typeface="Segoe UI"/>
              </a:defRPr>
            </a:pPr>
            <a:r>
              <a:t>Autonomous Operations Platform for College Clubs &amp; Campus Events</a:t>
            </a:r>
          </a:p>
          <a:p>
            <a:pPr>
              <a:spcBef>
                <a:spcPts val="600"/>
              </a:spcBef>
              <a:defRPr sz="1200">
                <a:solidFill>
                  <a:srgbClr val="9CA3AF"/>
                </a:solidFill>
                <a:latin typeface="Segoe UI"/>
              </a:defRPr>
            </a:pPr>
            <a:r>
              <a:t>Problem Statement: AI-Powered Autonomous Club &amp; Event Operations Platform (Team Leader: Krish Panchal)</a:t>
            </a:r>
          </a:p>
        </p:txBody>
      </p:sp>
      <p:sp>
        <p:nvSpPr>
          <p:cNvPr id="7" name="Rectangle 6"/>
          <p:cNvSpPr/>
          <p:nvPr/>
        </p:nvSpPr>
        <p:spPr>
          <a:xfrm>
            <a:off x="1188720" y="4343400"/>
            <a:ext cx="2331720" cy="1325880"/>
          </a:xfrm>
          <a:prstGeom prst="rect">
            <a:avLst/>
          </a:prstGeom>
          <a:solidFill>
            <a:srgbClr val="0B0C10"/>
          </a:solidFill>
          <a:ln w="1524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4434840"/>
            <a:ext cx="2057400" cy="1143000"/>
          </a:xfrm>
          <a:prstGeom prst="rect">
            <a:avLst/>
          </a:prstGeom>
          <a:noFill/>
        </p:spPr>
        <p:txBody>
          <a:bodyPr wrap="none" lIns="0" tIns="0" rIns="0" bIns="0">
            <a:spAutoFit/>
          </a:bodyPr>
          <a:lstStyle/>
          <a:p>
            <a:pPr>
              <a:defRPr sz="900" b="1">
                <a:solidFill>
                  <a:srgbClr val="FF2D55"/>
                </a:solidFill>
                <a:latin typeface="Segoe UI"/>
              </a:defRPr>
            </a:pPr>
            <a:r>
              <a:t>FRONTEND LEAD</a:t>
            </a:r>
          </a:p>
          <a:p>
            <a:pPr>
              <a:spcBef>
                <a:spcPts val="200"/>
              </a:spcBef>
              <a:defRPr sz="1300" b="1">
                <a:solidFill>
                  <a:srgbClr val="FFFFFF"/>
                </a:solidFill>
                <a:latin typeface="Segoe UI"/>
              </a:defRPr>
            </a:pPr>
            <a:r>
              <a:t>Krish J. Panchal</a:t>
            </a:r>
          </a:p>
          <a:p>
            <a:pPr>
              <a:spcBef>
                <a:spcPts val="400"/>
              </a:spcBef>
              <a:defRPr sz="950">
                <a:solidFill>
                  <a:srgbClr val="9CA3AF"/>
                </a:solidFill>
                <a:latin typeface="Segoe UI"/>
              </a:defRPr>
            </a:pPr>
            <a:r>
              <a:t>React 19, Vite, Neo-Brutalist UI</a:t>
            </a:r>
          </a:p>
        </p:txBody>
      </p:sp>
      <p:sp>
        <p:nvSpPr>
          <p:cNvPr id="9" name="Rectangle 8"/>
          <p:cNvSpPr/>
          <p:nvPr/>
        </p:nvSpPr>
        <p:spPr>
          <a:xfrm>
            <a:off x="3657600" y="4343400"/>
            <a:ext cx="2331720" cy="1325880"/>
          </a:xfrm>
          <a:prstGeom prst="rect">
            <a:avLst/>
          </a:prstGeom>
          <a:solidFill>
            <a:srgbClr val="0B0C10"/>
          </a:solidFill>
          <a:ln w="1524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94760" y="4434840"/>
            <a:ext cx="2057400" cy="1143000"/>
          </a:xfrm>
          <a:prstGeom prst="rect">
            <a:avLst/>
          </a:prstGeom>
          <a:noFill/>
        </p:spPr>
        <p:txBody>
          <a:bodyPr wrap="none" lIns="0" tIns="0" rIns="0" bIns="0">
            <a:spAutoFit/>
          </a:bodyPr>
          <a:lstStyle/>
          <a:p>
            <a:pPr>
              <a:defRPr sz="900" b="1">
                <a:solidFill>
                  <a:srgbClr val="FF2D55"/>
                </a:solidFill>
                <a:latin typeface="Segoe UI"/>
              </a:defRPr>
            </a:pPr>
            <a:r>
              <a:t>BACKEND LEAD</a:t>
            </a:r>
          </a:p>
          <a:p>
            <a:pPr>
              <a:spcBef>
                <a:spcPts val="200"/>
              </a:spcBef>
              <a:defRPr sz="1300" b="1">
                <a:solidFill>
                  <a:srgbClr val="FFFFFF"/>
                </a:solidFill>
                <a:latin typeface="Segoe UI"/>
              </a:defRPr>
            </a:pPr>
            <a:r>
              <a:t>Krish M. Patel</a:t>
            </a:r>
          </a:p>
          <a:p>
            <a:pPr>
              <a:spcBef>
                <a:spcPts val="400"/>
              </a:spcBef>
              <a:defRPr sz="950">
                <a:solidFill>
                  <a:srgbClr val="9CA3AF"/>
                </a:solidFill>
                <a:latin typeface="Segoe UI"/>
              </a:defRPr>
            </a:pPr>
            <a:r>
              <a:t>Express 5, MongoDB, JWT Auth</a:t>
            </a:r>
          </a:p>
        </p:txBody>
      </p:sp>
      <p:sp>
        <p:nvSpPr>
          <p:cNvPr id="11" name="Rectangle 10"/>
          <p:cNvSpPr/>
          <p:nvPr/>
        </p:nvSpPr>
        <p:spPr>
          <a:xfrm>
            <a:off x="6126480" y="4343400"/>
            <a:ext cx="2331720" cy="1325880"/>
          </a:xfrm>
          <a:prstGeom prst="rect">
            <a:avLst/>
          </a:prstGeom>
          <a:solidFill>
            <a:srgbClr val="0B0C10"/>
          </a:solidFill>
          <a:ln w="1524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4434840"/>
            <a:ext cx="2057400" cy="1143000"/>
          </a:xfrm>
          <a:prstGeom prst="rect">
            <a:avLst/>
          </a:prstGeom>
          <a:noFill/>
        </p:spPr>
        <p:txBody>
          <a:bodyPr wrap="none" lIns="0" tIns="0" rIns="0" bIns="0">
            <a:spAutoFit/>
          </a:bodyPr>
          <a:lstStyle/>
          <a:p>
            <a:pPr>
              <a:defRPr sz="900" b="1">
                <a:solidFill>
                  <a:srgbClr val="FF2D55"/>
                </a:solidFill>
                <a:latin typeface="Segoe UI"/>
              </a:defRPr>
            </a:pPr>
            <a:r>
              <a:t>RAG SPECIALIST</a:t>
            </a:r>
          </a:p>
          <a:p>
            <a:pPr>
              <a:spcBef>
                <a:spcPts val="200"/>
              </a:spcBef>
              <a:defRPr sz="1300" b="1">
                <a:solidFill>
                  <a:srgbClr val="FFFFFF"/>
                </a:solidFill>
                <a:latin typeface="Segoe UI"/>
              </a:defRPr>
            </a:pPr>
            <a:r>
              <a:t>Krish K. Patel</a:t>
            </a:r>
          </a:p>
          <a:p>
            <a:pPr>
              <a:spcBef>
                <a:spcPts val="400"/>
              </a:spcBef>
              <a:defRPr sz="950">
                <a:solidFill>
                  <a:srgbClr val="9CA3AF"/>
                </a:solidFill>
                <a:latin typeface="Segoe UI"/>
              </a:defRPr>
            </a:pPr>
            <a:r>
              <a:t>Document Chunker, Cosine Similarity</a:t>
            </a:r>
          </a:p>
        </p:txBody>
      </p:sp>
      <p:sp>
        <p:nvSpPr>
          <p:cNvPr id="13" name="Rectangle 12"/>
          <p:cNvSpPr/>
          <p:nvPr/>
        </p:nvSpPr>
        <p:spPr>
          <a:xfrm>
            <a:off x="8595360" y="4343400"/>
            <a:ext cx="2331720" cy="1325880"/>
          </a:xfrm>
          <a:prstGeom prst="rect">
            <a:avLst/>
          </a:prstGeom>
          <a:solidFill>
            <a:srgbClr val="0B0C10"/>
          </a:solidFill>
          <a:ln w="1524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20" y="4434840"/>
            <a:ext cx="2057400" cy="1143000"/>
          </a:xfrm>
          <a:prstGeom prst="rect">
            <a:avLst/>
          </a:prstGeom>
          <a:noFill/>
        </p:spPr>
        <p:txBody>
          <a:bodyPr wrap="none" lIns="0" tIns="0" rIns="0" bIns="0">
            <a:spAutoFit/>
          </a:bodyPr>
          <a:lstStyle/>
          <a:p>
            <a:pPr>
              <a:defRPr sz="900" b="1">
                <a:solidFill>
                  <a:srgbClr val="FF2D55"/>
                </a:solidFill>
                <a:latin typeface="Segoe UI"/>
              </a:defRPr>
            </a:pPr>
            <a:r>
              <a:t>AI AUTOMATION LEAD</a:t>
            </a:r>
          </a:p>
          <a:p>
            <a:pPr>
              <a:spcBef>
                <a:spcPts val="200"/>
              </a:spcBef>
              <a:defRPr sz="1300" b="1">
                <a:solidFill>
                  <a:srgbClr val="FFFFFF"/>
                </a:solidFill>
                <a:latin typeface="Segoe UI"/>
              </a:defRPr>
            </a:pPr>
            <a:r>
              <a:t>Dhruv Patel</a:t>
            </a:r>
          </a:p>
          <a:p>
            <a:pPr>
              <a:spcBef>
                <a:spcPts val="400"/>
              </a:spcBef>
              <a:defRPr sz="950">
                <a:solidFill>
                  <a:srgbClr val="9CA3AF"/>
                </a:solidFill>
                <a:latin typeface="Segoe UI"/>
              </a:defRPr>
            </a:pPr>
            <a:r>
              <a:t>Gemini Agent &amp; Task Auto-Allocation</a:t>
            </a:r>
          </a:p>
        </p:txBody>
      </p:sp>
      <p:sp>
        <p:nvSpPr>
          <p:cNvPr id="15" name="TextBox 14"/>
          <p:cNvSpPr txBox="1"/>
          <p:nvPr/>
        </p:nvSpPr>
        <p:spPr>
          <a:xfrm>
            <a:off x="731520" y="6473952"/>
            <a:ext cx="10698480" cy="274320"/>
          </a:xfrm>
          <a:prstGeom prst="rect">
            <a:avLst/>
          </a:prstGeom>
          <a:noFill/>
        </p:spPr>
        <p:txBody>
          <a:bodyPr wrap="none" lIns="0" tIns="0" rIns="0" bIns="0">
            <a:spAutoFit/>
          </a:bodyPr>
          <a:lstStyle/>
          <a:p>
            <a:pPr>
              <a:defRPr sz="900">
                <a:solidFill>
                  <a:srgbClr val="6E7382"/>
                </a:solidFill>
                <a:latin typeface="Segoe UI"/>
              </a:defRPr>
            </a:pPr>
            <a:r>
              <a:t>ClubOps AI  •  Bit N Build 2026 Hackathon  •  Slide 1 of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PROBLEM &amp; PROPOSED SOLUTION</a:t>
            </a:r>
          </a:p>
        </p:txBody>
      </p:sp>
      <p:sp>
        <p:nvSpPr>
          <p:cNvPr id="4" name="TextBox 3"/>
          <p:cNvSpPr txBox="1"/>
          <p:nvPr/>
        </p:nvSpPr>
        <p:spPr>
          <a:xfrm>
            <a:off x="731520" y="621792"/>
            <a:ext cx="10698480" cy="594360"/>
          </a:xfrm>
          <a:prstGeom prst="rect">
            <a:avLst/>
          </a:prstGeom>
          <a:noFill/>
        </p:spPr>
        <p:txBody>
          <a:bodyPr wrap="none" lIns="0" tIns="0" rIns="0" bIns="0">
            <a:spAutoFit/>
          </a:bodyPr>
          <a:lstStyle/>
          <a:p>
            <a:pPr>
              <a:defRPr sz="2100" b="1">
                <a:solidFill>
                  <a:srgbClr val="FFFFFF"/>
                </a:solidFill>
                <a:latin typeface="Segoe UI"/>
              </a:defRPr>
            </a:pPr>
            <a:r>
              <a:t>The Status Quo vs. The ClubOps AI Approach</a:t>
            </a:r>
          </a:p>
        </p:txBody>
      </p:sp>
      <p:sp>
        <p:nvSpPr>
          <p:cNvPr id="5" name="TextBox 4"/>
          <p:cNvSpPr txBox="1"/>
          <p:nvPr/>
        </p:nvSpPr>
        <p:spPr>
          <a:xfrm>
            <a:off x="731520" y="1188720"/>
            <a:ext cx="10698480" cy="320040"/>
          </a:xfrm>
          <a:prstGeom prst="rect">
            <a:avLst/>
          </a:prstGeom>
          <a:noFill/>
        </p:spPr>
        <p:txBody>
          <a:bodyPr wrap="none" lIns="0" tIns="0" rIns="0" bIns="0">
            <a:spAutoFit/>
          </a:bodyPr>
          <a:lstStyle/>
          <a:p>
            <a:pPr>
              <a:defRPr sz="1150">
                <a:solidFill>
                  <a:srgbClr val="9CA3AF"/>
                </a:solidFill>
                <a:latin typeface="Segoe UI"/>
              </a:defRPr>
            </a:pPr>
            <a:r>
              <a:t>Comparing traditional fragmented coordination with intelligent autonomous operations.</a:t>
            </a:r>
          </a:p>
        </p:txBody>
      </p:sp>
      <p:sp>
        <p:nvSpPr>
          <p:cNvPr id="6" name="Rectangle 5"/>
          <p:cNvSpPr/>
          <p:nvPr/>
        </p:nvSpPr>
        <p:spPr>
          <a:xfrm>
            <a:off x="731520" y="1691640"/>
            <a:ext cx="5212080" cy="4480560"/>
          </a:xfrm>
          <a:prstGeom prst="rect">
            <a:avLst/>
          </a:prstGeom>
          <a:solidFill>
            <a:srgbClr val="F5F3EE"/>
          </a:solidFill>
          <a:ln w="19050">
            <a:solidFill>
              <a:srgbClr val="DA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74519"/>
            <a:ext cx="4663440" cy="4069080"/>
          </a:xfrm>
          <a:prstGeom prst="rect">
            <a:avLst/>
          </a:prstGeom>
          <a:noFill/>
        </p:spPr>
        <p:txBody>
          <a:bodyPr wrap="none" lIns="0" tIns="0" rIns="0" bIns="0">
            <a:spAutoFit/>
          </a:bodyPr>
          <a:lstStyle/>
          <a:p>
            <a:pPr>
              <a:defRPr sz="1000" b="1">
                <a:solidFill>
                  <a:srgbClr val="FF2D55"/>
                </a:solidFill>
                <a:latin typeface="Segoe UI"/>
              </a:defRPr>
            </a:pPr>
            <a:r>
              <a:t>THE PROBLEM LANDSCAPE</a:t>
            </a:r>
          </a:p>
          <a:p>
            <a:pPr>
              <a:spcBef>
                <a:spcPts val="200"/>
              </a:spcBef>
              <a:defRPr sz="1800" b="1">
                <a:solidFill>
                  <a:srgbClr val="0F1117"/>
                </a:solidFill>
                <a:latin typeface="Segoe UI"/>
              </a:defRPr>
            </a:pPr>
            <a:r>
              <a:t>Operational Bottlenecks in Campus Clubs</a:t>
            </a:r>
          </a:p>
          <a:p>
            <a:pPr>
              <a:spcBef>
                <a:spcPts val="800"/>
              </a:spcBef>
            </a:pPr>
            <a:r>
              <a:rPr b="1" sz="1050">
                <a:solidFill>
                  <a:srgbClr val="FF2D55"/>
                </a:solidFill>
              </a:rPr>
              <a:t>• Fragmented Coordination: </a:t>
            </a:r>
            <a:r>
              <a:rPr sz="1000">
                <a:solidFill>
                  <a:srgbClr val="0F1117"/>
                </a:solidFill>
              </a:rPr>
              <a:t>Tasks get buried across WhatsApp groups, Google Docs, and unmaintained spreadsheets.</a:t>
            </a:r>
          </a:p>
          <a:p>
            <a:pPr>
              <a:spcBef>
                <a:spcPts val="800"/>
              </a:spcBef>
            </a:pPr>
            <a:r>
              <a:rPr b="1" sz="1050">
                <a:solidFill>
                  <a:srgbClr val="FF2D55"/>
                </a:solidFill>
              </a:rPr>
              <a:t>• Volunteer Overload &amp; Burnout: </a:t>
            </a:r>
            <a:r>
              <a:rPr sz="1000">
                <a:solidFill>
                  <a:srgbClr val="0F1117"/>
                </a:solidFill>
              </a:rPr>
              <a:t>Delegation is arbitrary; eager volunteers get overloaded while others remain completely idle.</a:t>
            </a:r>
          </a:p>
          <a:p>
            <a:pPr>
              <a:spcBef>
                <a:spcPts val="800"/>
              </a:spcBef>
            </a:pPr>
            <a:r>
              <a:rPr b="1" sz="1050">
                <a:solidFill>
                  <a:srgbClr val="FF2D55"/>
                </a:solidFill>
              </a:rPr>
              <a:t>• Meeting Note Decay: </a:t>
            </a:r>
            <a:r>
              <a:rPr sz="1000">
                <a:solidFill>
                  <a:srgbClr val="0F1117"/>
                </a:solidFill>
              </a:rPr>
              <a:t>Critical decisions made during meetings rarely translate into prioritized deliverables with deadlines.</a:t>
            </a:r>
          </a:p>
          <a:p>
            <a:pPr>
              <a:spcBef>
                <a:spcPts val="800"/>
              </a:spcBef>
            </a:pPr>
            <a:r>
              <a:rPr b="1" sz="1050">
                <a:solidFill>
                  <a:srgbClr val="FF2D55"/>
                </a:solidFill>
              </a:rPr>
              <a:t>• Institutional Amnesia: </a:t>
            </a:r>
            <a:r>
              <a:rPr sz="1000">
                <a:solidFill>
                  <a:srgbClr val="0F1117"/>
                </a:solidFill>
              </a:rPr>
              <a:t>Club documents, sponsorship contracts, and judging rubrics vanish when student leadership rotates.</a:t>
            </a:r>
          </a:p>
        </p:txBody>
      </p:sp>
      <p:sp>
        <p:nvSpPr>
          <p:cNvPr id="8" name="Rectangle 7"/>
          <p:cNvSpPr/>
          <p:nvPr/>
        </p:nvSpPr>
        <p:spPr>
          <a:xfrm>
            <a:off x="6217920" y="1691640"/>
            <a:ext cx="5239512" cy="214884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874519"/>
            <a:ext cx="4690872" cy="1783080"/>
          </a:xfrm>
          <a:prstGeom prst="rect">
            <a:avLst/>
          </a:prstGeom>
          <a:noFill/>
        </p:spPr>
        <p:txBody>
          <a:bodyPr wrap="none" lIns="0" tIns="0" rIns="0" bIns="0">
            <a:spAutoFit/>
          </a:bodyPr>
          <a:lstStyle/>
          <a:p>
            <a:pPr>
              <a:defRPr sz="1000" b="1">
                <a:solidFill>
                  <a:srgbClr val="FF2D55"/>
                </a:solidFill>
                <a:latin typeface="Segoe UI"/>
              </a:defRPr>
            </a:pPr>
            <a:r>
              <a:t>PROPOSED SOLUTION: CLUBOPS-AI</a:t>
            </a:r>
          </a:p>
          <a:p>
            <a:pPr>
              <a:spcBef>
                <a:spcPts val="200"/>
              </a:spcBef>
              <a:defRPr sz="1400" b="1">
                <a:solidFill>
                  <a:srgbClr val="FFFFFF"/>
                </a:solidFill>
                <a:latin typeface="Segoe UI"/>
              </a:defRPr>
            </a:pPr>
            <a:r>
              <a:t>Unified Autonomous Operations Center</a:t>
            </a:r>
          </a:p>
          <a:p>
            <a:pPr>
              <a:spcBef>
                <a:spcPts val="500"/>
              </a:spcBef>
            </a:pPr>
            <a:r>
              <a:rPr b="1" sz="1050">
                <a:solidFill>
                  <a:srgbClr val="10B981"/>
                </a:solidFill>
              </a:rPr>
              <a:t>• Centralized Hub: </a:t>
            </a:r>
            <a:r>
              <a:rPr sz="1000">
                <a:solidFill>
                  <a:srgbClr val="9CA3AF"/>
                </a:solidFill>
              </a:rPr>
              <a:t>Single mission control for planning, tasks, volunteers, risks, documents, and notifications.</a:t>
            </a:r>
          </a:p>
          <a:p>
            <a:pPr>
              <a:spcBef>
                <a:spcPts val="500"/>
              </a:spcBef>
            </a:pPr>
            <a:r>
              <a:rPr b="1" sz="1050">
                <a:solidFill>
                  <a:srgbClr val="10B981"/>
                </a:solidFill>
              </a:rPr>
              <a:t>• Smart Auto-Delegation: </a:t>
            </a:r>
            <a:r>
              <a:rPr sz="1000">
                <a:solidFill>
                  <a:srgbClr val="9CA3AF"/>
                </a:solidFill>
              </a:rPr>
              <a:t>Splits multi-sentence meeting notes and routes tasks to the least-loaded matching volunteer.</a:t>
            </a:r>
          </a:p>
        </p:txBody>
      </p:sp>
      <p:sp>
        <p:nvSpPr>
          <p:cNvPr id="10" name="Rectangle 9"/>
          <p:cNvSpPr/>
          <p:nvPr/>
        </p:nvSpPr>
        <p:spPr>
          <a:xfrm>
            <a:off x="6217920" y="4023360"/>
            <a:ext cx="5239512" cy="214884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4206240"/>
            <a:ext cx="4690872" cy="1783080"/>
          </a:xfrm>
          <a:prstGeom prst="rect">
            <a:avLst/>
          </a:prstGeom>
          <a:noFill/>
        </p:spPr>
        <p:txBody>
          <a:bodyPr wrap="none" lIns="0" tIns="0" rIns="0" bIns="0">
            <a:spAutoFit/>
          </a:bodyPr>
          <a:lstStyle/>
          <a:p>
            <a:pPr>
              <a:defRPr sz="1000" b="1">
                <a:solidFill>
                  <a:srgbClr val="FF2D55"/>
                </a:solidFill>
                <a:latin typeface="Segoe UI"/>
              </a:defRPr>
            </a:pPr>
            <a:r>
              <a:t>KEY IDEA BEHIND THE SOLUTION</a:t>
            </a:r>
          </a:p>
          <a:p>
            <a:pPr>
              <a:spcBef>
                <a:spcPts val="200"/>
              </a:spcBef>
              <a:defRPr sz="1400" b="1">
                <a:solidFill>
                  <a:srgbClr val="FFFFFF"/>
                </a:solidFill>
                <a:latin typeface="Segoe UI"/>
              </a:defRPr>
            </a:pPr>
            <a:r>
              <a:t>Grounded Intelligence + Autonomous Workflows</a:t>
            </a:r>
          </a:p>
          <a:p>
            <a:pPr>
              <a:spcBef>
                <a:spcPts val="500"/>
              </a:spcBef>
            </a:pPr>
            <a:r>
              <a:rPr b="1" sz="1050">
                <a:solidFill>
                  <a:srgbClr val="06B6D4"/>
                </a:solidFill>
              </a:rPr>
              <a:t>• Grounded RAG: </a:t>
            </a:r>
            <a:r>
              <a:rPr sz="1000">
                <a:solidFill>
                  <a:srgbClr val="9CA3AF"/>
                </a:solidFill>
              </a:rPr>
              <a:t>Answers queries strictly from club docs (.pdf, .docx, .doc) with verbatim citations (zero hallucination).</a:t>
            </a:r>
          </a:p>
          <a:p>
            <a:pPr>
              <a:spcBef>
                <a:spcPts val="500"/>
              </a:spcBef>
            </a:pPr>
            <a:r>
              <a:rPr b="1" sz="1050">
                <a:solidFill>
                  <a:srgbClr val="06B6D4"/>
                </a:solidFill>
              </a:rPr>
              <a:t>• Agentic Workflows: </a:t>
            </a:r>
            <a:r>
              <a:rPr sz="1000">
                <a:solidFill>
                  <a:srgbClr val="9CA3AF"/>
                </a:solidFill>
              </a:rPr>
              <a:t>Natural language commands trigger live database actions via 6 specialized backend tools.</a:t>
            </a:r>
          </a:p>
        </p:txBody>
      </p:sp>
      <p:sp>
        <p:nvSpPr>
          <p:cNvPr id="12" name="TextBox 11"/>
          <p:cNvSpPr txBox="1"/>
          <p:nvPr/>
        </p:nvSpPr>
        <p:spPr>
          <a:xfrm>
            <a:off x="731520" y="6473952"/>
            <a:ext cx="10698480" cy="274320"/>
          </a:xfrm>
          <a:prstGeom prst="rect">
            <a:avLst/>
          </a:prstGeom>
          <a:noFill/>
        </p:spPr>
        <p:txBody>
          <a:bodyPr wrap="none" lIns="0" tIns="0" rIns="0" bIns="0">
            <a:spAutoFit/>
          </a:bodyPr>
          <a:lstStyle/>
          <a:p>
            <a:pPr>
              <a:defRPr sz="900">
                <a:solidFill>
                  <a:srgbClr val="6E7382"/>
                </a:solidFill>
                <a:latin typeface="Segoe UI"/>
              </a:defRPr>
            </a:pPr>
            <a:r>
              <a:t>ClubOps AI  •  Bit N Build 2026 Hackathon  •  Slide 2 of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FULL-STACK ARCHITECTURE</a:t>
            </a:r>
          </a:p>
        </p:txBody>
      </p:sp>
      <p:sp>
        <p:nvSpPr>
          <p:cNvPr id="4" name="TextBox 3"/>
          <p:cNvSpPr txBox="1"/>
          <p:nvPr/>
        </p:nvSpPr>
        <p:spPr>
          <a:xfrm>
            <a:off x="731520" y="621792"/>
            <a:ext cx="10698480" cy="594360"/>
          </a:xfrm>
          <a:prstGeom prst="rect">
            <a:avLst/>
          </a:prstGeom>
          <a:noFill/>
        </p:spPr>
        <p:txBody>
          <a:bodyPr wrap="none" lIns="0" tIns="0" rIns="0" bIns="0">
            <a:spAutoFit/>
          </a:bodyPr>
          <a:lstStyle/>
          <a:p>
            <a:pPr>
              <a:defRPr sz="2100" b="1">
                <a:solidFill>
                  <a:srgbClr val="FFFFFF"/>
                </a:solidFill>
                <a:latin typeface="Segoe UI"/>
              </a:defRPr>
            </a:pPr>
            <a:r>
              <a:t>Multi-Tier Software Architecture</a:t>
            </a:r>
          </a:p>
        </p:txBody>
      </p:sp>
      <p:sp>
        <p:nvSpPr>
          <p:cNvPr id="5" name="TextBox 4"/>
          <p:cNvSpPr txBox="1"/>
          <p:nvPr/>
        </p:nvSpPr>
        <p:spPr>
          <a:xfrm>
            <a:off x="731520" y="1188720"/>
            <a:ext cx="10698480" cy="320040"/>
          </a:xfrm>
          <a:prstGeom prst="rect">
            <a:avLst/>
          </a:prstGeom>
          <a:noFill/>
        </p:spPr>
        <p:txBody>
          <a:bodyPr wrap="none" lIns="0" tIns="0" rIns="0" bIns="0">
            <a:spAutoFit/>
          </a:bodyPr>
          <a:lstStyle/>
          <a:p>
            <a:pPr>
              <a:defRPr sz="1150">
                <a:solidFill>
                  <a:srgbClr val="9CA3AF"/>
                </a:solidFill>
                <a:latin typeface="Segoe UI"/>
              </a:defRPr>
            </a:pPr>
            <a:r>
              <a:t>Clear separation of concerns across client, API services, AI pipelines, and data storage.</a:t>
            </a:r>
          </a:p>
        </p:txBody>
      </p:sp>
      <p:sp>
        <p:nvSpPr>
          <p:cNvPr id="6" name="Rectangle 5"/>
          <p:cNvSpPr/>
          <p:nvPr/>
        </p:nvSpPr>
        <p:spPr>
          <a:xfrm>
            <a:off x="731520" y="1691640"/>
            <a:ext cx="2487168"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121408" cy="4069080"/>
          </a:xfrm>
          <a:prstGeom prst="rect">
            <a:avLst/>
          </a:prstGeom>
          <a:noFill/>
        </p:spPr>
        <p:txBody>
          <a:bodyPr wrap="none" lIns="0" tIns="0" rIns="0" bIns="0">
            <a:spAutoFit/>
          </a:bodyPr>
          <a:lstStyle/>
          <a:p>
            <a:pPr>
              <a:defRPr sz="1200" b="1">
                <a:solidFill>
                  <a:srgbClr val="FF2D55"/>
                </a:solidFill>
                <a:latin typeface="Segoe UI"/>
              </a:defRPr>
            </a:pPr>
            <a:r>
              <a:t>FRONTEND SPA</a:t>
            </a:r>
          </a:p>
          <a:p>
            <a:pPr>
              <a:spcBef>
                <a:spcPts val="200"/>
              </a:spcBef>
              <a:defRPr sz="1000">
                <a:solidFill>
                  <a:srgbClr val="FFFFFF"/>
                </a:solidFill>
                <a:latin typeface="Segoe UI"/>
              </a:defRPr>
            </a:pPr>
            <a:r>
              <a:t>Lead: Krish J. Panchal</a:t>
            </a:r>
          </a:p>
          <a:p>
            <a:pPr>
              <a:spcBef>
                <a:spcPts val="1400"/>
              </a:spcBef>
            </a:pPr>
            <a:r>
              <a:rPr b="1" sz="1100">
                <a:solidFill>
                  <a:srgbClr val="06B6D4"/>
                </a:solidFill>
              </a:rPr>
              <a:t>• React 19 &amp; Vite
</a:t>
            </a:r>
            <a:r>
              <a:rPr sz="1000">
                <a:solidFill>
                  <a:srgbClr val="9CA3AF"/>
                </a:solidFill>
              </a:rPr>
              <a:t>Component architecture with sub-350ms hot builds.</a:t>
            </a:r>
          </a:p>
          <a:p>
            <a:pPr>
              <a:spcBef>
                <a:spcPts val="1400"/>
              </a:spcBef>
            </a:pPr>
            <a:r>
              <a:rPr b="1" sz="1100">
                <a:solidFill>
                  <a:srgbClr val="06B6D4"/>
                </a:solidFill>
              </a:rPr>
              <a:t>• Design System
</a:t>
            </a:r>
            <a:r>
              <a:rPr sz="1000">
                <a:solidFill>
                  <a:srgbClr val="9CA3AF"/>
                </a:solidFill>
              </a:rPr>
              <a:t>Neo-brutalist dark editorial UI with Lucide icons.</a:t>
            </a:r>
          </a:p>
          <a:p>
            <a:pPr>
              <a:spcBef>
                <a:spcPts val="1400"/>
              </a:spcBef>
            </a:pPr>
            <a:r>
              <a:rPr b="1" sz="1100">
                <a:solidFill>
                  <a:srgbClr val="06B6D4"/>
                </a:solidFill>
              </a:rPr>
              <a:t>• Context State
</a:t>
            </a:r>
            <a:r>
              <a:rPr sz="1000">
                <a:solidFill>
                  <a:srgbClr val="9CA3AF"/>
                </a:solidFill>
              </a:rPr>
              <a:t>Global AuthContext &amp; EventContext state sync.</a:t>
            </a:r>
          </a:p>
        </p:txBody>
      </p:sp>
      <p:sp>
        <p:nvSpPr>
          <p:cNvPr id="8" name="Rectangle 7"/>
          <p:cNvSpPr/>
          <p:nvPr/>
        </p:nvSpPr>
        <p:spPr>
          <a:xfrm>
            <a:off x="3447288" y="1691640"/>
            <a:ext cx="2487168"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0168" y="1874519"/>
            <a:ext cx="2121408" cy="4069080"/>
          </a:xfrm>
          <a:prstGeom prst="rect">
            <a:avLst/>
          </a:prstGeom>
          <a:noFill/>
        </p:spPr>
        <p:txBody>
          <a:bodyPr wrap="none" lIns="0" tIns="0" rIns="0" bIns="0">
            <a:spAutoFit/>
          </a:bodyPr>
          <a:lstStyle/>
          <a:p>
            <a:pPr>
              <a:defRPr sz="1200" b="1">
                <a:solidFill>
                  <a:srgbClr val="FF2D55"/>
                </a:solidFill>
                <a:latin typeface="Segoe UI"/>
              </a:defRPr>
            </a:pPr>
            <a:r>
              <a:t>BACKEND REST API</a:t>
            </a:r>
          </a:p>
          <a:p>
            <a:pPr>
              <a:spcBef>
                <a:spcPts val="200"/>
              </a:spcBef>
              <a:defRPr sz="1000">
                <a:solidFill>
                  <a:srgbClr val="FFFFFF"/>
                </a:solidFill>
                <a:latin typeface="Segoe UI"/>
              </a:defRPr>
            </a:pPr>
            <a:r>
              <a:t>Lead: Krish M. Patel</a:t>
            </a:r>
          </a:p>
          <a:p>
            <a:pPr>
              <a:spcBef>
                <a:spcPts val="1400"/>
              </a:spcBef>
            </a:pPr>
            <a:r>
              <a:rPr b="1" sz="1100">
                <a:solidFill>
                  <a:srgbClr val="06B6D4"/>
                </a:solidFill>
              </a:rPr>
              <a:t>• Node &amp; Express 5
</a:t>
            </a:r>
            <a:r>
              <a:rPr sz="1000">
                <a:solidFill>
                  <a:srgbClr val="9CA3AF"/>
                </a:solidFill>
              </a:rPr>
              <a:t>High-throughput asynchronous REST gateway.</a:t>
            </a:r>
          </a:p>
          <a:p>
            <a:pPr>
              <a:spcBef>
                <a:spcPts val="1400"/>
              </a:spcBef>
            </a:pPr>
            <a:r>
              <a:rPr b="1" sz="1100">
                <a:solidFill>
                  <a:srgbClr val="06B6D4"/>
                </a:solidFill>
              </a:rPr>
              <a:t>• Security &amp; Auth
</a:t>
            </a:r>
            <a:r>
              <a:rPr sz="1000">
                <a:solidFill>
                  <a:srgbClr val="9CA3AF"/>
                </a:solidFill>
              </a:rPr>
              <a:t>BCrypt 10 salt rounds + Signed JWT bearer tokens.</a:t>
            </a:r>
          </a:p>
          <a:p>
            <a:pPr>
              <a:spcBef>
                <a:spcPts val="1400"/>
              </a:spcBef>
            </a:pPr>
            <a:r>
              <a:rPr b="1" sz="1100">
                <a:solidFill>
                  <a:srgbClr val="06B6D4"/>
                </a:solidFill>
              </a:rPr>
              <a:t>• Data Architecture
</a:t>
            </a:r>
            <a:r>
              <a:rPr sz="1000">
                <a:solidFill>
                  <a:srgbClr val="9CA3AF"/>
                </a:solidFill>
              </a:rPr>
              <a:t>11 Mongoose relational schemas &amp; indexes.</a:t>
            </a:r>
          </a:p>
        </p:txBody>
      </p:sp>
      <p:sp>
        <p:nvSpPr>
          <p:cNvPr id="10" name="Rectangle 9"/>
          <p:cNvSpPr/>
          <p:nvPr/>
        </p:nvSpPr>
        <p:spPr>
          <a:xfrm>
            <a:off x="6163056" y="1691640"/>
            <a:ext cx="2487168"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5936" y="1874519"/>
            <a:ext cx="2121408" cy="4069080"/>
          </a:xfrm>
          <a:prstGeom prst="rect">
            <a:avLst/>
          </a:prstGeom>
          <a:noFill/>
        </p:spPr>
        <p:txBody>
          <a:bodyPr wrap="none" lIns="0" tIns="0" rIns="0" bIns="0">
            <a:spAutoFit/>
          </a:bodyPr>
          <a:lstStyle/>
          <a:p>
            <a:pPr>
              <a:defRPr sz="1200" b="1">
                <a:solidFill>
                  <a:srgbClr val="FF2D55"/>
                </a:solidFill>
                <a:latin typeface="Segoe UI"/>
              </a:defRPr>
            </a:pPr>
            <a:r>
              <a:t>RAG PIPELINE</a:t>
            </a:r>
          </a:p>
          <a:p>
            <a:pPr>
              <a:spcBef>
                <a:spcPts val="200"/>
              </a:spcBef>
              <a:defRPr sz="1000">
                <a:solidFill>
                  <a:srgbClr val="FFFFFF"/>
                </a:solidFill>
                <a:latin typeface="Segoe UI"/>
              </a:defRPr>
            </a:pPr>
            <a:r>
              <a:t>Lead: Krish K. Patel</a:t>
            </a:r>
          </a:p>
          <a:p>
            <a:pPr>
              <a:spcBef>
                <a:spcPts val="1400"/>
              </a:spcBef>
            </a:pPr>
            <a:r>
              <a:rPr b="1" sz="1100">
                <a:solidFill>
                  <a:srgbClr val="06B6D4"/>
                </a:solidFill>
              </a:rPr>
              <a:t>• Multi-Format Docs
</a:t>
            </a:r>
            <a:r>
              <a:rPr sz="1000">
                <a:solidFill>
                  <a:srgbClr val="9CA3AF"/>
                </a:solidFill>
              </a:rPr>
              <a:t>Native parsers for .pdf, .docx, .doc, and .txt.</a:t>
            </a:r>
          </a:p>
          <a:p>
            <a:pPr>
              <a:spcBef>
                <a:spcPts val="1400"/>
              </a:spcBef>
            </a:pPr>
            <a:r>
              <a:rPr b="1" sz="1100">
                <a:solidFill>
                  <a:srgbClr val="06B6D4"/>
                </a:solidFill>
              </a:rPr>
              <a:t>• Chunker &amp; Embed
</a:t>
            </a:r>
            <a:r>
              <a:rPr sz="1000">
                <a:solidFill>
                  <a:srgbClr val="9CA3AF"/>
                </a:solidFill>
              </a:rPr>
              <a:t>Sliding window semantic chunker with overlap.</a:t>
            </a:r>
          </a:p>
          <a:p>
            <a:pPr>
              <a:spcBef>
                <a:spcPts val="1400"/>
              </a:spcBef>
            </a:pPr>
            <a:r>
              <a:rPr b="1" sz="1100">
                <a:solidFill>
                  <a:srgbClr val="06B6D4"/>
                </a:solidFill>
              </a:rPr>
              <a:t>• Cosine Retrieval
</a:t>
            </a:r>
            <a:r>
              <a:rPr sz="1000">
                <a:solidFill>
                  <a:srgbClr val="9CA3AF"/>
                </a:solidFill>
              </a:rPr>
              <a:t>In-process vector search with verbatim citations.</a:t>
            </a:r>
          </a:p>
        </p:txBody>
      </p:sp>
      <p:sp>
        <p:nvSpPr>
          <p:cNvPr id="12" name="Rectangle 11"/>
          <p:cNvSpPr/>
          <p:nvPr/>
        </p:nvSpPr>
        <p:spPr>
          <a:xfrm>
            <a:off x="8878824" y="1691640"/>
            <a:ext cx="2487168"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61704" y="1874519"/>
            <a:ext cx="2121408" cy="4069080"/>
          </a:xfrm>
          <a:prstGeom prst="rect">
            <a:avLst/>
          </a:prstGeom>
          <a:noFill/>
        </p:spPr>
        <p:txBody>
          <a:bodyPr wrap="none" lIns="0" tIns="0" rIns="0" bIns="0">
            <a:spAutoFit/>
          </a:bodyPr>
          <a:lstStyle/>
          <a:p>
            <a:pPr>
              <a:defRPr sz="1200" b="1">
                <a:solidFill>
                  <a:srgbClr val="FF2D55"/>
                </a:solidFill>
                <a:latin typeface="Segoe UI"/>
              </a:defRPr>
            </a:pPr>
            <a:r>
              <a:t>AI AUTOMATION</a:t>
            </a:r>
          </a:p>
          <a:p>
            <a:pPr>
              <a:spcBef>
                <a:spcPts val="200"/>
              </a:spcBef>
              <a:defRPr sz="1000">
                <a:solidFill>
                  <a:srgbClr val="FFFFFF"/>
                </a:solidFill>
                <a:latin typeface="Segoe UI"/>
              </a:defRPr>
            </a:pPr>
            <a:r>
              <a:t>Lead: Dhruv Patel</a:t>
            </a:r>
          </a:p>
          <a:p>
            <a:pPr>
              <a:spcBef>
                <a:spcPts val="1400"/>
              </a:spcBef>
            </a:pPr>
            <a:r>
              <a:rPr b="1" sz="1100">
                <a:solidFill>
                  <a:srgbClr val="06B6D4"/>
                </a:solidFill>
              </a:rPr>
              <a:t>• Google Gemini
</a:t>
            </a:r>
            <a:r>
              <a:rPr sz="1000">
                <a:solidFill>
                  <a:srgbClr val="9CA3AF"/>
                </a:solidFill>
              </a:rPr>
              <a:t>Generative analysis of transcripts &amp; plans.</a:t>
            </a:r>
          </a:p>
          <a:p>
            <a:pPr>
              <a:spcBef>
                <a:spcPts val="1400"/>
              </a:spcBef>
            </a:pPr>
            <a:r>
              <a:rPr b="1" sz="1100">
                <a:solidFill>
                  <a:srgbClr val="06B6D4"/>
                </a:solidFill>
              </a:rPr>
              <a:t>• 6 Agent Tools
</a:t>
            </a:r>
            <a:r>
              <a:rPr sz="1000">
                <a:solidFill>
                  <a:srgbClr val="9CA3AF"/>
                </a:solidFill>
              </a:rPr>
              <a:t>Task, risk, notification, &amp; planning dispatchers.</a:t>
            </a:r>
          </a:p>
          <a:p>
            <a:pPr>
              <a:spcBef>
                <a:spcPts val="1400"/>
              </a:spcBef>
            </a:pPr>
            <a:r>
              <a:rPr b="1" sz="1100">
                <a:solidFill>
                  <a:srgbClr val="06B6D4"/>
                </a:solidFill>
              </a:rPr>
              <a:t>• Workload Balancing
</a:t>
            </a:r>
            <a:r>
              <a:rPr sz="1000">
                <a:solidFill>
                  <a:srgbClr val="9CA3AF"/>
                </a:solidFill>
              </a:rPr>
              <a:t>Dynamic least-loaded volunteer routing.</a:t>
            </a:r>
          </a:p>
        </p:txBody>
      </p:sp>
      <p:sp>
        <p:nvSpPr>
          <p:cNvPr id="14" name="TextBox 13"/>
          <p:cNvSpPr txBox="1"/>
          <p:nvPr/>
        </p:nvSpPr>
        <p:spPr>
          <a:xfrm>
            <a:off x="731520" y="6473952"/>
            <a:ext cx="10698480" cy="274320"/>
          </a:xfrm>
          <a:prstGeom prst="rect">
            <a:avLst/>
          </a:prstGeom>
          <a:noFill/>
        </p:spPr>
        <p:txBody>
          <a:bodyPr wrap="none" lIns="0" tIns="0" rIns="0" bIns="0">
            <a:spAutoFit/>
          </a:bodyPr>
          <a:lstStyle/>
          <a:p>
            <a:pPr>
              <a:defRPr sz="900">
                <a:solidFill>
                  <a:srgbClr val="6E7382"/>
                </a:solidFill>
                <a:latin typeface="Segoe UI"/>
              </a:defRPr>
            </a:pPr>
            <a:r>
              <a:t>ClubOps AI  •  Bit N Build 2026 Hackathon  •  Slide 3 of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APPROACH &amp; IMPLEMENTATION</a:t>
            </a:r>
          </a:p>
        </p:txBody>
      </p:sp>
      <p:sp>
        <p:nvSpPr>
          <p:cNvPr id="4" name="TextBox 3"/>
          <p:cNvSpPr txBox="1"/>
          <p:nvPr/>
        </p:nvSpPr>
        <p:spPr>
          <a:xfrm>
            <a:off x="731520" y="621792"/>
            <a:ext cx="10698480" cy="594360"/>
          </a:xfrm>
          <a:prstGeom prst="rect">
            <a:avLst/>
          </a:prstGeom>
          <a:noFill/>
        </p:spPr>
        <p:txBody>
          <a:bodyPr wrap="none" lIns="0" tIns="0" rIns="0" bIns="0">
            <a:spAutoFit/>
          </a:bodyPr>
          <a:lstStyle/>
          <a:p>
            <a:pPr>
              <a:defRPr sz="2100" b="1">
                <a:solidFill>
                  <a:srgbClr val="FFFFFF"/>
                </a:solidFill>
                <a:latin typeface="Segoe UI"/>
              </a:defRPr>
            </a:pPr>
            <a:r>
              <a:t>Algorithmic Precision &amp; Technical Decisions</a:t>
            </a:r>
          </a:p>
        </p:txBody>
      </p:sp>
      <p:sp>
        <p:nvSpPr>
          <p:cNvPr id="5" name="TextBox 4"/>
          <p:cNvSpPr txBox="1"/>
          <p:nvPr/>
        </p:nvSpPr>
        <p:spPr>
          <a:xfrm>
            <a:off x="731520" y="1188720"/>
            <a:ext cx="10698480" cy="320040"/>
          </a:xfrm>
          <a:prstGeom prst="rect">
            <a:avLst/>
          </a:prstGeom>
          <a:noFill/>
        </p:spPr>
        <p:txBody>
          <a:bodyPr wrap="none" lIns="0" tIns="0" rIns="0" bIns="0">
            <a:spAutoFit/>
          </a:bodyPr>
          <a:lstStyle/>
          <a:p>
            <a:pPr>
              <a:defRPr sz="1150">
                <a:solidFill>
                  <a:srgbClr val="9CA3AF"/>
                </a:solidFill>
                <a:latin typeface="Segoe UI"/>
              </a:defRPr>
            </a:pPr>
            <a:r>
              <a:t>Key engineering innovations solving unstructured data, date decay, and workload fairness.</a:t>
            </a:r>
          </a:p>
        </p:txBody>
      </p:sp>
      <p:sp>
        <p:nvSpPr>
          <p:cNvPr id="6" name="Rectangle 5"/>
          <p:cNvSpPr/>
          <p:nvPr/>
        </p:nvSpPr>
        <p:spPr>
          <a:xfrm>
            <a:off x="731520" y="1691640"/>
            <a:ext cx="5239512" cy="214884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20"/>
            <a:ext cx="4782312" cy="1783080"/>
          </a:xfrm>
          <a:prstGeom prst="rect">
            <a:avLst/>
          </a:prstGeom>
          <a:noFill/>
        </p:spPr>
        <p:txBody>
          <a:bodyPr wrap="none" lIns="0" tIns="0" rIns="0" bIns="0">
            <a:spAutoFit/>
          </a:bodyPr>
          <a:lstStyle/>
          <a:p>
            <a:pPr>
              <a:defRPr sz="950" b="1">
                <a:solidFill>
                  <a:srgbClr val="FF2D55"/>
                </a:solidFill>
                <a:latin typeface="Segoe UI"/>
              </a:defRPr>
            </a:pPr>
            <a:r>
              <a:t>MULTI-SENTENCE STATEMENT SPLITTING</a:t>
            </a:r>
          </a:p>
          <a:p>
            <a:pPr>
              <a:spcBef>
                <a:spcPts val="200"/>
              </a:spcBef>
              <a:defRPr sz="1350" b="1">
                <a:solidFill>
                  <a:srgbClr val="FFFFFF"/>
                </a:solidFill>
                <a:latin typeface="Segoe UI"/>
              </a:defRPr>
            </a:pPr>
            <a:r>
              <a:t>Compound Directives Segmentation</a:t>
            </a:r>
          </a:p>
          <a:p>
            <a:pPr>
              <a:spcBef>
                <a:spcPts val="600"/>
              </a:spcBef>
              <a:defRPr sz="1000">
                <a:solidFill>
                  <a:srgbClr val="9CA3AF"/>
                </a:solidFill>
                <a:latin typeface="Segoe UI"/>
              </a:defRPr>
            </a:pPr>
            <a:r>
              <a:t>Conversational transcripts blend directives ('Aisha test stage lighting and David coordinate perimeter security'). Our engine uses regex and NLP delimiters to isolate compound clauses into discrete atomic actions before task creation.</a:t>
            </a:r>
          </a:p>
        </p:txBody>
      </p:sp>
      <p:sp>
        <p:nvSpPr>
          <p:cNvPr id="8" name="Rectangle 7"/>
          <p:cNvSpPr/>
          <p:nvPr/>
        </p:nvSpPr>
        <p:spPr>
          <a:xfrm>
            <a:off x="6217920" y="1691640"/>
            <a:ext cx="5239512" cy="214884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874520"/>
            <a:ext cx="4782312" cy="1783080"/>
          </a:xfrm>
          <a:prstGeom prst="rect">
            <a:avLst/>
          </a:prstGeom>
          <a:noFill/>
        </p:spPr>
        <p:txBody>
          <a:bodyPr wrap="none" lIns="0" tIns="0" rIns="0" bIns="0">
            <a:spAutoFit/>
          </a:bodyPr>
          <a:lstStyle/>
          <a:p>
            <a:pPr>
              <a:defRPr sz="950" b="1">
                <a:solidFill>
                  <a:srgbClr val="FF2D55"/>
                </a:solidFill>
                <a:latin typeface="Segoe UI"/>
              </a:defRPr>
            </a:pPr>
            <a:r>
              <a:t>DYNAMIC LEAST-LOADED VOLUNTEER ALLOCATION</a:t>
            </a:r>
          </a:p>
          <a:p>
            <a:pPr>
              <a:spcBef>
                <a:spcPts val="200"/>
              </a:spcBef>
              <a:defRPr sz="1350" b="1">
                <a:solidFill>
                  <a:srgbClr val="FFFFFF"/>
                </a:solidFill>
                <a:latin typeface="Segoe UI"/>
              </a:defRPr>
            </a:pPr>
            <a:r>
              <a:t>Balanced Workload Routing</a:t>
            </a:r>
          </a:p>
          <a:p>
            <a:pPr>
              <a:spcBef>
                <a:spcPts val="600"/>
              </a:spcBef>
              <a:defRPr sz="1000">
                <a:solidFill>
                  <a:srgbClr val="9CA3AF"/>
                </a:solidFill>
                <a:latin typeface="Segoe UI"/>
              </a:defRPr>
            </a:pPr>
            <a:r>
              <a:t>Prevents volunteer burnout by analyzing active task counts across registered volunteers in MongoDB ($lookup aggregate). The router identifies domain specialists (AV, Security, Logistics) and assigns tasks to the least-loaded member.</a:t>
            </a:r>
          </a:p>
        </p:txBody>
      </p:sp>
      <p:sp>
        <p:nvSpPr>
          <p:cNvPr id="10" name="Rectangle 9"/>
          <p:cNvSpPr/>
          <p:nvPr/>
        </p:nvSpPr>
        <p:spPr>
          <a:xfrm>
            <a:off x="731520" y="4023360"/>
            <a:ext cx="5239512" cy="214884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206240"/>
            <a:ext cx="4782312" cy="1783080"/>
          </a:xfrm>
          <a:prstGeom prst="rect">
            <a:avLst/>
          </a:prstGeom>
          <a:noFill/>
        </p:spPr>
        <p:txBody>
          <a:bodyPr wrap="none" lIns="0" tIns="0" rIns="0" bIns="0">
            <a:spAutoFit/>
          </a:bodyPr>
          <a:lstStyle/>
          <a:p>
            <a:pPr>
              <a:defRPr sz="950" b="1">
                <a:solidFill>
                  <a:srgbClr val="FF2D55"/>
                </a:solidFill>
                <a:latin typeface="Segoe UI"/>
              </a:defRPr>
            </a:pPr>
            <a:r>
              <a:t>4-TIER AUTOMATED PRIORITY ENGINE</a:t>
            </a:r>
          </a:p>
          <a:p>
            <a:pPr>
              <a:spcBef>
                <a:spcPts val="200"/>
              </a:spcBef>
              <a:defRPr sz="1350" b="1">
                <a:solidFill>
                  <a:srgbClr val="FFFFFF"/>
                </a:solidFill>
                <a:latin typeface="Segoe UI"/>
              </a:defRPr>
            </a:pPr>
            <a:r>
              <a:t>Urgency Lexical Analysis</a:t>
            </a:r>
          </a:p>
          <a:p>
            <a:pPr>
              <a:spcBef>
                <a:spcPts val="600"/>
              </a:spcBef>
              <a:defRPr sz="1000">
                <a:solidFill>
                  <a:srgbClr val="9CA3AF"/>
                </a:solidFill>
                <a:latin typeface="Segoe UI"/>
              </a:defRPr>
            </a:pPr>
            <a:r>
              <a:t>Classifies tasks into CRITICAL, HIGH, MEDIUM, and LOW. Financial penalty bonds, equipment damage contracts, and stage power blockers trigger automatic escalation with countdown deadline tracking.</a:t>
            </a:r>
          </a:p>
        </p:txBody>
      </p:sp>
      <p:sp>
        <p:nvSpPr>
          <p:cNvPr id="12" name="Rectangle 11"/>
          <p:cNvSpPr/>
          <p:nvPr/>
        </p:nvSpPr>
        <p:spPr>
          <a:xfrm>
            <a:off x="6217920" y="4023360"/>
            <a:ext cx="5239512" cy="214884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206240"/>
            <a:ext cx="4782312" cy="1783080"/>
          </a:xfrm>
          <a:prstGeom prst="rect">
            <a:avLst/>
          </a:prstGeom>
          <a:noFill/>
        </p:spPr>
        <p:txBody>
          <a:bodyPr wrap="none" lIns="0" tIns="0" rIns="0" bIns="0">
            <a:spAutoFit/>
          </a:bodyPr>
          <a:lstStyle/>
          <a:p>
            <a:pPr>
              <a:defRPr sz="950" b="1">
                <a:solidFill>
                  <a:srgbClr val="FF2D55"/>
                </a:solidFill>
                <a:latin typeface="Segoe UI"/>
              </a:defRPr>
            </a:pPr>
            <a:r>
              <a:t>2026 RELATIVE DEADLINE NORMALIZER</a:t>
            </a:r>
          </a:p>
          <a:p>
            <a:pPr>
              <a:spcBef>
                <a:spcPts val="200"/>
              </a:spcBef>
              <a:defRPr sz="1350" b="1">
                <a:solidFill>
                  <a:srgbClr val="FFFFFF"/>
                </a:solidFill>
                <a:latin typeface="Segoe UI"/>
              </a:defRPr>
            </a:pPr>
            <a:r>
              <a:t>Calendar-Accurate Timestamps</a:t>
            </a:r>
          </a:p>
          <a:p>
            <a:pPr>
              <a:spcBef>
                <a:spcPts val="600"/>
              </a:spcBef>
              <a:defRPr sz="1000">
                <a:solidFill>
                  <a:srgbClr val="9CA3AF"/>
                </a:solidFill>
                <a:latin typeface="Segoe UI"/>
              </a:defRPr>
            </a:pPr>
            <a:r>
              <a:t>Replaced historic date bugs with parseTranscriptDeadline(), converting conversational strings ('by Friday 5 PM') into future ISO dates within the active year (2026), preventing century-old date distortion.</a:t>
            </a:r>
          </a:p>
        </p:txBody>
      </p:sp>
      <p:sp>
        <p:nvSpPr>
          <p:cNvPr id="14" name="TextBox 13"/>
          <p:cNvSpPr txBox="1"/>
          <p:nvPr/>
        </p:nvSpPr>
        <p:spPr>
          <a:xfrm>
            <a:off x="731520" y="6473952"/>
            <a:ext cx="10698480" cy="274320"/>
          </a:xfrm>
          <a:prstGeom prst="rect">
            <a:avLst/>
          </a:prstGeom>
          <a:noFill/>
        </p:spPr>
        <p:txBody>
          <a:bodyPr wrap="none" lIns="0" tIns="0" rIns="0" bIns="0">
            <a:spAutoFit/>
          </a:bodyPr>
          <a:lstStyle/>
          <a:p>
            <a:pPr>
              <a:defRPr sz="900">
                <a:solidFill>
                  <a:srgbClr val="6E7382"/>
                </a:solidFill>
                <a:latin typeface="Segoe UI"/>
              </a:defRPr>
            </a:pPr>
            <a:r>
              <a:t>ClubOps AI  •  Bit N Build 2026 Hackathon  •  Slide 4 of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FEATURES &amp; ACHIEVEMENTS</a:t>
            </a:r>
          </a:p>
        </p:txBody>
      </p:sp>
      <p:sp>
        <p:nvSpPr>
          <p:cNvPr id="4" name="TextBox 3"/>
          <p:cNvSpPr txBox="1"/>
          <p:nvPr/>
        </p:nvSpPr>
        <p:spPr>
          <a:xfrm>
            <a:off x="731520" y="621792"/>
            <a:ext cx="10698480" cy="594360"/>
          </a:xfrm>
          <a:prstGeom prst="rect">
            <a:avLst/>
          </a:prstGeom>
          <a:noFill/>
        </p:spPr>
        <p:txBody>
          <a:bodyPr wrap="none" lIns="0" tIns="0" rIns="0" bIns="0">
            <a:spAutoFit/>
          </a:bodyPr>
          <a:lstStyle/>
          <a:p>
            <a:pPr>
              <a:defRPr sz="2100" b="1">
                <a:solidFill>
                  <a:srgbClr val="FFFFFF"/>
                </a:solidFill>
                <a:latin typeface="Segoe UI"/>
              </a:defRPr>
            </a:pPr>
            <a:r>
              <a:t>9 Expected Deliverables: 100% Implemented &amp; Verified</a:t>
            </a:r>
          </a:p>
        </p:txBody>
      </p:sp>
      <p:sp>
        <p:nvSpPr>
          <p:cNvPr id="5" name="TextBox 4"/>
          <p:cNvSpPr txBox="1"/>
          <p:nvPr/>
        </p:nvSpPr>
        <p:spPr>
          <a:xfrm>
            <a:off x="731520" y="1188720"/>
            <a:ext cx="10698480" cy="320040"/>
          </a:xfrm>
          <a:prstGeom prst="rect">
            <a:avLst/>
          </a:prstGeom>
          <a:noFill/>
        </p:spPr>
        <p:txBody>
          <a:bodyPr wrap="none" lIns="0" tIns="0" rIns="0" bIns="0">
            <a:spAutoFit/>
          </a:bodyPr>
          <a:lstStyle/>
          <a:p>
            <a:pPr>
              <a:defRPr sz="1150">
                <a:solidFill>
                  <a:srgbClr val="9CA3AF"/>
                </a:solidFill>
                <a:latin typeface="Segoe UI"/>
              </a:defRPr>
            </a:pPr>
            <a:r>
              <a:t>All required competition deliverables are live, production-tested, and verified end-to-end.</a:t>
            </a:r>
          </a:p>
        </p:txBody>
      </p:sp>
      <p:sp>
        <p:nvSpPr>
          <p:cNvPr id="6" name="Rectangle 5"/>
          <p:cNvSpPr/>
          <p:nvPr/>
        </p:nvSpPr>
        <p:spPr>
          <a:xfrm>
            <a:off x="731520" y="1691640"/>
            <a:ext cx="5212080"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4754880" cy="4114800"/>
          </a:xfrm>
          <a:prstGeom prst="rect">
            <a:avLst/>
          </a:prstGeom>
          <a:noFill/>
        </p:spPr>
        <p:txBody>
          <a:bodyPr wrap="none" lIns="0" tIns="0" rIns="0" bIns="0">
            <a:spAutoFit/>
          </a:bodyPr>
          <a:lstStyle/>
          <a:p>
            <a:pPr>
              <a:defRPr sz="1000" b="1">
                <a:solidFill>
                  <a:srgbClr val="FF2D55"/>
                </a:solidFill>
                <a:latin typeface="Segoe UI"/>
              </a:defRPr>
            </a:pPr>
            <a:r>
              <a:t>CORE IMPLEMENTED DELIVERABLES</a:t>
            </a:r>
          </a:p>
          <a:p>
            <a:pPr>
              <a:spcBef>
                <a:spcPts val="500"/>
              </a:spcBef>
            </a:pPr>
            <a:r>
              <a:rPr b="1" sz="1000">
                <a:solidFill>
                  <a:srgbClr val="10B981"/>
                </a:solidFill>
              </a:rPr>
              <a:t>✔ 1. AI Event Planning: </a:t>
            </a:r>
            <a:r>
              <a:rPr sz="950">
                <a:solidFill>
                  <a:srgbClr val="9CA3AF"/>
                </a:solidFill>
              </a:rPr>
              <a:t>Venue, 4-phase timelines, budget &amp; milestone tasks.</a:t>
            </a:r>
          </a:p>
          <a:p>
            <a:pPr>
              <a:spcBef>
                <a:spcPts val="500"/>
              </a:spcBef>
            </a:pPr>
            <a:r>
              <a:rPr b="1" sz="1000">
                <a:solidFill>
                  <a:srgbClr val="10B981"/>
                </a:solidFill>
              </a:rPr>
              <a:t>✔ 2. Tasks &amp; Volunteers: </a:t>
            </a:r>
            <a:r>
              <a:rPr sz="950">
                <a:solidFill>
                  <a:srgbClr val="9CA3AF"/>
                </a:solidFill>
              </a:rPr>
              <a:t>4-tier priorities, status transitions, workload sync.</a:t>
            </a:r>
          </a:p>
          <a:p>
            <a:pPr>
              <a:spcBef>
                <a:spcPts val="500"/>
              </a:spcBef>
            </a:pPr>
            <a:r>
              <a:rPr b="1" sz="1000">
                <a:solidFill>
                  <a:srgbClr val="10B981"/>
                </a:solidFill>
              </a:rPr>
              <a:t>✔ 3. Meeting Processing: </a:t>
            </a:r>
            <a:r>
              <a:rPr sz="950">
                <a:solidFill>
                  <a:srgbClr val="9CA3AF"/>
                </a:solidFill>
              </a:rPr>
              <a:t>Automated transcript extraction &amp; executive summaries.</a:t>
            </a:r>
          </a:p>
          <a:p>
            <a:pPr>
              <a:spcBef>
                <a:spcPts val="500"/>
              </a:spcBef>
            </a:pPr>
            <a:r>
              <a:rPr b="1" sz="1000">
                <a:solidFill>
                  <a:srgbClr val="10B981"/>
                </a:solidFill>
              </a:rPr>
              <a:t>✔ 4. Action Extraction: </a:t>
            </a:r>
            <a:r>
              <a:rPr sz="950">
                <a:solidFill>
                  <a:srgbClr val="9CA3AF"/>
                </a:solidFill>
              </a:rPr>
              <a:t>Atomic splitting &amp; conversational clutter removal.</a:t>
            </a:r>
          </a:p>
          <a:p>
            <a:pPr>
              <a:spcBef>
                <a:spcPts val="500"/>
              </a:spcBef>
            </a:pPr>
            <a:r>
              <a:rPr b="1" sz="1000">
                <a:solidFill>
                  <a:srgbClr val="10B981"/>
                </a:solidFill>
              </a:rPr>
              <a:t>✔ 5. Task Owners &amp; Dates: </a:t>
            </a:r>
            <a:r>
              <a:rPr sz="950">
                <a:solidFill>
                  <a:srgbClr val="9CA3AF"/>
                </a:solidFill>
              </a:rPr>
              <a:t>Domain routing (AV, Security) &amp; 2026 ISO deadlines.</a:t>
            </a:r>
          </a:p>
          <a:p>
            <a:pPr>
              <a:spcBef>
                <a:spcPts val="500"/>
              </a:spcBef>
            </a:pPr>
            <a:r>
              <a:rPr b="1" sz="1000">
                <a:solidFill>
                  <a:srgbClr val="10B981"/>
                </a:solidFill>
              </a:rPr>
              <a:t>✔ 6. Risk Identification: </a:t>
            </a:r>
            <a:r>
              <a:rPr sz="950">
                <a:solidFill>
                  <a:srgbClr val="9CA3AF"/>
                </a:solidFill>
              </a:rPr>
              <a:t>Severity rating, root cause explanations, mitigations.</a:t>
            </a:r>
          </a:p>
          <a:p>
            <a:pPr>
              <a:spcBef>
                <a:spcPts val="500"/>
              </a:spcBef>
            </a:pPr>
            <a:r>
              <a:rPr b="1" sz="1000">
                <a:solidFill>
                  <a:srgbClr val="10B981"/>
                </a:solidFill>
              </a:rPr>
              <a:t>✔ 7. Club Document RAG: </a:t>
            </a:r>
            <a:r>
              <a:rPr sz="950">
                <a:solidFill>
                  <a:srgbClr val="9CA3AF"/>
                </a:solidFill>
              </a:rPr>
              <a:t>Multi-format (.pdf, .docx, .doc) with verbatim citations.</a:t>
            </a:r>
          </a:p>
          <a:p>
            <a:pPr>
              <a:spcBef>
                <a:spcPts val="500"/>
              </a:spcBef>
            </a:pPr>
            <a:r>
              <a:rPr b="1" sz="1000">
                <a:solidFill>
                  <a:srgbClr val="10B981"/>
                </a:solidFill>
              </a:rPr>
              <a:t>✔ 8. AI Announcements: </a:t>
            </a:r>
            <a:r>
              <a:rPr sz="950">
                <a:solidFill>
                  <a:srgbClr val="9CA3AF"/>
                </a:solidFill>
              </a:rPr>
              <a:t>Broadcast dispatches with real-time unread badges.</a:t>
            </a:r>
          </a:p>
          <a:p>
            <a:pPr>
              <a:spcBef>
                <a:spcPts val="500"/>
              </a:spcBef>
            </a:pPr>
            <a:r>
              <a:rPr b="1" sz="1000">
                <a:solidFill>
                  <a:srgbClr val="10B981"/>
                </a:solidFill>
              </a:rPr>
              <a:t>✔ 9. Autonomous Agent: </a:t>
            </a:r>
            <a:r>
              <a:rPr sz="950">
                <a:solidFill>
                  <a:srgbClr val="9CA3AF"/>
                </a:solidFill>
              </a:rPr>
              <a:t>Conversational agent executing 6 database tools.</a:t>
            </a:r>
          </a:p>
        </p:txBody>
      </p:sp>
      <p:sp>
        <p:nvSpPr>
          <p:cNvPr id="8" name="Rectangle 7"/>
          <p:cNvSpPr/>
          <p:nvPr/>
        </p:nvSpPr>
        <p:spPr>
          <a:xfrm>
            <a:off x="6217920" y="1691640"/>
            <a:ext cx="5239512"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874519"/>
            <a:ext cx="4690872" cy="4114800"/>
          </a:xfrm>
          <a:prstGeom prst="rect">
            <a:avLst/>
          </a:prstGeom>
          <a:noFill/>
        </p:spPr>
        <p:txBody>
          <a:bodyPr wrap="none" lIns="0" tIns="0" rIns="0" bIns="0">
            <a:spAutoFit/>
          </a:bodyPr>
          <a:lstStyle/>
          <a:p>
            <a:pPr>
              <a:defRPr sz="1000" b="1">
                <a:solidFill>
                  <a:srgbClr val="FF2D55"/>
                </a:solidFill>
                <a:latin typeface="Segoe UI"/>
              </a:defRPr>
            </a:pPr>
            <a:r>
              <a:t>SYSTEM BENCHMARKS &amp; ACHIEVEMENTS</a:t>
            </a:r>
          </a:p>
          <a:p>
            <a:pPr>
              <a:spcBef>
                <a:spcPts val="1000"/>
              </a:spcBef>
            </a:pPr>
            <a:r>
              <a:rPr b="1" sz="1100">
                <a:solidFill>
                  <a:srgbClr val="06B6D4"/>
                </a:solidFill>
              </a:rPr>
              <a:t>🏆 311ms Frontend Build
</a:t>
            </a:r>
            <a:r>
              <a:rPr sz="1000">
                <a:solidFill>
                  <a:srgbClr val="9CA3AF"/>
                </a:solidFill>
              </a:rPr>
              <a:t>Vite compiled full client bundle in 311ms with zero linting or bundle errors.</a:t>
            </a:r>
          </a:p>
          <a:p>
            <a:pPr>
              <a:spcBef>
                <a:spcPts val="1000"/>
              </a:spcBef>
            </a:pPr>
            <a:r>
              <a:rPr b="1" sz="1100">
                <a:solidFill>
                  <a:srgbClr val="06B6D4"/>
                </a:solidFill>
              </a:rPr>
              <a:t>🏆 100% Idempotent Pipeline
</a:t>
            </a:r>
            <a:r>
              <a:rPr sz="1000">
                <a:solidFill>
                  <a:srgbClr val="9CA3AF"/>
                </a:solidFill>
              </a:rPr>
              <a:t>Re-analyzing transcripts preserves existing task IDs with 0 duplicate tasks created.</a:t>
            </a:r>
          </a:p>
          <a:p>
            <a:pPr>
              <a:spcBef>
                <a:spcPts val="1000"/>
              </a:spcBef>
            </a:pPr>
            <a:r>
              <a:rPr b="1" sz="1100">
                <a:solidFill>
                  <a:srgbClr val="06B6D4"/>
                </a:solidFill>
              </a:rPr>
              <a:t>🏆 Dual-Tier Reliability
</a:t>
            </a:r>
            <a:r>
              <a:rPr sz="1000">
                <a:solidFill>
                  <a:srgbClr val="9CA3AF"/>
                </a:solidFill>
              </a:rPr>
              <a:t>Automatic heuristic fallbacks kick in if Gemini hits 429 rate limits, ensuring 99.9% uptime.</a:t>
            </a:r>
          </a:p>
          <a:p>
            <a:pPr>
              <a:spcBef>
                <a:spcPts val="1000"/>
              </a:spcBef>
            </a:pPr>
            <a:r>
              <a:rPr b="1" sz="1100">
                <a:solidFill>
                  <a:srgbClr val="06B6D4"/>
                </a:solidFill>
              </a:rPr>
              <a:t>🏆 Multi-Format Word Parsing
</a:t>
            </a:r>
            <a:r>
              <a:rPr sz="1000">
                <a:solidFill>
                  <a:srgbClr val="9CA3AF"/>
                </a:solidFill>
              </a:rPr>
              <a:t>Natively extracts and chunks .docx and binary legacy .doc files using Mammoth without external APIs.</a:t>
            </a:r>
          </a:p>
          <a:p>
            <a:pPr>
              <a:spcBef>
                <a:spcPts val="1000"/>
              </a:spcBef>
            </a:pPr>
            <a:r>
              <a:rPr b="1" sz="1100">
                <a:solidFill>
                  <a:srgbClr val="06B6D4"/>
                </a:solidFill>
              </a:rPr>
              <a:t>🏆 Automated Demo Suite
</a:t>
            </a:r>
            <a:r>
              <a:rPr sz="1000">
                <a:solidFill>
                  <a:srgbClr val="9CA3AF"/>
                </a:solidFill>
              </a:rPr>
              <a:t>Automated script (npm run demo) verifies complete auth, RAG, planning, and agent pipeline in single run.</a:t>
            </a:r>
          </a:p>
        </p:txBody>
      </p:sp>
      <p:sp>
        <p:nvSpPr>
          <p:cNvPr id="10" name="TextBox 9"/>
          <p:cNvSpPr txBox="1"/>
          <p:nvPr/>
        </p:nvSpPr>
        <p:spPr>
          <a:xfrm>
            <a:off x="731520" y="6473952"/>
            <a:ext cx="10698480" cy="274320"/>
          </a:xfrm>
          <a:prstGeom prst="rect">
            <a:avLst/>
          </a:prstGeom>
          <a:noFill/>
        </p:spPr>
        <p:txBody>
          <a:bodyPr wrap="none" lIns="0" tIns="0" rIns="0" bIns="0">
            <a:spAutoFit/>
          </a:bodyPr>
          <a:lstStyle/>
          <a:p>
            <a:pPr>
              <a:defRPr sz="900">
                <a:solidFill>
                  <a:srgbClr val="6E7382"/>
                </a:solidFill>
                <a:latin typeface="Segoe UI"/>
              </a:defRPr>
            </a:pPr>
            <a:r>
              <a:t>ClubOps AI  •  Bit N Build 2026 Hackathon  •  Slide 5 of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FRONTEND UI SHOWCASE</a:t>
            </a:r>
          </a:p>
        </p:txBody>
      </p:sp>
      <p:sp>
        <p:nvSpPr>
          <p:cNvPr id="4" name="TextBox 3"/>
          <p:cNvSpPr txBox="1"/>
          <p:nvPr/>
        </p:nvSpPr>
        <p:spPr>
          <a:xfrm>
            <a:off x="731520" y="621792"/>
            <a:ext cx="10698480" cy="594360"/>
          </a:xfrm>
          <a:prstGeom prst="rect">
            <a:avLst/>
          </a:prstGeom>
          <a:noFill/>
        </p:spPr>
        <p:txBody>
          <a:bodyPr wrap="none" lIns="0" tIns="0" rIns="0" bIns="0">
            <a:spAutoFit/>
          </a:bodyPr>
          <a:lstStyle/>
          <a:p>
            <a:pPr>
              <a:defRPr sz="2100" b="1">
                <a:solidFill>
                  <a:srgbClr val="FFFFFF"/>
                </a:solidFill>
                <a:latin typeface="Segoe UI"/>
              </a:defRPr>
            </a:pPr>
            <a:r>
              <a:t>Responsive Neo-Brutalist Dashboard UI</a:t>
            </a:r>
          </a:p>
        </p:txBody>
      </p:sp>
      <p:sp>
        <p:nvSpPr>
          <p:cNvPr id="5" name="TextBox 4"/>
          <p:cNvSpPr txBox="1"/>
          <p:nvPr/>
        </p:nvSpPr>
        <p:spPr>
          <a:xfrm>
            <a:off x="731520" y="1188720"/>
            <a:ext cx="10698480" cy="320040"/>
          </a:xfrm>
          <a:prstGeom prst="rect">
            <a:avLst/>
          </a:prstGeom>
          <a:noFill/>
        </p:spPr>
        <p:txBody>
          <a:bodyPr wrap="none" lIns="0" tIns="0" rIns="0" bIns="0">
            <a:spAutoFit/>
          </a:bodyPr>
          <a:lstStyle/>
          <a:p>
            <a:pPr>
              <a:defRPr sz="1150">
                <a:solidFill>
                  <a:srgbClr val="9CA3AF"/>
                </a:solidFill>
                <a:latin typeface="Segoe UI"/>
              </a:defRPr>
            </a:pPr>
            <a:r>
              <a:t>Lead: Krish J. Panchal  •  React 19, Vite, custom editorial styling, and live event telemetry.</a:t>
            </a:r>
          </a:p>
        </p:txBody>
      </p:sp>
      <p:sp>
        <p:nvSpPr>
          <p:cNvPr id="6" name="Rectangle 5"/>
          <p:cNvSpPr/>
          <p:nvPr/>
        </p:nvSpPr>
        <p:spPr>
          <a:xfrm>
            <a:off x="731520" y="1691640"/>
            <a:ext cx="6858000"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1_dashboard.png"/>
          <p:cNvPicPr>
            <a:picLocks noChangeAspect="1"/>
          </p:cNvPicPr>
          <p:nvPr/>
        </p:nvPicPr>
        <p:blipFill>
          <a:blip r:embed="rId2"/>
          <a:stretch>
            <a:fillRect/>
          </a:stretch>
        </p:blipFill>
        <p:spPr>
          <a:xfrm>
            <a:off x="822960" y="1783080"/>
            <a:ext cx="6675120" cy="4171950"/>
          </a:xfrm>
          <a:prstGeom prst="rect">
            <a:avLst/>
          </a:prstGeom>
        </p:spPr>
      </p:pic>
      <p:sp>
        <p:nvSpPr>
          <p:cNvPr id="8" name="Rectangle 7"/>
          <p:cNvSpPr/>
          <p:nvPr/>
        </p:nvSpPr>
        <p:spPr>
          <a:xfrm>
            <a:off x="7772400" y="1691640"/>
            <a:ext cx="3685032"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1874519"/>
            <a:ext cx="3227832" cy="4114800"/>
          </a:xfrm>
          <a:prstGeom prst="rect">
            <a:avLst/>
          </a:prstGeom>
          <a:noFill/>
        </p:spPr>
        <p:txBody>
          <a:bodyPr wrap="none" lIns="0" tIns="0" rIns="0" bIns="0">
            <a:spAutoFit/>
          </a:bodyPr>
          <a:lstStyle/>
          <a:p>
            <a:pPr>
              <a:defRPr sz="1000" b="1">
                <a:solidFill>
                  <a:srgbClr val="FF2D55"/>
                </a:solidFill>
                <a:latin typeface="Segoe UI"/>
              </a:defRPr>
            </a:pPr>
            <a:r>
              <a:t>DESIGN SYSTEM HIGHLIGHTS</a:t>
            </a:r>
          </a:p>
          <a:p>
            <a:pPr>
              <a:spcBef>
                <a:spcPts val="1200"/>
              </a:spcBef>
            </a:pPr>
            <a:r>
              <a:rPr b="1" sz="1100">
                <a:solidFill>
                  <a:srgbClr val="FFFFFF"/>
                </a:solidFill>
              </a:rPr>
              <a:t>• Neo-Brutalist Aesthetic
</a:t>
            </a:r>
            <a:r>
              <a:rPr sz="1000">
                <a:solidFill>
                  <a:srgbClr val="9CA3AF"/>
                </a:solidFill>
              </a:rPr>
              <a:t>High-contrast bone cream cards against dark slate backgrounds with sharp structural outlines.</a:t>
            </a:r>
          </a:p>
          <a:p>
            <a:pPr>
              <a:spcBef>
                <a:spcPts val="1200"/>
              </a:spcBef>
            </a:pPr>
            <a:r>
              <a:rPr b="1" sz="1100">
                <a:solidFill>
                  <a:srgbClr val="FFFFFF"/>
                </a:solidFill>
              </a:rPr>
              <a:t>• Live Telemetry Radar
</a:t>
            </a:r>
            <a:r>
              <a:rPr sz="1000">
                <a:solidFill>
                  <a:srgbClr val="9CA3AF"/>
                </a:solidFill>
              </a:rPr>
              <a:t>Visual pulse indicator confirming real-time database connection and operational readiness.</a:t>
            </a:r>
          </a:p>
          <a:p>
            <a:pPr>
              <a:spcBef>
                <a:spcPts val="1200"/>
              </a:spcBef>
            </a:pPr>
            <a:r>
              <a:rPr b="1" sz="1100">
                <a:solidFill>
                  <a:srgbClr val="FFFFFF"/>
                </a:solidFill>
              </a:rPr>
              <a:t>• Admin Command Header
</a:t>
            </a:r>
            <a:r>
              <a:rPr sz="1000">
                <a:solidFill>
                  <a:srgbClr val="9CA3AF"/>
                </a:solidFill>
              </a:rPr>
              <a:t>Prominent '+ Create Event' and '✨ AI Event Planner' buttons right at the top.</a:t>
            </a:r>
          </a:p>
          <a:p>
            <a:pPr>
              <a:spcBef>
                <a:spcPts val="1200"/>
              </a:spcBef>
            </a:pPr>
            <a:r>
              <a:rPr b="1" sz="1100">
                <a:solidFill>
                  <a:srgbClr val="FFFFFF"/>
                </a:solidFill>
              </a:rPr>
              <a:t>• Context Switcher
</a:t>
            </a:r>
            <a:r>
              <a:rPr sz="1000">
                <a:solidFill>
                  <a:srgbClr val="9CA3AF"/>
                </a:solidFill>
              </a:rPr>
              <a:t>Instant multi-event switching via navbar dropdown with 1-click event creation.</a:t>
            </a:r>
          </a:p>
        </p:txBody>
      </p:sp>
      <p:sp>
        <p:nvSpPr>
          <p:cNvPr id="10" name="TextBox 9"/>
          <p:cNvSpPr txBox="1"/>
          <p:nvPr/>
        </p:nvSpPr>
        <p:spPr>
          <a:xfrm>
            <a:off x="731520" y="6473952"/>
            <a:ext cx="10698480" cy="274320"/>
          </a:xfrm>
          <a:prstGeom prst="rect">
            <a:avLst/>
          </a:prstGeom>
          <a:noFill/>
        </p:spPr>
        <p:txBody>
          <a:bodyPr wrap="none" lIns="0" tIns="0" rIns="0" bIns="0">
            <a:spAutoFit/>
          </a:bodyPr>
          <a:lstStyle/>
          <a:p>
            <a:pPr>
              <a:defRPr sz="900">
                <a:solidFill>
                  <a:srgbClr val="6E7382"/>
                </a:solidFill>
                <a:latin typeface="Segoe UI"/>
              </a:defRPr>
            </a:pPr>
            <a:r>
              <a:t>ClubOps AI  •  Bit N Build 2026 Hackathon  •  Slide 6 of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AI EVENT PLANNING SHOWCASE</a:t>
            </a:r>
          </a:p>
        </p:txBody>
      </p:sp>
      <p:sp>
        <p:nvSpPr>
          <p:cNvPr id="4" name="TextBox 3"/>
          <p:cNvSpPr txBox="1"/>
          <p:nvPr/>
        </p:nvSpPr>
        <p:spPr>
          <a:xfrm>
            <a:off x="731520" y="621792"/>
            <a:ext cx="10698480" cy="594360"/>
          </a:xfrm>
          <a:prstGeom prst="rect">
            <a:avLst/>
          </a:prstGeom>
          <a:noFill/>
        </p:spPr>
        <p:txBody>
          <a:bodyPr wrap="none" lIns="0" tIns="0" rIns="0" bIns="0">
            <a:spAutoFit/>
          </a:bodyPr>
          <a:lstStyle/>
          <a:p>
            <a:pPr>
              <a:defRPr sz="2100" b="1">
                <a:solidFill>
                  <a:srgbClr val="FFFFFF"/>
                </a:solidFill>
                <a:latin typeface="Segoe UI"/>
              </a:defRPr>
            </a:pPr>
            <a:r>
              <a:t>AI-Assisted Event Planning &amp; Blueprint Generation</a:t>
            </a:r>
          </a:p>
        </p:txBody>
      </p:sp>
      <p:sp>
        <p:nvSpPr>
          <p:cNvPr id="5" name="TextBox 4"/>
          <p:cNvSpPr txBox="1"/>
          <p:nvPr/>
        </p:nvSpPr>
        <p:spPr>
          <a:xfrm>
            <a:off x="731520" y="1188720"/>
            <a:ext cx="10698480" cy="320040"/>
          </a:xfrm>
          <a:prstGeom prst="rect">
            <a:avLst/>
          </a:prstGeom>
          <a:noFill/>
        </p:spPr>
        <p:txBody>
          <a:bodyPr wrap="none" lIns="0" tIns="0" rIns="0" bIns="0">
            <a:spAutoFit/>
          </a:bodyPr>
          <a:lstStyle/>
          <a:p>
            <a:pPr>
              <a:defRPr sz="1150">
                <a:solidFill>
                  <a:srgbClr val="9CA3AF"/>
                </a:solidFill>
                <a:latin typeface="Segoe UI"/>
              </a:defRPr>
            </a:pPr>
            <a:r>
              <a:t>Leads: Dhruv Patel &amp; Krish J. Panchal  •  1-Click deployment of venues, timelines, and tasks.</a:t>
            </a:r>
          </a:p>
        </p:txBody>
      </p:sp>
      <p:sp>
        <p:nvSpPr>
          <p:cNvPr id="6" name="Rectangle 5"/>
          <p:cNvSpPr/>
          <p:nvPr/>
        </p:nvSpPr>
        <p:spPr>
          <a:xfrm>
            <a:off x="731520" y="1691640"/>
            <a:ext cx="6858000"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2_events.png"/>
          <p:cNvPicPr>
            <a:picLocks noChangeAspect="1"/>
          </p:cNvPicPr>
          <p:nvPr/>
        </p:nvPicPr>
        <p:blipFill>
          <a:blip r:embed="rId2"/>
          <a:stretch>
            <a:fillRect/>
          </a:stretch>
        </p:blipFill>
        <p:spPr>
          <a:xfrm>
            <a:off x="822960" y="1783080"/>
            <a:ext cx="6675120" cy="4171950"/>
          </a:xfrm>
          <a:prstGeom prst="rect">
            <a:avLst/>
          </a:prstGeom>
        </p:spPr>
      </p:pic>
      <p:sp>
        <p:nvSpPr>
          <p:cNvPr id="8" name="Rectangle 7"/>
          <p:cNvSpPr/>
          <p:nvPr/>
        </p:nvSpPr>
        <p:spPr>
          <a:xfrm>
            <a:off x="7772400" y="1691640"/>
            <a:ext cx="3685032"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1874519"/>
            <a:ext cx="3227832" cy="4114800"/>
          </a:xfrm>
          <a:prstGeom prst="rect">
            <a:avLst/>
          </a:prstGeom>
          <a:noFill/>
        </p:spPr>
        <p:txBody>
          <a:bodyPr wrap="none" lIns="0" tIns="0" rIns="0" bIns="0">
            <a:spAutoFit/>
          </a:bodyPr>
          <a:lstStyle/>
          <a:p>
            <a:pPr>
              <a:defRPr sz="1000" b="1">
                <a:solidFill>
                  <a:srgbClr val="FF2D55"/>
                </a:solidFill>
                <a:latin typeface="Segoe UI"/>
              </a:defRPr>
            </a:pPr>
            <a:r>
              <a:t>EVENT PLANNING CAPABILITIES</a:t>
            </a:r>
          </a:p>
          <a:p>
            <a:pPr>
              <a:spcBef>
                <a:spcPts val="1200"/>
              </a:spcBef>
            </a:pPr>
            <a:r>
              <a:rPr b="1" sz="1100">
                <a:solidFill>
                  <a:srgbClr val="FFFFFF"/>
                </a:solidFill>
              </a:rPr>
              <a:t>• Prompt Presets
</a:t>
            </a:r>
            <a:r>
              <a:rPr sz="1000">
                <a:solidFill>
                  <a:srgbClr val="9CA3AF"/>
                </a:solidFill>
              </a:rPr>
              <a:t>Quick-start templates for Hackathons, Robotics Expos, and Career Fairs.</a:t>
            </a:r>
          </a:p>
          <a:p>
            <a:pPr>
              <a:spcBef>
                <a:spcPts val="1200"/>
              </a:spcBef>
            </a:pPr>
            <a:r>
              <a:rPr b="1" sz="1100">
                <a:solidFill>
                  <a:srgbClr val="FFFFFF"/>
                </a:solidFill>
              </a:rPr>
              <a:t>• 4-Phase Execution Timeline
</a:t>
            </a:r>
            <a:r>
              <a:rPr sz="1000">
                <a:solidFill>
                  <a:srgbClr val="9CA3AF"/>
                </a:solidFill>
              </a:rPr>
              <a:t>Structured timeline phases: Preparation, Build &amp; Logistics, Execution Day, and Post-Mortem.</a:t>
            </a:r>
          </a:p>
          <a:p>
            <a:pPr>
              <a:spcBef>
                <a:spcPts val="1200"/>
              </a:spcBef>
            </a:pPr>
            <a:r>
              <a:rPr b="1" sz="1100">
                <a:solidFill>
                  <a:srgbClr val="FFFFFF"/>
                </a:solidFill>
              </a:rPr>
              <a:t>• Volunteer Role Synthesis
</a:t>
            </a:r>
            <a:r>
              <a:rPr sz="1000">
                <a:solidFill>
                  <a:srgbClr val="9CA3AF"/>
                </a:solidFill>
              </a:rPr>
              <a:t>Automatically calculates required teams (AV, Security, Hospitality, Registration).</a:t>
            </a:r>
          </a:p>
          <a:p>
            <a:pPr>
              <a:spcBef>
                <a:spcPts val="1200"/>
              </a:spcBef>
            </a:pPr>
            <a:r>
              <a:rPr b="1" sz="1100">
                <a:solidFill>
                  <a:srgbClr val="FFFFFF"/>
                </a:solidFill>
              </a:rPr>
              <a:t>• 1-Click DB Deployment
</a:t>
            </a:r>
            <a:r>
              <a:rPr sz="1000">
                <a:solidFill>
                  <a:srgbClr val="9CA3AF"/>
                </a:solidFill>
              </a:rPr>
              <a:t>Generates the live event in MongoDB with all milestone tasks assigned simultaneously.</a:t>
            </a:r>
          </a:p>
        </p:txBody>
      </p:sp>
      <p:sp>
        <p:nvSpPr>
          <p:cNvPr id="10" name="TextBox 9"/>
          <p:cNvSpPr txBox="1"/>
          <p:nvPr/>
        </p:nvSpPr>
        <p:spPr>
          <a:xfrm>
            <a:off x="731520" y="6473952"/>
            <a:ext cx="10698480" cy="274320"/>
          </a:xfrm>
          <a:prstGeom prst="rect">
            <a:avLst/>
          </a:prstGeom>
          <a:noFill/>
        </p:spPr>
        <p:txBody>
          <a:bodyPr wrap="none" lIns="0" tIns="0" rIns="0" bIns="0">
            <a:spAutoFit/>
          </a:bodyPr>
          <a:lstStyle/>
          <a:p>
            <a:pPr>
              <a:defRPr sz="900">
                <a:solidFill>
                  <a:srgbClr val="6E7382"/>
                </a:solidFill>
                <a:latin typeface="Segoe UI"/>
              </a:defRPr>
            </a:pPr>
            <a:r>
              <a:t>ClubOps AI  •  Bit N Build 2026 Hackathon  •  Slide 7 of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KANBAN &amp; RAG SHOWCASE</a:t>
            </a:r>
          </a:p>
        </p:txBody>
      </p:sp>
      <p:sp>
        <p:nvSpPr>
          <p:cNvPr id="4" name="TextBox 3"/>
          <p:cNvSpPr txBox="1"/>
          <p:nvPr/>
        </p:nvSpPr>
        <p:spPr>
          <a:xfrm>
            <a:off x="731520" y="621792"/>
            <a:ext cx="10698480" cy="594360"/>
          </a:xfrm>
          <a:prstGeom prst="rect">
            <a:avLst/>
          </a:prstGeom>
          <a:noFill/>
        </p:spPr>
        <p:txBody>
          <a:bodyPr wrap="none" lIns="0" tIns="0" rIns="0" bIns="0">
            <a:spAutoFit/>
          </a:bodyPr>
          <a:lstStyle/>
          <a:p>
            <a:pPr>
              <a:defRPr sz="2100" b="1">
                <a:solidFill>
                  <a:srgbClr val="FFFFFF"/>
                </a:solidFill>
                <a:latin typeface="Segoe UI"/>
              </a:defRPr>
            </a:pPr>
            <a:r>
              <a:t>Intelligent Kanban Board &amp; Grounded Document RAG</a:t>
            </a:r>
          </a:p>
        </p:txBody>
      </p:sp>
      <p:sp>
        <p:nvSpPr>
          <p:cNvPr id="5" name="TextBox 4"/>
          <p:cNvSpPr txBox="1"/>
          <p:nvPr/>
        </p:nvSpPr>
        <p:spPr>
          <a:xfrm>
            <a:off x="731520" y="1188720"/>
            <a:ext cx="10698480" cy="320040"/>
          </a:xfrm>
          <a:prstGeom prst="rect">
            <a:avLst/>
          </a:prstGeom>
          <a:noFill/>
        </p:spPr>
        <p:txBody>
          <a:bodyPr wrap="none" lIns="0" tIns="0" rIns="0" bIns="0">
            <a:spAutoFit/>
          </a:bodyPr>
          <a:lstStyle/>
          <a:p>
            <a:pPr>
              <a:defRPr sz="1150">
                <a:solidFill>
                  <a:srgbClr val="9CA3AF"/>
                </a:solidFill>
                <a:latin typeface="Segoe UI"/>
              </a:defRPr>
            </a:pPr>
            <a:r>
              <a:t>Leads: Krish M. Patel &amp; Krish K. Patel  •  4-tier urgency Kanban and cited knowledge base.</a:t>
            </a:r>
          </a:p>
        </p:txBody>
      </p:sp>
      <p:sp>
        <p:nvSpPr>
          <p:cNvPr id="6" name="Rectangle 5"/>
          <p:cNvSpPr/>
          <p:nvPr/>
        </p:nvSpPr>
        <p:spPr>
          <a:xfrm>
            <a:off x="731520" y="1691640"/>
            <a:ext cx="5212080"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3_tasks_board.png"/>
          <p:cNvPicPr>
            <a:picLocks noChangeAspect="1"/>
          </p:cNvPicPr>
          <p:nvPr/>
        </p:nvPicPr>
        <p:blipFill>
          <a:blip r:embed="rId2"/>
          <a:stretch>
            <a:fillRect/>
          </a:stretch>
        </p:blipFill>
        <p:spPr>
          <a:xfrm>
            <a:off x="822960" y="1783080"/>
            <a:ext cx="5029200" cy="3143250"/>
          </a:xfrm>
          <a:prstGeom prst="rect">
            <a:avLst/>
          </a:prstGeom>
        </p:spPr>
      </p:pic>
      <p:sp>
        <p:nvSpPr>
          <p:cNvPr id="8" name="TextBox 7"/>
          <p:cNvSpPr txBox="1"/>
          <p:nvPr/>
        </p:nvSpPr>
        <p:spPr>
          <a:xfrm>
            <a:off x="822960" y="4754880"/>
            <a:ext cx="5029200" cy="1280160"/>
          </a:xfrm>
          <a:prstGeom prst="rect">
            <a:avLst/>
          </a:prstGeom>
          <a:noFill/>
        </p:spPr>
        <p:txBody>
          <a:bodyPr wrap="none" lIns="0" tIns="0" rIns="0" bIns="0">
            <a:spAutoFit/>
          </a:bodyPr>
          <a:lstStyle/>
          <a:p>
            <a:pPr>
              <a:defRPr sz="1000" b="1">
                <a:solidFill>
                  <a:srgbClr val="FF2D55"/>
                </a:solidFill>
                <a:latin typeface="Segoe UI"/>
              </a:defRPr>
            </a:pPr>
            <a:r>
              <a:t>TASK OPERATIONS BOARD</a:t>
            </a:r>
          </a:p>
          <a:p>
            <a:pPr>
              <a:spcBef>
                <a:spcPts val="200"/>
              </a:spcBef>
              <a:defRPr sz="1000">
                <a:solidFill>
                  <a:srgbClr val="9CA3AF"/>
                </a:solidFill>
                <a:latin typeface="Segoe UI"/>
              </a:defRPr>
            </a:pPr>
            <a:r>
              <a:t>Displays AI-allocated tasks with 4-tier urgency tags (Critical, High, Medium, Low), assignee avatars, status pipelines, and search filters.</a:t>
            </a:r>
          </a:p>
        </p:txBody>
      </p:sp>
      <p:sp>
        <p:nvSpPr>
          <p:cNvPr id="9" name="Rectangle 8"/>
          <p:cNvSpPr/>
          <p:nvPr/>
        </p:nvSpPr>
        <p:spPr>
          <a:xfrm>
            <a:off x="6217920" y="1691640"/>
            <a:ext cx="5239512"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5_documents_rag.png"/>
          <p:cNvPicPr>
            <a:picLocks noChangeAspect="1"/>
          </p:cNvPicPr>
          <p:nvPr/>
        </p:nvPicPr>
        <p:blipFill>
          <a:blip r:embed="rId3"/>
          <a:stretch>
            <a:fillRect/>
          </a:stretch>
        </p:blipFill>
        <p:spPr>
          <a:xfrm>
            <a:off x="6309360" y="1783080"/>
            <a:ext cx="5056632" cy="3160395"/>
          </a:xfrm>
          <a:prstGeom prst="rect">
            <a:avLst/>
          </a:prstGeom>
        </p:spPr>
      </p:pic>
      <p:sp>
        <p:nvSpPr>
          <p:cNvPr id="11" name="TextBox 10"/>
          <p:cNvSpPr txBox="1"/>
          <p:nvPr/>
        </p:nvSpPr>
        <p:spPr>
          <a:xfrm>
            <a:off x="6309360" y="4754880"/>
            <a:ext cx="5056632" cy="1280160"/>
          </a:xfrm>
          <a:prstGeom prst="rect">
            <a:avLst/>
          </a:prstGeom>
          <a:noFill/>
        </p:spPr>
        <p:txBody>
          <a:bodyPr wrap="none" lIns="0" tIns="0" rIns="0" bIns="0">
            <a:spAutoFit/>
          </a:bodyPr>
          <a:lstStyle/>
          <a:p>
            <a:pPr>
              <a:defRPr sz="1000" b="1">
                <a:solidFill>
                  <a:srgbClr val="FF2D55"/>
                </a:solidFill>
                <a:latin typeface="Segoe UI"/>
              </a:defRPr>
            </a:pPr>
            <a:r>
              <a:t>GROUNDED RAG KNOWLEDGE REPOSITORY</a:t>
            </a:r>
          </a:p>
          <a:p>
            <a:pPr>
              <a:spcBef>
                <a:spcPts val="200"/>
              </a:spcBef>
              <a:defRPr sz="1000">
                <a:solidFill>
                  <a:srgbClr val="9CA3AF"/>
                </a:solidFill>
                <a:latin typeface="Segoe UI"/>
              </a:defRPr>
            </a:pPr>
            <a:r>
              <a:t>Multi-format knowledge repository (.pdf, .docx, .doc, .txt) with vector search, inline document text inspection, and grounded verbatim citation answers.</a:t>
            </a:r>
          </a:p>
        </p:txBody>
      </p:sp>
      <p:sp>
        <p:nvSpPr>
          <p:cNvPr id="12" name="TextBox 11"/>
          <p:cNvSpPr txBox="1"/>
          <p:nvPr/>
        </p:nvSpPr>
        <p:spPr>
          <a:xfrm>
            <a:off x="731520" y="6473952"/>
            <a:ext cx="10698480" cy="274320"/>
          </a:xfrm>
          <a:prstGeom prst="rect">
            <a:avLst/>
          </a:prstGeom>
          <a:noFill/>
        </p:spPr>
        <p:txBody>
          <a:bodyPr wrap="none" lIns="0" tIns="0" rIns="0" bIns="0">
            <a:spAutoFit/>
          </a:bodyPr>
          <a:lstStyle/>
          <a:p>
            <a:pPr>
              <a:defRPr sz="900">
                <a:solidFill>
                  <a:srgbClr val="6E7382"/>
                </a:solidFill>
                <a:latin typeface="Segoe UI"/>
              </a:defRPr>
            </a:pPr>
            <a:r>
              <a:t>ClubOps AI  •  Bit N Build 2026 Hackathon  •  Slide 8 of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AGENT &amp; TRANSCRIPTS</a:t>
            </a:r>
          </a:p>
        </p:txBody>
      </p:sp>
      <p:sp>
        <p:nvSpPr>
          <p:cNvPr id="4" name="TextBox 3"/>
          <p:cNvSpPr txBox="1"/>
          <p:nvPr/>
        </p:nvSpPr>
        <p:spPr>
          <a:xfrm>
            <a:off x="731520" y="621792"/>
            <a:ext cx="10698480" cy="594360"/>
          </a:xfrm>
          <a:prstGeom prst="rect">
            <a:avLst/>
          </a:prstGeom>
          <a:noFill/>
        </p:spPr>
        <p:txBody>
          <a:bodyPr wrap="none" lIns="0" tIns="0" rIns="0" bIns="0">
            <a:spAutoFit/>
          </a:bodyPr>
          <a:lstStyle/>
          <a:p>
            <a:pPr>
              <a:defRPr sz="2100" b="1">
                <a:solidFill>
                  <a:srgbClr val="FFFFFF"/>
                </a:solidFill>
                <a:latin typeface="Segoe UI"/>
              </a:defRPr>
            </a:pPr>
            <a:r>
              <a:t>Autonomous AI Agent &amp; Meeting Transcripts</a:t>
            </a:r>
          </a:p>
        </p:txBody>
      </p:sp>
      <p:sp>
        <p:nvSpPr>
          <p:cNvPr id="5" name="TextBox 4"/>
          <p:cNvSpPr txBox="1"/>
          <p:nvPr/>
        </p:nvSpPr>
        <p:spPr>
          <a:xfrm>
            <a:off x="731520" y="1188720"/>
            <a:ext cx="10698480" cy="320040"/>
          </a:xfrm>
          <a:prstGeom prst="rect">
            <a:avLst/>
          </a:prstGeom>
          <a:noFill/>
        </p:spPr>
        <p:txBody>
          <a:bodyPr wrap="none" lIns="0" tIns="0" rIns="0" bIns="0">
            <a:spAutoFit/>
          </a:bodyPr>
          <a:lstStyle/>
          <a:p>
            <a:pPr>
              <a:defRPr sz="1150">
                <a:solidFill>
                  <a:srgbClr val="9CA3AF"/>
                </a:solidFill>
                <a:latin typeface="Segoe UI"/>
              </a:defRPr>
            </a:pPr>
            <a:r>
              <a:t>Leads: Dhruv Patel &amp; Krish M. Patel  •  Natural language actions and instant transcript processing.</a:t>
            </a:r>
          </a:p>
        </p:txBody>
      </p:sp>
      <p:sp>
        <p:nvSpPr>
          <p:cNvPr id="6" name="Rectangle 5"/>
          <p:cNvSpPr/>
          <p:nvPr/>
        </p:nvSpPr>
        <p:spPr>
          <a:xfrm>
            <a:off x="731520" y="1691640"/>
            <a:ext cx="5212080"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6_ai_agent.png"/>
          <p:cNvPicPr>
            <a:picLocks noChangeAspect="1"/>
          </p:cNvPicPr>
          <p:nvPr/>
        </p:nvPicPr>
        <p:blipFill>
          <a:blip r:embed="rId2"/>
          <a:stretch>
            <a:fillRect/>
          </a:stretch>
        </p:blipFill>
        <p:spPr>
          <a:xfrm>
            <a:off x="822960" y="1783080"/>
            <a:ext cx="5029200" cy="3143250"/>
          </a:xfrm>
          <a:prstGeom prst="rect">
            <a:avLst/>
          </a:prstGeom>
        </p:spPr>
      </p:pic>
      <p:sp>
        <p:nvSpPr>
          <p:cNvPr id="8" name="TextBox 7"/>
          <p:cNvSpPr txBox="1"/>
          <p:nvPr/>
        </p:nvSpPr>
        <p:spPr>
          <a:xfrm>
            <a:off x="822960" y="4754880"/>
            <a:ext cx="5029200" cy="1280160"/>
          </a:xfrm>
          <a:prstGeom prst="rect">
            <a:avLst/>
          </a:prstGeom>
          <a:noFill/>
        </p:spPr>
        <p:txBody>
          <a:bodyPr wrap="none" lIns="0" tIns="0" rIns="0" bIns="0">
            <a:spAutoFit/>
          </a:bodyPr>
          <a:lstStyle/>
          <a:p>
            <a:pPr>
              <a:defRPr sz="1000" b="1">
                <a:solidFill>
                  <a:srgbClr val="FF2D55"/>
                </a:solidFill>
                <a:latin typeface="Segoe UI"/>
              </a:defRPr>
            </a:pPr>
            <a:r>
              <a:t>AUTONOMOUS AI AGENT WORKSPACE</a:t>
            </a:r>
          </a:p>
          <a:p>
            <a:pPr>
              <a:spcBef>
                <a:spcPts val="200"/>
              </a:spcBef>
              <a:defRPr sz="1000">
                <a:solidFill>
                  <a:srgbClr val="9CA3AF"/>
                </a:solidFill>
                <a:latin typeface="Segoe UI"/>
              </a:defRPr>
            </a:pPr>
            <a:r>
              <a:t>Translates natural-language commands into live database operations (task creation, status progression, risk logging, and broadcast dispatches) across 6 tools.</a:t>
            </a:r>
          </a:p>
        </p:txBody>
      </p:sp>
      <p:sp>
        <p:nvSpPr>
          <p:cNvPr id="9" name="Rectangle 8"/>
          <p:cNvSpPr/>
          <p:nvPr/>
        </p:nvSpPr>
        <p:spPr>
          <a:xfrm>
            <a:off x="6217920" y="1691640"/>
            <a:ext cx="5239512"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4_meetings.png"/>
          <p:cNvPicPr>
            <a:picLocks noChangeAspect="1"/>
          </p:cNvPicPr>
          <p:nvPr/>
        </p:nvPicPr>
        <p:blipFill>
          <a:blip r:embed="rId3"/>
          <a:stretch>
            <a:fillRect/>
          </a:stretch>
        </p:blipFill>
        <p:spPr>
          <a:xfrm>
            <a:off x="6309360" y="1783080"/>
            <a:ext cx="5056632" cy="3160395"/>
          </a:xfrm>
          <a:prstGeom prst="rect">
            <a:avLst/>
          </a:prstGeom>
        </p:spPr>
      </p:pic>
      <p:sp>
        <p:nvSpPr>
          <p:cNvPr id="11" name="TextBox 10"/>
          <p:cNvSpPr txBox="1"/>
          <p:nvPr/>
        </p:nvSpPr>
        <p:spPr>
          <a:xfrm>
            <a:off x="6309360" y="4754880"/>
            <a:ext cx="5056632" cy="1280160"/>
          </a:xfrm>
          <a:prstGeom prst="rect">
            <a:avLst/>
          </a:prstGeom>
          <a:noFill/>
        </p:spPr>
        <p:txBody>
          <a:bodyPr wrap="none" lIns="0" tIns="0" rIns="0" bIns="0">
            <a:spAutoFit/>
          </a:bodyPr>
          <a:lstStyle/>
          <a:p>
            <a:pPr>
              <a:defRPr sz="1000" b="1">
                <a:solidFill>
                  <a:srgbClr val="FF2D55"/>
                </a:solidFill>
                <a:latin typeface="Segoe UI"/>
              </a:defRPr>
            </a:pPr>
            <a:r>
              <a:t>MEETING TRANSCRIPT PROCESSING</a:t>
            </a:r>
          </a:p>
          <a:p>
            <a:pPr>
              <a:spcBef>
                <a:spcPts val="200"/>
              </a:spcBef>
              <a:defRPr sz="1000">
                <a:solidFill>
                  <a:srgbClr val="9CA3AF"/>
                </a:solidFill>
                <a:latin typeface="Segoe UI"/>
              </a:defRPr>
            </a:pPr>
            <a:r>
              <a:t>Instant transcript analysis that extracts executive summaries, decisions, action items, and automatically assigns tasks to least-loaded volunteers upon submission.</a:t>
            </a:r>
          </a:p>
        </p:txBody>
      </p:sp>
      <p:sp>
        <p:nvSpPr>
          <p:cNvPr id="12" name="TextBox 11"/>
          <p:cNvSpPr txBox="1"/>
          <p:nvPr/>
        </p:nvSpPr>
        <p:spPr>
          <a:xfrm>
            <a:off x="731520" y="6473952"/>
            <a:ext cx="10698480" cy="274320"/>
          </a:xfrm>
          <a:prstGeom prst="rect">
            <a:avLst/>
          </a:prstGeom>
          <a:noFill/>
        </p:spPr>
        <p:txBody>
          <a:bodyPr wrap="none" lIns="0" tIns="0" rIns="0" bIns="0">
            <a:spAutoFit/>
          </a:bodyPr>
          <a:lstStyle/>
          <a:p>
            <a:pPr>
              <a:defRPr sz="900">
                <a:solidFill>
                  <a:srgbClr val="6E7382"/>
                </a:solidFill>
                <a:latin typeface="Segoe UI"/>
              </a:defRPr>
            </a:pPr>
            <a:r>
              <a:t>ClubOps AI  •  Bit N Build 2026 Hackathon  •  Slide 9 of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THE TEAM</a:t>
            </a:r>
          </a:p>
        </p:txBody>
      </p:sp>
      <p:sp>
        <p:nvSpPr>
          <p:cNvPr id="4" name="TextBox 3"/>
          <p:cNvSpPr txBox="1"/>
          <p:nvPr/>
        </p:nvSpPr>
        <p:spPr>
          <a:xfrm>
            <a:off x="731520" y="621792"/>
            <a:ext cx="10698480" cy="594360"/>
          </a:xfrm>
          <a:prstGeom prst="rect">
            <a:avLst/>
          </a:prstGeom>
          <a:noFill/>
        </p:spPr>
        <p:txBody>
          <a:bodyPr wrap="none" lIns="0" tIns="0" rIns="0" bIns="0">
            <a:spAutoFit/>
          </a:bodyPr>
          <a:lstStyle/>
          <a:p>
            <a:pPr>
              <a:defRPr sz="2100" b="1">
                <a:solidFill>
                  <a:srgbClr val="FFFFFF"/>
                </a:solidFill>
                <a:latin typeface="Segoe UI"/>
              </a:defRPr>
            </a:pPr>
            <a:r>
              <a:t>The Engineering Team Behind ClubOps AI</a:t>
            </a:r>
          </a:p>
        </p:txBody>
      </p:sp>
      <p:sp>
        <p:nvSpPr>
          <p:cNvPr id="5" name="TextBox 4"/>
          <p:cNvSpPr txBox="1"/>
          <p:nvPr/>
        </p:nvSpPr>
        <p:spPr>
          <a:xfrm>
            <a:off x="731520" y="1188720"/>
            <a:ext cx="10698480" cy="320040"/>
          </a:xfrm>
          <a:prstGeom prst="rect">
            <a:avLst/>
          </a:prstGeom>
          <a:noFill/>
        </p:spPr>
        <p:txBody>
          <a:bodyPr wrap="none" lIns="0" tIns="0" rIns="0" bIns="0">
            <a:spAutoFit/>
          </a:bodyPr>
          <a:lstStyle/>
          <a:p>
            <a:pPr>
              <a:defRPr sz="1150">
                <a:solidFill>
                  <a:srgbClr val="9CA3AF"/>
                </a:solidFill>
                <a:latin typeface="Segoe UI"/>
              </a:defRPr>
            </a:pPr>
            <a:r>
              <a:t>Bit N Build 2026 Hackathon  •  Individual technical contributions and architectural ownership.</a:t>
            </a:r>
          </a:p>
        </p:txBody>
      </p:sp>
      <p:sp>
        <p:nvSpPr>
          <p:cNvPr id="6" name="Rectangle 5"/>
          <p:cNvSpPr/>
          <p:nvPr/>
        </p:nvSpPr>
        <p:spPr>
          <a:xfrm>
            <a:off x="731520" y="1691640"/>
            <a:ext cx="2487168"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121408" cy="4069080"/>
          </a:xfrm>
          <a:prstGeom prst="rect">
            <a:avLst/>
          </a:prstGeom>
          <a:noFill/>
        </p:spPr>
        <p:txBody>
          <a:bodyPr wrap="none" lIns="0" tIns="0" rIns="0" bIns="0">
            <a:spAutoFit/>
          </a:bodyPr>
          <a:lstStyle/>
          <a:p>
            <a:pPr>
              <a:defRPr sz="950" b="1">
                <a:solidFill>
                  <a:srgbClr val="FF2D55"/>
                </a:solidFill>
                <a:latin typeface="Segoe UI"/>
              </a:defRPr>
            </a:pPr>
            <a:r>
              <a:t>BACKEND LEAD</a:t>
            </a:r>
          </a:p>
          <a:p>
            <a:pPr>
              <a:spcBef>
                <a:spcPts val="200"/>
              </a:spcBef>
              <a:defRPr sz="1500" b="1">
                <a:solidFill>
                  <a:srgbClr val="FFFFFF"/>
                </a:solidFill>
                <a:latin typeface="Segoe UI"/>
              </a:defRPr>
            </a:pPr>
            <a:r>
              <a:t>Krish M. Patel</a:t>
            </a:r>
          </a:p>
          <a:p>
            <a:pPr>
              <a:spcBef>
                <a:spcPts val="1200"/>
              </a:spcBef>
            </a:pPr>
            <a:r>
              <a:rPr b="1" sz="1050">
                <a:solidFill>
                  <a:srgbClr val="06B6D4"/>
                </a:solidFill>
              </a:rPr>
              <a:t>• REST API Architecture
</a:t>
            </a:r>
            <a:r>
              <a:rPr sz="950">
                <a:solidFill>
                  <a:srgbClr val="9CA3AF"/>
                </a:solidFill>
              </a:rPr>
              <a:t>Engineered 11 Express controllers managing clubs, events, tasks, risks, meetings, and notifications.</a:t>
            </a:r>
          </a:p>
          <a:p>
            <a:pPr>
              <a:spcBef>
                <a:spcPts val="1200"/>
              </a:spcBef>
            </a:pPr>
            <a:r>
              <a:rPr b="1" sz="1050">
                <a:solidFill>
                  <a:srgbClr val="06B6D4"/>
                </a:solidFill>
              </a:rPr>
              <a:t>• Security &amp; Auth
</a:t>
            </a:r>
            <a:r>
              <a:rPr sz="950">
                <a:solidFill>
                  <a:srgbClr val="9CA3AF"/>
                </a:solidFill>
              </a:rPr>
              <a:t>Implemented BCrypt password hashing and signed JWT authentication middleware.</a:t>
            </a:r>
          </a:p>
          <a:p>
            <a:pPr>
              <a:spcBef>
                <a:spcPts val="1200"/>
              </a:spcBef>
            </a:pPr>
            <a:r>
              <a:rPr b="1" sz="1050">
                <a:solidFill>
                  <a:srgbClr val="06B6D4"/>
                </a:solidFill>
              </a:rPr>
              <a:t>• Data Modeling
</a:t>
            </a:r>
            <a:r>
              <a:rPr sz="950">
                <a:solidFill>
                  <a:srgbClr val="9CA3AF"/>
                </a:solidFill>
              </a:rPr>
              <a:t>Designed 11 relational Mongoose schemas with indexed tenant scoping (clubId, eventId).</a:t>
            </a:r>
          </a:p>
        </p:txBody>
      </p:sp>
      <p:sp>
        <p:nvSpPr>
          <p:cNvPr id="8" name="Rectangle 7"/>
          <p:cNvSpPr/>
          <p:nvPr/>
        </p:nvSpPr>
        <p:spPr>
          <a:xfrm>
            <a:off x="3447288" y="1691640"/>
            <a:ext cx="2487168"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0168" y="1874519"/>
            <a:ext cx="2121408" cy="4069080"/>
          </a:xfrm>
          <a:prstGeom prst="rect">
            <a:avLst/>
          </a:prstGeom>
          <a:noFill/>
        </p:spPr>
        <p:txBody>
          <a:bodyPr wrap="none" lIns="0" tIns="0" rIns="0" bIns="0">
            <a:spAutoFit/>
          </a:bodyPr>
          <a:lstStyle/>
          <a:p>
            <a:pPr>
              <a:defRPr sz="950" b="1">
                <a:solidFill>
                  <a:srgbClr val="FF2D55"/>
                </a:solidFill>
                <a:latin typeface="Segoe UI"/>
              </a:defRPr>
            </a:pPr>
            <a:r>
              <a:t>FRONTEND LEAD</a:t>
            </a:r>
          </a:p>
          <a:p>
            <a:pPr>
              <a:spcBef>
                <a:spcPts val="200"/>
              </a:spcBef>
              <a:defRPr sz="1500" b="1">
                <a:solidFill>
                  <a:srgbClr val="FFFFFF"/>
                </a:solidFill>
                <a:latin typeface="Segoe UI"/>
              </a:defRPr>
            </a:pPr>
            <a:r>
              <a:t>Krish Panchal / Krish J.</a:t>
            </a:r>
          </a:p>
          <a:p>
            <a:pPr>
              <a:spcBef>
                <a:spcPts val="1200"/>
              </a:spcBef>
            </a:pPr>
            <a:r>
              <a:rPr b="1" sz="1050">
                <a:solidFill>
                  <a:srgbClr val="06B6D4"/>
                </a:solidFill>
              </a:rPr>
              <a:t>• React 19 SPA
</a:t>
            </a:r>
            <a:r>
              <a:rPr sz="950">
                <a:solidFill>
                  <a:srgbClr val="9CA3AF"/>
                </a:solidFill>
              </a:rPr>
              <a:t>Architected component hierarchy, client routing with React Router, and modular dashboard layouts.</a:t>
            </a:r>
          </a:p>
          <a:p>
            <a:pPr>
              <a:spcBef>
                <a:spcPts val="1200"/>
              </a:spcBef>
            </a:pPr>
            <a:r>
              <a:rPr b="1" sz="1050">
                <a:solidFill>
                  <a:srgbClr val="06B6D4"/>
                </a:solidFill>
              </a:rPr>
              <a:t>• Brutalist UI/UX
</a:t>
            </a:r>
            <a:r>
              <a:rPr sz="950">
                <a:solidFill>
                  <a:srgbClr val="9CA3AF"/>
                </a:solidFill>
              </a:rPr>
              <a:t>Built the custom Neo-Brutalist design system, status radar, and responsive CSS.</a:t>
            </a:r>
          </a:p>
          <a:p>
            <a:pPr>
              <a:spcBef>
                <a:spcPts val="1200"/>
              </a:spcBef>
            </a:pPr>
            <a:r>
              <a:rPr b="1" sz="1050">
                <a:solidFill>
                  <a:srgbClr val="06B6D4"/>
                </a:solidFill>
              </a:rPr>
              <a:t>• Modal Workflows
</a:t>
            </a:r>
            <a:r>
              <a:rPr sz="950">
                <a:solidFill>
                  <a:srgbClr val="9CA3AF"/>
                </a:solidFill>
              </a:rPr>
              <a:t>Developed the AI Event Planner and standard task/meeting creation dialogs.</a:t>
            </a:r>
          </a:p>
        </p:txBody>
      </p:sp>
      <p:sp>
        <p:nvSpPr>
          <p:cNvPr id="10" name="Rectangle 9"/>
          <p:cNvSpPr/>
          <p:nvPr/>
        </p:nvSpPr>
        <p:spPr>
          <a:xfrm>
            <a:off x="6163056" y="1691640"/>
            <a:ext cx="2487168"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5936" y="1874519"/>
            <a:ext cx="2121408" cy="4069080"/>
          </a:xfrm>
          <a:prstGeom prst="rect">
            <a:avLst/>
          </a:prstGeom>
          <a:noFill/>
        </p:spPr>
        <p:txBody>
          <a:bodyPr wrap="none" lIns="0" tIns="0" rIns="0" bIns="0">
            <a:spAutoFit/>
          </a:bodyPr>
          <a:lstStyle/>
          <a:p>
            <a:pPr>
              <a:defRPr sz="950" b="1">
                <a:solidFill>
                  <a:srgbClr val="FF2D55"/>
                </a:solidFill>
                <a:latin typeface="Segoe UI"/>
              </a:defRPr>
            </a:pPr>
            <a:r>
              <a:t>RAG SPECIALIST</a:t>
            </a:r>
          </a:p>
          <a:p>
            <a:pPr>
              <a:spcBef>
                <a:spcPts val="200"/>
              </a:spcBef>
              <a:defRPr sz="1500" b="1">
                <a:solidFill>
                  <a:srgbClr val="FFFFFF"/>
                </a:solidFill>
                <a:latin typeface="Segoe UI"/>
              </a:defRPr>
            </a:pPr>
            <a:r>
              <a:t>Krish K. Patel</a:t>
            </a:r>
          </a:p>
          <a:p>
            <a:pPr>
              <a:spcBef>
                <a:spcPts val="1200"/>
              </a:spcBef>
            </a:pPr>
            <a:r>
              <a:rPr b="1" sz="1050">
                <a:solidFill>
                  <a:srgbClr val="06B6D4"/>
                </a:solidFill>
              </a:rPr>
              <a:t>• Document Ingestion
</a:t>
            </a:r>
            <a:r>
              <a:rPr sz="950">
                <a:solidFill>
                  <a:srgbClr val="9CA3AF"/>
                </a:solidFill>
              </a:rPr>
              <a:t>Built document loader and text extraction for .pdf, .docx, .doc, and .txt files.</a:t>
            </a:r>
          </a:p>
          <a:p>
            <a:pPr>
              <a:spcBef>
                <a:spcPts val="1200"/>
              </a:spcBef>
            </a:pPr>
            <a:r>
              <a:rPr b="1" sz="1050">
                <a:solidFill>
                  <a:srgbClr val="06B6D4"/>
                </a:solidFill>
              </a:rPr>
              <a:t>• Vector Pipeline
</a:t>
            </a:r>
            <a:r>
              <a:rPr sz="950">
                <a:solidFill>
                  <a:srgbClr val="9CA3AF"/>
                </a:solidFill>
              </a:rPr>
              <a:t>Engineered sliding-window semantic chunker and in-memory cosine similarity retrieval.</a:t>
            </a:r>
          </a:p>
          <a:p>
            <a:pPr>
              <a:spcBef>
                <a:spcPts val="1200"/>
              </a:spcBef>
            </a:pPr>
            <a:r>
              <a:rPr b="1" sz="1050">
                <a:solidFill>
                  <a:srgbClr val="06B6D4"/>
                </a:solidFill>
              </a:rPr>
              <a:t>• Citation Grounding
</a:t>
            </a:r>
            <a:r>
              <a:rPr sz="950">
                <a:solidFill>
                  <a:srgbClr val="9CA3AF"/>
                </a:solidFill>
              </a:rPr>
              <a:t>Designed grounded Q&amp;A prompt templates enforcing verbatim source citations.</a:t>
            </a:r>
          </a:p>
        </p:txBody>
      </p:sp>
      <p:sp>
        <p:nvSpPr>
          <p:cNvPr id="12" name="Rectangle 11"/>
          <p:cNvSpPr/>
          <p:nvPr/>
        </p:nvSpPr>
        <p:spPr>
          <a:xfrm>
            <a:off x="8878824" y="1691640"/>
            <a:ext cx="2487168"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61704" y="1874519"/>
            <a:ext cx="2121408" cy="4069080"/>
          </a:xfrm>
          <a:prstGeom prst="rect">
            <a:avLst/>
          </a:prstGeom>
          <a:noFill/>
        </p:spPr>
        <p:txBody>
          <a:bodyPr wrap="none" lIns="0" tIns="0" rIns="0" bIns="0">
            <a:spAutoFit/>
          </a:bodyPr>
          <a:lstStyle/>
          <a:p>
            <a:pPr>
              <a:defRPr sz="950" b="1">
                <a:solidFill>
                  <a:srgbClr val="FF2D55"/>
                </a:solidFill>
                <a:latin typeface="Segoe UI"/>
              </a:defRPr>
            </a:pPr>
            <a:r>
              <a:t>AI AUTOMATION LEAD</a:t>
            </a:r>
          </a:p>
          <a:p>
            <a:pPr>
              <a:spcBef>
                <a:spcPts val="200"/>
              </a:spcBef>
              <a:defRPr sz="1500" b="1">
                <a:solidFill>
                  <a:srgbClr val="FFFFFF"/>
                </a:solidFill>
                <a:latin typeface="Segoe UI"/>
              </a:defRPr>
            </a:pPr>
            <a:r>
              <a:t>Dhruv Patel</a:t>
            </a:r>
          </a:p>
          <a:p>
            <a:pPr>
              <a:spcBef>
                <a:spcPts val="1200"/>
              </a:spcBef>
            </a:pPr>
            <a:r>
              <a:rPr b="1" sz="1050">
                <a:solidFill>
                  <a:srgbClr val="06B6D4"/>
                </a:solidFill>
              </a:rPr>
              <a:t>• Gemini Integration
</a:t>
            </a:r>
            <a:r>
              <a:rPr sz="950">
                <a:solidFill>
                  <a:srgbClr val="9CA3AF"/>
                </a:solidFill>
              </a:rPr>
              <a:t>Integrated Google Gemini API via @google/genai SDK for meeting transcript analysis.</a:t>
            </a:r>
          </a:p>
          <a:p>
            <a:pPr>
              <a:spcBef>
                <a:spcPts val="1200"/>
              </a:spcBef>
            </a:pPr>
            <a:r>
              <a:rPr b="1" sz="1050">
                <a:solidFill>
                  <a:srgbClr val="06B6D4"/>
                </a:solidFill>
              </a:rPr>
              <a:t>• Autonomous Agent
</a:t>
            </a:r>
            <a:r>
              <a:rPr sz="950">
                <a:solidFill>
                  <a:srgbClr val="9CA3AF"/>
                </a:solidFill>
              </a:rPr>
              <a:t>Built intent parser and tool execution framework supporting 6 discrete tools.</a:t>
            </a:r>
          </a:p>
          <a:p>
            <a:pPr>
              <a:spcBef>
                <a:spcPts val="1200"/>
              </a:spcBef>
            </a:pPr>
            <a:r>
              <a:rPr b="1" sz="1050">
                <a:solidFill>
                  <a:srgbClr val="06B6D4"/>
                </a:solidFill>
              </a:rPr>
              <a:t>• Workload Balancing
</a:t>
            </a:r>
            <a:r>
              <a:rPr sz="950">
                <a:solidFill>
                  <a:srgbClr val="9CA3AF"/>
                </a:solidFill>
              </a:rPr>
              <a:t>Engineered dynamic volunteer least-loaded assignment and testing demo suite.</a:t>
            </a:r>
          </a:p>
        </p:txBody>
      </p:sp>
      <p:sp>
        <p:nvSpPr>
          <p:cNvPr id="14" name="TextBox 13"/>
          <p:cNvSpPr txBox="1"/>
          <p:nvPr/>
        </p:nvSpPr>
        <p:spPr>
          <a:xfrm>
            <a:off x="731520" y="6473952"/>
            <a:ext cx="10698480" cy="274320"/>
          </a:xfrm>
          <a:prstGeom prst="rect">
            <a:avLst/>
          </a:prstGeom>
          <a:noFill/>
        </p:spPr>
        <p:txBody>
          <a:bodyPr wrap="none" lIns="0" tIns="0" rIns="0" bIns="0">
            <a:spAutoFit/>
          </a:bodyPr>
          <a:lstStyle/>
          <a:p>
            <a:pPr>
              <a:defRPr sz="900">
                <a:solidFill>
                  <a:srgbClr val="6E7382"/>
                </a:solidFill>
                <a:latin typeface="Segoe UI"/>
              </a:defRPr>
            </a:pPr>
            <a:r>
              <a:t>ClubOps AI  •  Bit N Build 2026 Hackathon  •  Slide 10 of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IMPACT &amp; FUTURE SCOPE</a:t>
            </a:r>
          </a:p>
        </p:txBody>
      </p:sp>
      <p:sp>
        <p:nvSpPr>
          <p:cNvPr id="4" name="TextBox 3"/>
          <p:cNvSpPr txBox="1"/>
          <p:nvPr/>
        </p:nvSpPr>
        <p:spPr>
          <a:xfrm>
            <a:off x="731520" y="621792"/>
            <a:ext cx="10698480" cy="594360"/>
          </a:xfrm>
          <a:prstGeom prst="rect">
            <a:avLst/>
          </a:prstGeom>
          <a:noFill/>
        </p:spPr>
        <p:txBody>
          <a:bodyPr wrap="none" lIns="0" tIns="0" rIns="0" bIns="0">
            <a:spAutoFit/>
          </a:bodyPr>
          <a:lstStyle/>
          <a:p>
            <a:pPr>
              <a:defRPr sz="2100" b="1">
                <a:solidFill>
                  <a:srgbClr val="FFFFFF"/>
                </a:solidFill>
                <a:latin typeface="Segoe UI"/>
              </a:defRPr>
            </a:pPr>
            <a:r>
              <a:t>Real-World Value Proposition &amp; Strategic Roadmap</a:t>
            </a:r>
          </a:p>
        </p:txBody>
      </p:sp>
      <p:sp>
        <p:nvSpPr>
          <p:cNvPr id="5" name="TextBox 4"/>
          <p:cNvSpPr txBox="1"/>
          <p:nvPr/>
        </p:nvSpPr>
        <p:spPr>
          <a:xfrm>
            <a:off x="731520" y="1188720"/>
            <a:ext cx="10698480" cy="320040"/>
          </a:xfrm>
          <a:prstGeom prst="rect">
            <a:avLst/>
          </a:prstGeom>
          <a:noFill/>
        </p:spPr>
        <p:txBody>
          <a:bodyPr wrap="none" lIns="0" tIns="0" rIns="0" bIns="0">
            <a:spAutoFit/>
          </a:bodyPr>
          <a:lstStyle/>
          <a:p>
            <a:pPr>
              <a:defRPr sz="1150">
                <a:solidFill>
                  <a:srgbClr val="9CA3AF"/>
                </a:solidFill>
                <a:latin typeface="Segoe UI"/>
              </a:defRPr>
            </a:pPr>
            <a:r>
              <a:t>Demonstrated outcomes for student clubs and future scaling milestones.</a:t>
            </a:r>
          </a:p>
        </p:txBody>
      </p:sp>
      <p:sp>
        <p:nvSpPr>
          <p:cNvPr id="6" name="Rectangle 5"/>
          <p:cNvSpPr/>
          <p:nvPr/>
        </p:nvSpPr>
        <p:spPr>
          <a:xfrm>
            <a:off x="731520" y="1691640"/>
            <a:ext cx="5212080"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4754880" cy="4114800"/>
          </a:xfrm>
          <a:prstGeom prst="rect">
            <a:avLst/>
          </a:prstGeom>
          <a:noFill/>
        </p:spPr>
        <p:txBody>
          <a:bodyPr wrap="none" lIns="0" tIns="0" rIns="0" bIns="0">
            <a:spAutoFit/>
          </a:bodyPr>
          <a:lstStyle/>
          <a:p>
            <a:pPr>
              <a:defRPr sz="1000" b="1">
                <a:solidFill>
                  <a:srgbClr val="FF2D55"/>
                </a:solidFill>
                <a:latin typeface="Segoe UI"/>
              </a:defRPr>
            </a:pPr>
            <a:r>
              <a:t>DEMONSTRATED IMPACT &amp; VALUE</a:t>
            </a:r>
          </a:p>
          <a:p>
            <a:pPr>
              <a:spcBef>
                <a:spcPts val="1200"/>
              </a:spcBef>
            </a:pPr>
            <a:r>
              <a:rPr b="1" sz="1100">
                <a:solidFill>
                  <a:srgbClr val="10B981"/>
                </a:solidFill>
              </a:rPr>
              <a:t>🌟 15+ Hours Saved Weekly
</a:t>
            </a:r>
            <a:r>
              <a:rPr sz="1000">
                <a:solidFill>
                  <a:srgbClr val="9CA3AF"/>
                </a:solidFill>
              </a:rPr>
              <a:t>Eliminates manual transcript note synthesis and chaotic task delegation for club executives.</a:t>
            </a:r>
          </a:p>
          <a:p>
            <a:pPr>
              <a:spcBef>
                <a:spcPts val="1200"/>
              </a:spcBef>
            </a:pPr>
            <a:r>
              <a:rPr b="1" sz="1100">
                <a:solidFill>
                  <a:srgbClr val="10B981"/>
                </a:solidFill>
              </a:rPr>
              <a:t>🌟 Zero Task Slippage
</a:t>
            </a:r>
            <a:r>
              <a:rPr sz="1000">
                <a:solidFill>
                  <a:srgbClr val="9CA3AF"/>
                </a:solidFill>
              </a:rPr>
              <a:t>Automated priority tagging and volunteer workload balancing guarantees every critical item has an active owner.</a:t>
            </a:r>
          </a:p>
          <a:p>
            <a:pPr>
              <a:spcBef>
                <a:spcPts val="1200"/>
              </a:spcBef>
            </a:pPr>
            <a:r>
              <a:rPr b="1" sz="1100">
                <a:solidFill>
                  <a:srgbClr val="10B981"/>
                </a:solidFill>
              </a:rPr>
              <a:t>🌟 Institutional Memory
</a:t>
            </a:r>
            <a:r>
              <a:rPr sz="1000">
                <a:solidFill>
                  <a:srgbClr val="9CA3AF"/>
                </a:solidFill>
              </a:rPr>
              <a:t>Grounded RAG preserves venue rules, sponsorship guidelines, and past event learnings across graduating batches.</a:t>
            </a:r>
          </a:p>
          <a:p>
            <a:pPr>
              <a:spcBef>
                <a:spcPts val="1200"/>
              </a:spcBef>
            </a:pPr>
            <a:r>
              <a:rPr b="1" sz="1100">
                <a:solidFill>
                  <a:srgbClr val="10B981"/>
                </a:solidFill>
              </a:rPr>
              <a:t>🌟 Campus &amp; Industry Ready
</a:t>
            </a:r>
            <a:r>
              <a:rPr sz="1000">
                <a:solidFill>
                  <a:srgbClr val="9CA3AF"/>
                </a:solidFill>
              </a:rPr>
              <a:t>Engineered to scale effortlessly for college clubs, 36-hour hackathons, and multi-day tech symposiums.</a:t>
            </a:r>
          </a:p>
        </p:txBody>
      </p:sp>
      <p:sp>
        <p:nvSpPr>
          <p:cNvPr id="8" name="Rectangle 7"/>
          <p:cNvSpPr/>
          <p:nvPr/>
        </p:nvSpPr>
        <p:spPr>
          <a:xfrm>
            <a:off x="6217920" y="1691640"/>
            <a:ext cx="5239512"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874519"/>
            <a:ext cx="4690872" cy="4114800"/>
          </a:xfrm>
          <a:prstGeom prst="rect">
            <a:avLst/>
          </a:prstGeom>
          <a:noFill/>
        </p:spPr>
        <p:txBody>
          <a:bodyPr wrap="none" lIns="0" tIns="0" rIns="0" bIns="0">
            <a:spAutoFit/>
          </a:bodyPr>
          <a:lstStyle/>
          <a:p>
            <a:pPr>
              <a:defRPr sz="1000" b="1">
                <a:solidFill>
                  <a:srgbClr val="FF2D55"/>
                </a:solidFill>
                <a:latin typeface="Segoe UI"/>
              </a:defRPr>
            </a:pPr>
            <a:r>
              <a:t>STRATEGIC ROADMAP &amp; FUTURE SCOPE</a:t>
            </a:r>
          </a:p>
          <a:p>
            <a:pPr>
              <a:spcBef>
                <a:spcPts val="1200"/>
              </a:spcBef>
            </a:pPr>
            <a:r>
              <a:rPr b="1" sz="1100">
                <a:solidFill>
                  <a:srgbClr val="06B6D4"/>
                </a:solidFill>
              </a:rPr>
              <a:t>🚀 Live Audio Transcription
</a:t>
            </a:r>
            <a:r>
              <a:rPr sz="1000">
                <a:solidFill>
                  <a:srgbClr val="9CA3AF"/>
                </a:solidFill>
              </a:rPr>
              <a:t>Real-time speech-to-text integration (Whisper AI) for direct in-meeting audio streaming and task extraction.</a:t>
            </a:r>
          </a:p>
          <a:p>
            <a:pPr>
              <a:spcBef>
                <a:spcPts val="1200"/>
              </a:spcBef>
            </a:pPr>
            <a:r>
              <a:rPr b="1" sz="1100">
                <a:solidFill>
                  <a:srgbClr val="06B6D4"/>
                </a:solidFill>
              </a:rPr>
              <a:t>🚀 WhatsApp &amp; Slack Bots
</a:t>
            </a:r>
            <a:r>
              <a:rPr sz="1000">
                <a:solidFill>
                  <a:srgbClr val="9CA3AF"/>
                </a:solidFill>
              </a:rPr>
              <a:t>Two-way messaging bots allowing volunteers to check task deadlines and confirm completion via messaging apps.</a:t>
            </a:r>
          </a:p>
          <a:p>
            <a:pPr>
              <a:spcBef>
                <a:spcPts val="1200"/>
              </a:spcBef>
            </a:pPr>
            <a:r>
              <a:rPr b="1" sz="1100">
                <a:solidFill>
                  <a:srgbClr val="06B6D4"/>
                </a:solidFill>
              </a:rPr>
              <a:t>🚀 Mobile Companion App
</a:t>
            </a:r>
            <a:r>
              <a:rPr sz="1000">
                <a:solidFill>
                  <a:srgbClr val="9CA3AF"/>
                </a:solidFill>
              </a:rPr>
              <a:t>React Native companion app for organizers and volunteers to receive push notifications and QR check-in.</a:t>
            </a:r>
          </a:p>
          <a:p>
            <a:pPr>
              <a:spcBef>
                <a:spcPts val="1200"/>
              </a:spcBef>
            </a:pPr>
            <a:r>
              <a:rPr b="1" sz="1100">
                <a:solidFill>
                  <a:srgbClr val="06B6D4"/>
                </a:solidFill>
              </a:rPr>
              <a:t>🚀 OCR Receipt &amp; Budget Auditing
</a:t>
            </a:r>
            <a:r>
              <a:rPr sz="1000">
                <a:solidFill>
                  <a:srgbClr val="9CA3AF"/>
                </a:solidFill>
              </a:rPr>
              <a:t>Automated expense receipt scanning and budget threshold violation alerts.</a:t>
            </a:r>
          </a:p>
        </p:txBody>
      </p:sp>
      <p:sp>
        <p:nvSpPr>
          <p:cNvPr id="10" name="TextBox 9"/>
          <p:cNvSpPr txBox="1"/>
          <p:nvPr/>
        </p:nvSpPr>
        <p:spPr>
          <a:xfrm>
            <a:off x="731520" y="6473952"/>
            <a:ext cx="10698480" cy="274320"/>
          </a:xfrm>
          <a:prstGeom prst="rect">
            <a:avLst/>
          </a:prstGeom>
          <a:noFill/>
        </p:spPr>
        <p:txBody>
          <a:bodyPr wrap="none" lIns="0" tIns="0" rIns="0" bIns="0">
            <a:spAutoFit/>
          </a:bodyPr>
          <a:lstStyle/>
          <a:p>
            <a:pPr>
              <a:defRPr sz="900">
                <a:solidFill>
                  <a:srgbClr val="6E7382"/>
                </a:solidFill>
                <a:latin typeface="Segoe UI"/>
              </a:defRPr>
            </a:pPr>
            <a:r>
              <a:t>ClubOps AI  •  Bit N Build 2026 Hackathon  •  Slide 11 of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SUBMISSION &amp; VERIFICATION</a:t>
            </a:r>
          </a:p>
        </p:txBody>
      </p:sp>
      <p:sp>
        <p:nvSpPr>
          <p:cNvPr id="4" name="TextBox 3"/>
          <p:cNvSpPr txBox="1"/>
          <p:nvPr/>
        </p:nvSpPr>
        <p:spPr>
          <a:xfrm>
            <a:off x="731520" y="621792"/>
            <a:ext cx="10698480" cy="594360"/>
          </a:xfrm>
          <a:prstGeom prst="rect">
            <a:avLst/>
          </a:prstGeom>
          <a:noFill/>
        </p:spPr>
        <p:txBody>
          <a:bodyPr wrap="none" lIns="0" tIns="0" rIns="0" bIns="0">
            <a:spAutoFit/>
          </a:bodyPr>
          <a:lstStyle/>
          <a:p>
            <a:pPr>
              <a:defRPr sz="2100" b="1">
                <a:solidFill>
                  <a:srgbClr val="FFFFFF"/>
                </a:solidFill>
                <a:latin typeface="Segoe UI"/>
              </a:defRPr>
            </a:pPr>
            <a:r>
              <a:t>Project Links &amp; Live Verification</a:t>
            </a:r>
          </a:p>
        </p:txBody>
      </p:sp>
      <p:sp>
        <p:nvSpPr>
          <p:cNvPr id="5" name="TextBox 4"/>
          <p:cNvSpPr txBox="1"/>
          <p:nvPr/>
        </p:nvSpPr>
        <p:spPr>
          <a:xfrm>
            <a:off x="731520" y="1188720"/>
            <a:ext cx="10698480" cy="320040"/>
          </a:xfrm>
          <a:prstGeom prst="rect">
            <a:avLst/>
          </a:prstGeom>
          <a:noFill/>
        </p:spPr>
        <p:txBody>
          <a:bodyPr wrap="none" lIns="0" tIns="0" rIns="0" bIns="0">
            <a:spAutoFit/>
          </a:bodyPr>
          <a:lstStyle/>
          <a:p>
            <a:pPr>
              <a:defRPr sz="1150">
                <a:solidFill>
                  <a:srgbClr val="9CA3AF"/>
                </a:solidFill>
                <a:latin typeface="Segoe UI"/>
              </a:defRPr>
            </a:pPr>
            <a:r>
              <a:t>Open-source repository, documentation, test credentials, and automated demo suite.</a:t>
            </a:r>
          </a:p>
        </p:txBody>
      </p:sp>
      <p:sp>
        <p:nvSpPr>
          <p:cNvPr id="6" name="Rectangle 5"/>
          <p:cNvSpPr/>
          <p:nvPr/>
        </p:nvSpPr>
        <p:spPr>
          <a:xfrm>
            <a:off x="731520" y="1691640"/>
            <a:ext cx="10725912" cy="44805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74519"/>
            <a:ext cx="10177272" cy="4114800"/>
          </a:xfrm>
          <a:prstGeom prst="rect">
            <a:avLst/>
          </a:prstGeom>
          <a:noFill/>
        </p:spPr>
        <p:txBody>
          <a:bodyPr wrap="none" lIns="0" tIns="0" rIns="0" bIns="0">
            <a:spAutoFit/>
          </a:bodyPr>
          <a:lstStyle/>
          <a:p>
            <a:pPr>
              <a:defRPr sz="1000" b="1">
                <a:solidFill>
                  <a:srgbClr val="FF2D55"/>
                </a:solidFill>
                <a:latin typeface="Segoe UI"/>
              </a:defRPr>
            </a:pPr>
            <a:r>
              <a:t>OFFICIAL SUBMISSION &amp; VERIFICATION DETAILS</a:t>
            </a:r>
          </a:p>
          <a:p>
            <a:pPr>
              <a:spcBef>
                <a:spcPts val="1400"/>
              </a:spcBef>
            </a:pPr>
            <a:r>
              <a:rPr b="1" sz="1200">
                <a:solidFill>
                  <a:srgbClr val="06B6D4"/>
                </a:solidFill>
              </a:rPr>
              <a:t>🔗 GitHub Repository: </a:t>
            </a:r>
            <a:r>
              <a:rPr sz="1150">
                <a:solidFill>
                  <a:srgbClr val="FFFFFF"/>
                </a:solidFill>
              </a:rPr>
              <a:t>https://github.com/Kpanchal1210/ClubOps-AI (README.md with full architecture &amp; API specs)</a:t>
            </a:r>
          </a:p>
          <a:p>
            <a:pPr>
              <a:spcBef>
                <a:spcPts val="1400"/>
              </a:spcBef>
            </a:pPr>
            <a:r>
              <a:rPr b="1" sz="1200">
                <a:solidFill>
                  <a:srgbClr val="06B6D4"/>
                </a:solidFill>
              </a:rPr>
              <a:t>🔗 Repository Branch: </a:t>
            </a:r>
            <a:r>
              <a:rPr sz="1150">
                <a:solidFill>
                  <a:srgbClr val="FFFFFF"/>
                </a:solidFill>
              </a:rPr>
              <a:t>main (Fully synchronized with zero conflicts, clean working tree)</a:t>
            </a:r>
          </a:p>
          <a:p>
            <a:pPr>
              <a:spcBef>
                <a:spcPts val="1400"/>
              </a:spcBef>
            </a:pPr>
            <a:r>
              <a:rPr b="1" sz="1200">
                <a:solidFill>
                  <a:srgbClr val="06B6D4"/>
                </a:solidFill>
              </a:rPr>
              <a:t>🔗 Admin Demo Credentials: </a:t>
            </a:r>
            <a:r>
              <a:rPr sz="1150">
                <a:solidFill>
                  <a:srgbClr val="FFFFFF"/>
                </a:solidFill>
              </a:rPr>
              <a:t>Email: organizer@clubops.org | Password: password123 (Club Admin Role)</a:t>
            </a:r>
          </a:p>
          <a:p>
            <a:pPr>
              <a:spcBef>
                <a:spcPts val="1400"/>
              </a:spcBef>
            </a:pPr>
            <a:r>
              <a:rPr b="1" sz="1200">
                <a:solidFill>
                  <a:srgbClr val="06B6D4"/>
                </a:solidFill>
              </a:rPr>
              <a:t>🔗 Local Verification URLs: </a:t>
            </a:r>
            <a:r>
              <a:rPr sz="1150">
                <a:solidFill>
                  <a:srgbClr val="FFFFFF"/>
                </a:solidFill>
              </a:rPr>
              <a:t>Backend API: http://localhost:5002 | Frontend UI: http://localhost:5173</a:t>
            </a:r>
          </a:p>
          <a:p>
            <a:pPr>
              <a:spcBef>
                <a:spcPts val="1400"/>
              </a:spcBef>
            </a:pPr>
            <a:r>
              <a:rPr b="1" sz="1200">
                <a:solidFill>
                  <a:srgbClr val="06B6D4"/>
                </a:solidFill>
              </a:rPr>
              <a:t>🔗 Automated End-to-End Test: </a:t>
            </a:r>
            <a:r>
              <a:rPr sz="1150">
                <a:solidFill>
                  <a:srgbClr val="FFFFFF"/>
                </a:solidFill>
              </a:rPr>
              <a:t>Execute 'npm run demo' inside /backend for instant full-flow verification</a:t>
            </a:r>
          </a:p>
          <a:p>
            <a:pPr>
              <a:spcBef>
                <a:spcPts val="1400"/>
              </a:spcBef>
            </a:pPr>
            <a:r>
              <a:rPr b="1" sz="1200">
                <a:solidFill>
                  <a:srgbClr val="06B6D4"/>
                </a:solidFill>
              </a:rPr>
              <a:t>🔗 Presentation Assets: </a:t>
            </a:r>
            <a:r>
              <a:rPr sz="1150">
                <a:solidFill>
                  <a:srgbClr val="FFFFFF"/>
                </a:solidFill>
              </a:rPr>
              <a:t>PowerPoint deck: ClubOps-AI_BIT_N_BUILD_26.pptx | Web deck: presentation.html</a:t>
            </a:r>
          </a:p>
        </p:txBody>
      </p:sp>
      <p:sp>
        <p:nvSpPr>
          <p:cNvPr id="8" name="TextBox 7"/>
          <p:cNvSpPr txBox="1"/>
          <p:nvPr/>
        </p:nvSpPr>
        <p:spPr>
          <a:xfrm>
            <a:off x="731520" y="6473952"/>
            <a:ext cx="10698480" cy="274320"/>
          </a:xfrm>
          <a:prstGeom prst="rect">
            <a:avLst/>
          </a:prstGeom>
          <a:noFill/>
        </p:spPr>
        <p:txBody>
          <a:bodyPr wrap="none" lIns="0" tIns="0" rIns="0" bIns="0">
            <a:spAutoFit/>
          </a:bodyPr>
          <a:lstStyle/>
          <a:p>
            <a:pPr>
              <a:defRPr sz="900">
                <a:solidFill>
                  <a:srgbClr val="6E7382"/>
                </a:solidFill>
                <a:latin typeface="Segoe UI"/>
              </a:defRPr>
            </a:pPr>
            <a:r>
              <a:t>ClubOps AI  •  Bit N Build 2026 Hackathon  •  Slide 12 of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