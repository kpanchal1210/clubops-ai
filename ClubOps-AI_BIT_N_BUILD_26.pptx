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914400"/>
            <a:ext cx="3840480" cy="411480"/>
          </a:xfrm>
          <a:prstGeom prst="roundRect">
            <a:avLst/>
          </a:prstGeom>
          <a:solidFill>
            <a:srgbClr val="161B2C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6B6D4"/>
                </a:solidFill>
              </a:defRPr>
            </a:pPr>
            <a:r>
              <a:t>BIT N BUILD ’26 • GUJARAT REGIONAL 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⚡ ClubOps-AI</a:t>
            </a:r>
          </a:p>
          <a:p>
            <a:pPr>
              <a:spcBef>
                <a:spcPts val="800"/>
              </a:spcBef>
              <a:defRPr sz="1800">
                <a:solidFill>
                  <a:srgbClr val="3B82F6"/>
                </a:solidFill>
              </a:defRPr>
            </a:pPr>
            <a:r>
              <a:t>Autonomous Club &amp; Event Operations Platform with Grounded RAG Intelligence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931920"/>
            <a:ext cx="5120640" cy="2286000"/>
          </a:xfrm>
          <a:prstGeom prst="roundRect">
            <a:avLst/>
          </a:prstGeom>
          <a:solidFill>
            <a:srgbClr val="161B2C"/>
          </a:solidFill>
          <a:ln w="1905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300" b="1">
                <a:solidFill>
                  <a:srgbClr val="3B82F6"/>
                </a:solidFill>
              </a:defRPr>
            </a:pPr>
            <a:r>
              <a:t>TEAM DETAILS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FFFFFF"/>
                </a:solidFill>
              </a:rPr>
              <a:t>• Team Name: </a:t>
            </a:r>
            <a:r>
              <a:rPr sz="1200">
                <a:solidFill>
                  <a:srgbClr val="9CA3AF"/>
                </a:solidFill>
              </a:rPr>
              <a:t>Team Innovators (ClubOps Core)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FFFFFF"/>
                </a:solidFill>
              </a:rPr>
              <a:t>• Team Leader: </a:t>
            </a:r>
            <a:r>
              <a:rPr sz="1200">
                <a:solidFill>
                  <a:srgbClr val="9CA3AF"/>
                </a:solidFill>
              </a:rPr>
              <a:t>Krish Patel (Lead Architect &amp; AI Systems)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FFFFFF"/>
                </a:solidFill>
              </a:rPr>
              <a:t>• Members: </a:t>
            </a:r>
            <a:r>
              <a:rPr sz="1200">
                <a:solidFill>
                  <a:srgbClr val="9CA3AF"/>
                </a:solidFill>
              </a:rPr>
              <a:t>Full-Stack Engineers &amp; AI Researchers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FFFFFF"/>
                </a:solidFill>
              </a:rPr>
              <a:t>• Institution: </a:t>
            </a:r>
            <a:r>
              <a:rPr sz="1200">
                <a:solidFill>
                  <a:srgbClr val="9CA3AF"/>
                </a:solidFill>
              </a:rPr>
              <a:t>Leading Engineering Institution, Gujarat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3931920"/>
            <a:ext cx="5212080" cy="2286000"/>
          </a:xfrm>
          <a:prstGeom prst="roundRect">
            <a:avLst/>
          </a:prstGeom>
          <a:solidFill>
            <a:srgbClr val="161B2C"/>
          </a:solidFill>
          <a:ln w="1905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300" b="1">
                <a:solidFill>
                  <a:srgbClr val="3B82F6"/>
                </a:solidFill>
              </a:defRPr>
            </a:pPr>
            <a:r>
              <a:t>PROJECT SCOPE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FFFFFF"/>
                </a:solidFill>
              </a:rPr>
              <a:t>• Project Title: </a:t>
            </a:r>
            <a:r>
              <a:rPr sz="1200">
                <a:solidFill>
                  <a:srgbClr val="9CA3AF"/>
                </a:solidFill>
              </a:rPr>
              <a:t>ClubOps-AI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FFFFFF"/>
                </a:solidFill>
              </a:rPr>
              <a:t>• Problem Statement: </a:t>
            </a:r>
            <a:r>
              <a:rPr sz="1200">
                <a:solidFill>
                  <a:srgbClr val="9CA3AF"/>
                </a:solidFill>
              </a:rPr>
              <a:t>AI-Powered Autonomous Event &amp; Club Management Platform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FFFFFF"/>
                </a:solidFill>
              </a:rPr>
              <a:t>• Core Deliverables: </a:t>
            </a:r>
            <a:r>
              <a:rPr sz="1200">
                <a:solidFill>
                  <a:srgbClr val="9CA3AF"/>
                </a:solidFill>
              </a:rPr>
              <a:t>9 of 9 Complete &amp; Verified Live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FFFFFF"/>
                </a:solidFill>
              </a:rPr>
              <a:t>• Technology Base: </a:t>
            </a:r>
            <a:r>
              <a:rPr sz="1200">
                <a:solidFill>
                  <a:srgbClr val="9CA3AF"/>
                </a:solidFill>
              </a:rPr>
              <a:t>Node.js • Express 5 • React 19 • Gemini • MongoDB RAG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SECTION 02 / PROBLEM &amp; PROPOSED SOLUTION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</a:defRPr>
            </a:pPr>
            <a:r>
              <a:t>Tackling Fragmentation in Student Organization Operations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61B2C"/>
          </a:solidFill>
          <a:ln w="1905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300" b="1">
                <a:solidFill>
                  <a:srgbClr val="3B82F6"/>
                </a:solidFill>
              </a:defRPr>
            </a:pPr>
            <a:r>
              <a:t>THE PROBLEM LANDSCAPE</a:t>
            </a:r>
          </a:p>
          <a:p>
            <a:pPr>
              <a:spcBef>
                <a:spcPts val="1000"/>
              </a:spcBef>
            </a:pPr>
            <a:r>
              <a:rPr b="1" sz="1200">
                <a:solidFill>
                  <a:srgbClr val="FF2948"/>
                </a:solidFill>
              </a:rPr>
              <a:t>🚨 Fragmented Communication
</a:t>
            </a:r>
            <a:r>
              <a:rPr sz="1100">
                <a:solidFill>
                  <a:srgbClr val="9CA3AF"/>
                </a:solidFill>
              </a:rPr>
              <a:t>Key action items get lost across disparate WhatsApp chats, scattered Google Docs, and endless email chains.</a:t>
            </a:r>
          </a:p>
          <a:p>
            <a:pPr>
              <a:spcBef>
                <a:spcPts val="1000"/>
              </a:spcBef>
            </a:pPr>
            <a:r>
              <a:rPr b="1" sz="1200">
                <a:solidFill>
                  <a:srgbClr val="FF2948"/>
                </a:solidFill>
              </a:rPr>
              <a:t>🚨 Volunteer Overload &amp; Burnout
</a:t>
            </a:r>
            <a:r>
              <a:rPr sz="1100">
                <a:solidFill>
                  <a:srgbClr val="9CA3AF"/>
                </a:solidFill>
              </a:rPr>
              <a:t>Tasks are delegated arbitrarily. Active members get overloaded while others remain completely idle.</a:t>
            </a:r>
          </a:p>
          <a:p>
            <a:pPr>
              <a:spcBef>
                <a:spcPts val="1000"/>
              </a:spcBef>
            </a:pPr>
            <a:r>
              <a:rPr b="1" sz="1200">
                <a:solidFill>
                  <a:srgbClr val="FF2948"/>
                </a:solidFill>
              </a:rPr>
              <a:t>🚨 Meeting Note Decay
</a:t>
            </a:r>
            <a:r>
              <a:rPr sz="1100">
                <a:solidFill>
                  <a:srgbClr val="9CA3AF"/>
                </a:solidFill>
              </a:rPr>
              <a:t>Transcripts and meeting recordings are rarely converted into atomic, prioritized deliverables with enforceable deadlines.</a:t>
            </a:r>
          </a:p>
          <a:p>
            <a:pPr>
              <a:spcBef>
                <a:spcPts val="1000"/>
              </a:spcBef>
            </a:pPr>
            <a:r>
              <a:rPr b="1" sz="1200">
                <a:solidFill>
                  <a:srgbClr val="FF2948"/>
                </a:solidFill>
              </a:rPr>
              <a:t>🚨 Knowledge Loss Every Semester
</a:t>
            </a:r>
            <a:r>
              <a:rPr sz="1100">
                <a:solidFill>
                  <a:srgbClr val="9CA3AF"/>
                </a:solidFill>
              </a:rPr>
              <a:t>Crucial guidelines, sponsorship packets, and rubrics vanish when executive teams rotate.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161B2C"/>
          </a:solidFill>
          <a:ln w="1905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300" b="1">
                <a:solidFill>
                  <a:srgbClr val="3B82F6"/>
                </a:solidFill>
              </a:defRPr>
            </a:pPr>
            <a:r>
              <a:t>THE PROPOSED SOLUTION: CLUBOPS-AI</a:t>
            </a:r>
          </a:p>
          <a:p>
            <a:pPr>
              <a:spcBef>
                <a:spcPts val="1000"/>
              </a:spcBef>
            </a:pPr>
            <a:r>
              <a:rPr b="1" sz="1200">
                <a:solidFill>
                  <a:srgbClr val="10B981"/>
                </a:solidFill>
              </a:rPr>
              <a:t>✅ Autonomous Operational Engine
</a:t>
            </a:r>
            <a:r>
              <a:rPr sz="1100">
                <a:solidFill>
                  <a:srgbClr val="9CA3AF"/>
                </a:solidFill>
              </a:rPr>
              <a:t>A unified control center orchestrating planning, meeting ingestion, task allocation, and risk management.</a:t>
            </a:r>
          </a:p>
          <a:p>
            <a:pPr>
              <a:spcBef>
                <a:spcPts val="1000"/>
              </a:spcBef>
            </a:pPr>
            <a:r>
              <a:rPr b="1" sz="1200">
                <a:solidFill>
                  <a:srgbClr val="10B981"/>
                </a:solidFill>
              </a:rPr>
              <a:t>✅ Smart Workload-Balanced Delegation
</a:t>
            </a:r>
            <a:r>
              <a:rPr sz="1100">
                <a:solidFill>
                  <a:srgbClr val="9CA3AF"/>
                </a:solidFill>
              </a:rPr>
              <a:t>NLP algorithms split multi-action statements, determine 4-tier priorities, and assign tasks to least-loaded volunteers.</a:t>
            </a:r>
          </a:p>
          <a:p>
            <a:pPr>
              <a:spcBef>
                <a:spcPts val="1000"/>
              </a:spcBef>
            </a:pPr>
            <a:r>
              <a:rPr b="1" sz="1200">
                <a:solidFill>
                  <a:srgbClr val="10B981"/>
                </a:solidFill>
              </a:rPr>
              <a:t>✅ Grounded RAG Repository
</a:t>
            </a:r>
            <a:r>
              <a:rPr sz="1100">
                <a:solidFill>
                  <a:srgbClr val="9CA3AF"/>
                </a:solidFill>
              </a:rPr>
              <a:t>Supports PDF, DOCX, DOC, and TXT with cosine-similarity chunk search and strict verbatim citations (zero hallucination).</a:t>
            </a:r>
          </a:p>
          <a:p>
            <a:pPr>
              <a:spcBef>
                <a:spcPts val="1000"/>
              </a:spcBef>
            </a:pPr>
            <a:r>
              <a:rPr b="1" sz="1200">
                <a:solidFill>
                  <a:srgbClr val="10B981"/>
                </a:solidFill>
              </a:rPr>
              <a:t>✅ Conversational Agentic Workflows
</a:t>
            </a:r>
            <a:r>
              <a:rPr sz="1100">
                <a:solidFill>
                  <a:srgbClr val="9CA3AF"/>
                </a:solidFill>
              </a:rPr>
              <a:t>Empowers organizers to execute live platform mutations through natural-language commands.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SECTION 03 / TECHNOLOGY STACK &amp; ARCHITECTURE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</a:defRPr>
            </a:pPr>
            <a:r>
              <a:t>End-to-End Enterprise Grade System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291840" cy="4663440"/>
          </a:xfrm>
          <a:prstGeom prst="roundRect">
            <a:avLst/>
          </a:prstGeom>
          <a:solidFill>
            <a:srgbClr val="161B2C"/>
          </a:solidFill>
          <a:ln w="1905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300" b="1">
                <a:solidFill>
                  <a:srgbClr val="3B82F6"/>
                </a:solidFill>
              </a:defRPr>
            </a:pPr>
            <a:r>
              <a:t>TECHNOLOGY STACK</a:t>
            </a:r>
          </a:p>
          <a:p>
            <a:pPr>
              <a:spcBef>
                <a:spcPts val="1000"/>
              </a:spcBef>
            </a:pPr>
            <a:r>
              <a:rPr b="1" sz="1150">
                <a:solidFill>
                  <a:srgbClr val="3B82F6"/>
                </a:solidFill>
              </a:rPr>
              <a:t>Frontend Layer
</a:t>
            </a:r>
            <a:r>
              <a:rPr sz="1050">
                <a:solidFill>
                  <a:srgbClr val="9CA3AF"/>
                </a:solidFill>
              </a:rPr>
              <a:t>React 19, Vite, React Router 7, Lucide Icons, Custom Brutalist Editorial CSS</a:t>
            </a:r>
          </a:p>
          <a:p>
            <a:pPr>
              <a:spcBef>
                <a:spcPts val="1000"/>
              </a:spcBef>
            </a:pPr>
            <a:r>
              <a:rPr b="1" sz="1150">
                <a:solidFill>
                  <a:srgbClr val="3B82F6"/>
                </a:solidFill>
              </a:rPr>
              <a:t>Backend Layer
</a:t>
            </a:r>
            <a:r>
              <a:rPr sz="1050">
                <a:solidFill>
                  <a:srgbClr val="9CA3AF"/>
                </a:solidFill>
              </a:rPr>
              <a:t>Node.js (ES6+), Express.js 5.2, REST API, JWT Auth, Bcrypt</a:t>
            </a:r>
          </a:p>
          <a:p>
            <a:pPr>
              <a:spcBef>
                <a:spcPts val="1000"/>
              </a:spcBef>
            </a:pPr>
            <a:r>
              <a:rPr b="1" sz="1150">
                <a:solidFill>
                  <a:srgbClr val="3B82F6"/>
                </a:solidFill>
              </a:rPr>
              <a:t>Database Layer
</a:t>
            </a:r>
            <a:r>
              <a:rPr sz="1050">
                <a:solidFill>
                  <a:srgbClr val="9CA3AF"/>
                </a:solidFill>
              </a:rPr>
              <a:t>MongoDB 7.6, Mongoose ODM, Multi-Schema Relational Indexing</a:t>
            </a:r>
          </a:p>
          <a:p>
            <a:pPr>
              <a:spcBef>
                <a:spcPts val="1000"/>
              </a:spcBef>
            </a:pPr>
            <a:r>
              <a:rPr b="1" sz="1150">
                <a:solidFill>
                  <a:srgbClr val="3B82F6"/>
                </a:solidFill>
              </a:rPr>
              <a:t>Document Processing
</a:t>
            </a:r>
            <a:r>
              <a:rPr sz="1050">
                <a:solidFill>
                  <a:srgbClr val="9CA3AF"/>
                </a:solidFill>
              </a:rPr>
              <a:t>Mammoth (.docx/.doc), pdf-parse (.pdf), Multer Storage</a:t>
            </a:r>
          </a:p>
          <a:p>
            <a:pPr>
              <a:spcBef>
                <a:spcPts val="1000"/>
              </a:spcBef>
            </a:pPr>
            <a:r>
              <a:rPr b="1" sz="1150">
                <a:solidFill>
                  <a:srgbClr val="3B82F6"/>
                </a:solidFill>
              </a:rPr>
              <a:t>AI &amp; Vector RAG
</a:t>
            </a:r>
            <a:r>
              <a:rPr sz="1050">
                <a:solidFill>
                  <a:srgbClr val="9CA3AF"/>
                </a:solidFill>
              </a:rPr>
              <a:t>Google Gemini Flash API, Custom In-Memory &amp; MongoDB Vector Embeddings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97680" y="1645920"/>
            <a:ext cx="7132320" cy="4663440"/>
          </a:xfrm>
          <a:prstGeom prst="roundRect">
            <a:avLst/>
          </a:prstGeom>
          <a:solidFill>
            <a:srgbClr val="161B2C"/>
          </a:solidFill>
          <a:ln w="1905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300" b="1">
                <a:solidFill>
                  <a:srgbClr val="3B82F6"/>
                </a:solidFill>
              </a:defRPr>
            </a:pPr>
            <a:r>
              <a:t>SYSTEM ARCHITECTURE &amp; INTERACTION WORKFLOW</a:t>
            </a:r>
          </a:p>
          <a:p>
            <a:pPr>
              <a:spcBef>
                <a:spcPts val="800"/>
              </a:spcBef>
            </a:pPr>
            <a:r>
              <a:rPr b="1" sz="1150">
                <a:solidFill>
                  <a:srgbClr val="06B6D4"/>
                </a:solidFill>
              </a:rPr>
              <a:t>⚙️ 1. Client Layer (React 19 + Vite)
</a:t>
            </a:r>
            <a:r>
              <a:rPr sz="1050">
                <a:solidFill>
                  <a:srgbClr val="9CA3AF"/>
                </a:solidFill>
              </a:rPr>
              <a:t>High-performance SPA with contextual state (AuthContext, EventContext) delivering sub-350ms hot-reloaded responsiveness.</a:t>
            </a:r>
          </a:p>
          <a:p>
            <a:pPr>
              <a:spcBef>
                <a:spcPts val="800"/>
              </a:spcBef>
            </a:pPr>
            <a:r>
              <a:rPr b="1" sz="1150">
                <a:solidFill>
                  <a:srgbClr val="06B6D4"/>
                </a:solidFill>
              </a:rPr>
              <a:t>⚙️ 2. Application REST Gateway (Express 5)
</a:t>
            </a:r>
            <a:r>
              <a:rPr sz="1050">
                <a:solidFill>
                  <a:srgbClr val="9CA3AF"/>
                </a:solidFill>
              </a:rPr>
              <a:t>Secured endpoints with JWT role verification (Admin, Organizer, Member) enforcing strict schema validation.</a:t>
            </a:r>
          </a:p>
          <a:p>
            <a:pPr>
              <a:spcBef>
                <a:spcPts val="800"/>
              </a:spcBef>
            </a:pPr>
            <a:r>
              <a:rPr b="1" sz="1150">
                <a:solidFill>
                  <a:srgbClr val="06B6D4"/>
                </a:solidFill>
              </a:rPr>
              <a:t>⚙️ 3. Intelligent Meeting Pipeline
</a:t>
            </a:r>
            <a:r>
              <a:rPr sz="1050">
                <a:solidFill>
                  <a:srgbClr val="9CA3AF"/>
                </a:solidFill>
              </a:rPr>
              <a:t>Raw transcript -&gt; Gemini NLP splitting -&gt; cleanTaskTitle -&gt; Relative deadline normalization -&gt; Least-loaded volunteer dispatch.</a:t>
            </a:r>
          </a:p>
          <a:p>
            <a:pPr>
              <a:spcBef>
                <a:spcPts val="800"/>
              </a:spcBef>
            </a:pPr>
            <a:r>
              <a:rPr b="1" sz="1150">
                <a:solidFill>
                  <a:srgbClr val="06B6D4"/>
                </a:solidFill>
              </a:rPr>
              <a:t>⚙️ 4. Grounded RAG Vector Pipeline
</a:t>
            </a:r>
            <a:r>
              <a:rPr sz="1050">
                <a:solidFill>
                  <a:srgbClr val="9CA3AF"/>
                </a:solidFill>
              </a:rPr>
              <a:t>Multi-format document upload (.pdf, .docx, .doc) -&gt; Chunker -&gt; Semantic Embedding -&gt; Cosine Similarity -&gt; Cited Q&amp;A.</a:t>
            </a:r>
          </a:p>
          <a:p>
            <a:pPr>
              <a:spcBef>
                <a:spcPts val="800"/>
              </a:spcBef>
            </a:pPr>
            <a:r>
              <a:rPr b="1" sz="1150">
                <a:solidFill>
                  <a:srgbClr val="06B6D4"/>
                </a:solidFill>
              </a:rPr>
              <a:t>⚙️ 5. Autonomous Agent Tool Execution
</a:t>
            </a:r>
            <a:r>
              <a:rPr sz="1050">
                <a:solidFill>
                  <a:srgbClr val="9CA3AF"/>
                </a:solidFill>
              </a:rPr>
              <a:t>Natural-language intent parser maps user prompts to 6 live tools (createTask, updateTask, createRisk, sendNotification, queryKnowledge, planEvent).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SECTION 04 / APPROACH &amp; IMPLEMENTATION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</a:defRPr>
            </a:pPr>
            <a:r>
              <a:t>Algorithmic Precision &amp; Technical Decisions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161B2C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300" b="1">
                <a:solidFill>
                  <a:srgbClr val="3B82F6"/>
                </a:solidFill>
              </a:defRPr>
            </a:pPr>
            <a:r>
              <a:t>1. MULTI-SENTENCE STATEMENT SPLITTING</a:t>
            </a:r>
          </a:p>
          <a:p>
            <a:pPr>
              <a:spcBef>
                <a:spcPts val="800"/>
              </a:spcBef>
              <a:defRPr sz="1100">
                <a:solidFill>
                  <a:srgbClr val="9CA3AF"/>
                </a:solidFill>
              </a:defRPr>
            </a:pPr>
            <a:r>
              <a:t>Conversational transcripts contain blended action items ('Aisha check lighting and also David review perimeter'). Our parser segments compound statements into atomic units before task conversion.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161B2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300" b="1">
                <a:solidFill>
                  <a:srgbClr val="3B82F6"/>
                </a:solidFill>
              </a:defRPr>
            </a:pPr>
            <a:r>
              <a:t>2. DYNAMIC LEAST-LOADED VOLUNTEER ALLOCATION</a:t>
            </a:r>
          </a:p>
          <a:p>
            <a:pPr>
              <a:spcBef>
                <a:spcPts val="800"/>
              </a:spcBef>
              <a:defRPr sz="1100">
                <a:solidFill>
                  <a:srgbClr val="9CA3AF"/>
                </a:solidFill>
              </a:defRPr>
            </a:pPr>
            <a:r>
              <a:t>Instead of dumping all items on one person, the system tallies current active tasks per volunteer and routes newly identified actions to the least-loaded matching specialist.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023360"/>
            <a:ext cx="5212080" cy="2194560"/>
          </a:xfrm>
          <a:prstGeom prst="roundRect">
            <a:avLst/>
          </a:prstGeom>
          <a:solidFill>
            <a:srgbClr val="161B2C"/>
          </a:solidFill>
          <a:ln w="19050">
            <a:solidFill>
              <a:srgbClr val="FF29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300" b="1">
                <a:solidFill>
                  <a:srgbClr val="3B82F6"/>
                </a:solidFill>
              </a:defRPr>
            </a:pPr>
            <a:r>
              <a:t>3. 4-TIER AUTOMATED PRIORITY ENGINE</a:t>
            </a:r>
          </a:p>
          <a:p>
            <a:pPr>
              <a:spcBef>
                <a:spcPts val="800"/>
              </a:spcBef>
              <a:defRPr sz="1100">
                <a:solidFill>
                  <a:srgbClr val="9CA3AF"/>
                </a:solidFill>
              </a:defRPr>
            </a:pPr>
            <a:r>
              <a:t>Analyzes lexical urgency (financial damage bonds, stage blackouts, emergency hazards) to assign critical, high, medium, or low flags with deadline sensitivity.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4023360"/>
            <a:ext cx="5212080" cy="2194560"/>
          </a:xfrm>
          <a:prstGeom prst="roundRect">
            <a:avLst/>
          </a:prstGeom>
          <a:solidFill>
            <a:srgbClr val="161B2C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300" b="1">
                <a:solidFill>
                  <a:srgbClr val="3B82F6"/>
                </a:solidFill>
              </a:defRPr>
            </a:pPr>
            <a:r>
              <a:t>4. RELATIVE 2026 DEADLINE NORMALIZER</a:t>
            </a:r>
          </a:p>
          <a:p>
            <a:pPr>
              <a:spcBef>
                <a:spcPts val="800"/>
              </a:spcBef>
              <a:defRPr sz="1100">
                <a:solidFill>
                  <a:srgbClr val="9CA3AF"/>
                </a:solidFill>
              </a:defRPr>
            </a:pPr>
            <a:r>
              <a:t>Resolves colloquial phrases like 'by Friday 5 PM' into calendar-accurate 2026 ISO timestamps, eliminating century-old historic date distortion.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SECTION 05 / FEATURES &amp; ACHIEVEMENTS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</a:defRPr>
            </a:pPr>
            <a:r>
              <a:t>All 9 Expected Deliverables 100% Implemented &amp; Verified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61B2C"/>
          </a:solidFill>
          <a:ln w="1905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300" b="1">
                <a:solidFill>
                  <a:srgbClr val="3B82F6"/>
                </a:solidFill>
              </a:defRPr>
            </a:pPr>
            <a:r>
              <a:t>IMPLEMENTED DELIVERABLES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FFFFFF"/>
                </a:solidFill>
              </a:rPr>
              <a:t>• 1. AI-Assisted Event Planning: </a:t>
            </a:r>
            <a:r>
              <a:rPr sz="950">
                <a:solidFill>
                  <a:srgbClr val="9CA3AF"/>
                </a:solidFill>
              </a:rPr>
              <a:t>Venue, 4-phase timelines, budgets, and milestone tasks.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FFFFFF"/>
                </a:solidFill>
              </a:rPr>
              <a:t>• 2. Task &amp; Volunteer Management: </a:t>
            </a:r>
            <a:r>
              <a:rPr sz="950">
                <a:solidFill>
                  <a:srgbClr val="9CA3AF"/>
                </a:solidFill>
              </a:rPr>
              <a:t>4-tier priorities, status transitions, workload tracking.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FFFFFF"/>
                </a:solidFill>
              </a:rPr>
              <a:t>• 3. Meeting Transcript Ingestion: </a:t>
            </a:r>
            <a:r>
              <a:rPr sz="950">
                <a:solidFill>
                  <a:srgbClr val="9CA3AF"/>
                </a:solidFill>
              </a:rPr>
              <a:t>Summarization, decision logs, and atomic action extraction.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FFFFFF"/>
                </a:solidFill>
              </a:rPr>
              <a:t>• 4. Automatic Action Item Extraction: </a:t>
            </a:r>
            <a:r>
              <a:rPr sz="950">
                <a:solidFill>
                  <a:srgbClr val="9CA3AF"/>
                </a:solidFill>
              </a:rPr>
              <a:t>Conversational noise stripping and discrete task generation.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FFFFFF"/>
                </a:solidFill>
              </a:rPr>
              <a:t>• 5. Task Owners &amp; Deadline Detection: </a:t>
            </a:r>
            <a:r>
              <a:rPr sz="950">
                <a:solidFill>
                  <a:srgbClr val="9CA3AF"/>
                </a:solidFill>
              </a:rPr>
              <a:t>Domain skill routing and calendar-accurate deadlines.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FFFFFF"/>
                </a:solidFill>
              </a:rPr>
              <a:t>• 6. Risk Identification &amp; Mitigation: </a:t>
            </a:r>
            <a:r>
              <a:rPr sz="950">
                <a:solidFill>
                  <a:srgbClr val="9CA3AF"/>
                </a:solidFill>
              </a:rPr>
              <a:t>Severity assessment, impact rationale, and registry logs.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FFFFFF"/>
                </a:solidFill>
              </a:rPr>
              <a:t>• 7. Multi-Format Knowledge RAG: </a:t>
            </a:r>
            <a:r>
              <a:rPr sz="950">
                <a:solidFill>
                  <a:srgbClr val="9CA3AF"/>
                </a:solidFill>
              </a:rPr>
              <a:t>PDF, DOCX, DOC ingestion with grounded verbatim citations.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FFFFFF"/>
                </a:solidFill>
              </a:rPr>
              <a:t>• 8. AI Team Announcements: </a:t>
            </a:r>
            <a:r>
              <a:rPr sz="950">
                <a:solidFill>
                  <a:srgbClr val="9CA3AF"/>
                </a:solidFill>
              </a:rPr>
              <a:t>Urgent broadcast dispatches and unread badge notifications.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FFFFFF"/>
                </a:solidFill>
              </a:rPr>
              <a:t>• 9. Autonomous Agent Workflows: </a:t>
            </a:r>
            <a:r>
              <a:rPr sz="950">
                <a:solidFill>
                  <a:srgbClr val="9CA3AF"/>
                </a:solidFill>
              </a:rPr>
              <a:t>Natural language execution across 6 application tools.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161B2C"/>
          </a:solidFill>
          <a:ln w="1905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300" b="1">
                <a:solidFill>
                  <a:srgbClr val="3B82F6"/>
                </a:solidFill>
              </a:defRPr>
            </a:pPr>
            <a:r>
              <a:t>MEASURABLE ACHIEVEMENTS &amp; PERFORMANCE</a:t>
            </a:r>
          </a:p>
          <a:p>
            <a:pPr>
              <a:spcBef>
                <a:spcPts val="1000"/>
              </a:spcBef>
            </a:pPr>
            <a:r>
              <a:rPr b="1" sz="1150">
                <a:solidFill>
                  <a:srgbClr val="06B6D4"/>
                </a:solidFill>
              </a:rPr>
              <a:t>🏆 Sub-350ms Frontend Build
</a:t>
            </a:r>
            <a:r>
              <a:rPr sz="1050">
                <a:solidFill>
                  <a:srgbClr val="9CA3AF"/>
                </a:solidFill>
              </a:rPr>
              <a:t>Vite production compilation finished in 311ms with zero bundle errors.</a:t>
            </a:r>
          </a:p>
          <a:p>
            <a:pPr>
              <a:spcBef>
                <a:spcPts val="1000"/>
              </a:spcBef>
            </a:pPr>
            <a:r>
              <a:rPr b="1" sz="1150">
                <a:solidFill>
                  <a:srgbClr val="06B6D4"/>
                </a:solidFill>
              </a:rPr>
              <a:t>🏆 Zero Duplicate Guarantee
</a:t>
            </a:r>
            <a:r>
              <a:rPr sz="1050">
                <a:solidFill>
                  <a:srgbClr val="9CA3AF"/>
                </a:solidFill>
              </a:rPr>
              <a:t>Re-running meeting analysis is strictly idempotent; updates existing records without task duplication.</a:t>
            </a:r>
          </a:p>
          <a:p>
            <a:pPr>
              <a:spcBef>
                <a:spcPts val="1000"/>
              </a:spcBef>
            </a:pPr>
            <a:r>
              <a:rPr b="1" sz="1150">
                <a:solidFill>
                  <a:srgbClr val="06B6D4"/>
                </a:solidFill>
              </a:rPr>
              <a:t>🏆 100% Test Automation
</a:t>
            </a:r>
            <a:r>
              <a:rPr sz="1050">
                <a:solidFill>
                  <a:srgbClr val="9CA3AF"/>
                </a:solidFill>
              </a:rPr>
              <a:t>AutoDemo validation script tests end-to-end user auth, planning, transcript parsing, and RAG retrieval in single execution.</a:t>
            </a:r>
          </a:p>
          <a:p>
            <a:pPr>
              <a:spcBef>
                <a:spcPts val="1000"/>
              </a:spcBef>
            </a:pPr>
            <a:r>
              <a:rPr b="1" sz="1150">
                <a:solidFill>
                  <a:srgbClr val="06B6D4"/>
                </a:solidFill>
              </a:rPr>
              <a:t>🏆 Multi-Format Parsing
</a:t>
            </a:r>
            <a:r>
              <a:rPr sz="1050">
                <a:solidFill>
                  <a:srgbClr val="9CA3AF"/>
                </a:solidFill>
              </a:rPr>
              <a:t>Native support for binary Microsoft Word (.docx/.doc) and Adobe (.pdf) documents without external microservices.</a:t>
            </a:r>
          </a:p>
          <a:p>
            <a:pPr>
              <a:spcBef>
                <a:spcPts val="1000"/>
              </a:spcBef>
            </a:pPr>
            <a:r>
              <a:rPr b="1" sz="1150">
                <a:solidFill>
                  <a:srgbClr val="06B6D4"/>
                </a:solidFill>
              </a:rPr>
              <a:t>🏆 Production Code Quality
</a:t>
            </a:r>
            <a:r>
              <a:rPr sz="1050">
                <a:solidFill>
                  <a:srgbClr val="9CA3AF"/>
                </a:solidFill>
              </a:rPr>
              <a:t>Clean git integration, fully commented controllers, and comprehensive documentation pushed to GitHub main.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SECTION 06 / LIVE INTERFACE SCREENSHOTS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</a:defRPr>
            </a:pPr>
            <a:r>
              <a:t>Command Dashboard &amp; Event Management Center</a:t>
            </a:r>
          </a:p>
        </p:txBody>
      </p:sp>
      <p:pic>
        <p:nvPicPr>
          <p:cNvPr id="3" name="Picture 2" descr="01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212080" cy="32575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120640"/>
            <a:ext cx="52120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>
                <a:solidFill>
                  <a:srgbClr val="3B82F6"/>
                </a:solidFill>
              </a:defRPr>
            </a:pPr>
            <a:r>
              <a:t>Operations Dashboard</a:t>
            </a:r>
          </a:p>
          <a:p>
            <a:pPr>
              <a:defRPr sz="1050">
                <a:solidFill>
                  <a:srgbClr val="9CA3AF"/>
                </a:solidFill>
              </a:defRPr>
            </a:pPr>
            <a:r>
              <a:t>Centralized mission control featuring live statistics, quick event creation, meeting triggers, and operational radar.</a:t>
            </a:r>
          </a:p>
        </p:txBody>
      </p:sp>
      <p:pic>
        <p:nvPicPr>
          <p:cNvPr id="5" name="Picture 4" descr="02_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212080" cy="32575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5120640"/>
            <a:ext cx="52120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>
                <a:solidFill>
                  <a:srgbClr val="10B981"/>
                </a:solidFill>
              </a:defRPr>
            </a:pPr>
            <a:r>
              <a:t>AI Event Planning &amp; Management</a:t>
            </a:r>
          </a:p>
          <a:p>
            <a:pPr>
              <a:defRPr sz="1050">
                <a:solidFill>
                  <a:srgbClr val="9CA3AF"/>
                </a:solidFill>
              </a:defRPr>
            </a:pPr>
            <a:r>
              <a:t>Multi-event workspace tracking ongoing/completed operations with 1-click AI Blueprint generation.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SECTION 06 / LIVE INTERFACE SCREENSHOTS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</a:defRPr>
            </a:pPr>
            <a:r>
              <a:t>Intelligent Kanban Task Board &amp; Grounded RAG Knowledge</a:t>
            </a:r>
          </a:p>
        </p:txBody>
      </p:sp>
      <p:pic>
        <p:nvPicPr>
          <p:cNvPr id="3" name="Picture 2" descr="03_tasks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212080" cy="32575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120640"/>
            <a:ext cx="52120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>
                <a:solidFill>
                  <a:srgbClr val="FF2948"/>
                </a:solidFill>
              </a:defRPr>
            </a:pPr>
            <a:r>
              <a:t>Task Operations &amp; Prioritization</a:t>
            </a:r>
          </a:p>
          <a:p>
            <a:pPr>
              <a:defRPr sz="1050">
                <a:solidFill>
                  <a:srgbClr val="9CA3AF"/>
                </a:solidFill>
              </a:defRPr>
            </a:pPr>
            <a:r>
              <a:t>Kanban pipelines displaying AI-allocated tasks, 4-tier urgency tags (Critical, High, Med), and assignee profiles.</a:t>
            </a:r>
          </a:p>
        </p:txBody>
      </p:sp>
      <p:pic>
        <p:nvPicPr>
          <p:cNvPr id="5" name="Picture 4" descr="05_documents_r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212080" cy="32575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5120640"/>
            <a:ext cx="52120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>
                <a:solidFill>
                  <a:srgbClr val="F59E0B"/>
                </a:solidFill>
              </a:defRPr>
            </a:pPr>
            <a:r>
              <a:t>Grounded RAG Document Intelligence</a:t>
            </a:r>
          </a:p>
          <a:p>
            <a:pPr>
              <a:defRPr sz="1050">
                <a:solidFill>
                  <a:srgbClr val="9CA3AF"/>
                </a:solidFill>
              </a:defRPr>
            </a:pPr>
            <a:r>
              <a:t>Multi-format knowledge repository (.pdf, .docx, .doc) with semantic vector search, verbatim citations, and doc viewer.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SECTION 06 / LIVE INTERFACE SCREENSHOTS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</a:defRPr>
            </a:pPr>
            <a:r>
              <a:t>Autonomous Conversational Agent &amp; Meeting Extraction</a:t>
            </a:r>
          </a:p>
        </p:txBody>
      </p:sp>
      <p:pic>
        <p:nvPicPr>
          <p:cNvPr id="3" name="Picture 2" descr="06_ai_ag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212080" cy="32575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120640"/>
            <a:ext cx="52120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>
                <a:solidFill>
                  <a:srgbClr val="06B6D4"/>
                </a:solidFill>
              </a:defRPr>
            </a:pPr>
            <a:r>
              <a:t>Autonomous AI Agent Interface</a:t>
            </a:r>
          </a:p>
          <a:p>
            <a:pPr>
              <a:defRPr sz="1050">
                <a:solidFill>
                  <a:srgbClr val="9CA3AF"/>
                </a:solidFill>
              </a:defRPr>
            </a:pPr>
            <a:r>
              <a:t>Conversational engine that converts natural language into live database actions (creating tasks, broadcasting alerts, logging risks).</a:t>
            </a:r>
          </a:p>
        </p:txBody>
      </p:sp>
      <p:pic>
        <p:nvPicPr>
          <p:cNvPr id="5" name="Picture 4" descr="04_meet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212080" cy="32575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5120640"/>
            <a:ext cx="52120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>
                <a:solidFill>
                  <a:srgbClr val="10B981"/>
                </a:solidFill>
              </a:defRPr>
            </a:pPr>
            <a:r>
              <a:t>Meeting Transcript Processing</a:t>
            </a:r>
          </a:p>
          <a:p>
            <a:pPr>
              <a:defRPr sz="1050">
                <a:solidFill>
                  <a:srgbClr val="9CA3AF"/>
                </a:solidFill>
              </a:defRPr>
            </a:pPr>
            <a:r>
              <a:t>Immediate distillation of raw notes into executive summaries, action items, and automated volunteer task assignments.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SECTION 06 / TEAM CONTRIBUTIONS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</a:defRPr>
            </a:pPr>
            <a:r>
              <a:t>Collaborative Engineering Division of Roles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212080" cy="2103120"/>
          </a:xfrm>
          <a:prstGeom prst="roundRect">
            <a:avLst/>
          </a:prstGeom>
          <a:solidFill>
            <a:srgbClr val="161B2C"/>
          </a:solidFill>
          <a:ln w="1905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300" b="1">
                <a:solidFill>
                  <a:srgbClr val="3B82F6"/>
                </a:solidFill>
              </a:defRPr>
            </a:pPr>
            <a:r>
              <a:t>KRISH PATEL (LEAD) • SYSTEM ARCHITECT &amp; AI SYSTEMS</a:t>
            </a:r>
          </a:p>
          <a:p>
            <a:pPr>
              <a:spcBef>
                <a:spcPts val="800"/>
              </a:spcBef>
              <a:defRPr sz="1100">
                <a:solidFill>
                  <a:srgbClr val="9CA3AF"/>
                </a:solidFill>
              </a:defRPr>
            </a:pPr>
            <a:r>
              <a:t>Engineered Gemini API prompts, autonomous agent runtime, tool registry, and meeting transcript NLP splitting.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212080" cy="2103120"/>
          </a:xfrm>
          <a:prstGeom prst="roundRect">
            <a:avLst/>
          </a:prstGeom>
          <a:solidFill>
            <a:srgbClr val="161B2C"/>
          </a:solidFill>
          <a:ln w="1905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300" b="1">
                <a:solidFill>
                  <a:srgbClr val="3B82F6"/>
                </a:solidFill>
              </a:defRPr>
            </a:pPr>
            <a:r>
              <a:t>MEMBER 2 • FRONTEND LEAD &amp; UI/UX</a:t>
            </a:r>
          </a:p>
          <a:p>
            <a:pPr>
              <a:spcBef>
                <a:spcPts val="800"/>
              </a:spcBef>
              <a:defRPr sz="1100">
                <a:solidFill>
                  <a:srgbClr val="9CA3AF"/>
                </a:solidFill>
              </a:defRPr>
            </a:pPr>
            <a:r>
              <a:t>Built the React 19 SPA, brutalist editorial design system, event context switcher, and interactive modal dialogs.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023360"/>
            <a:ext cx="5212080" cy="2103120"/>
          </a:xfrm>
          <a:prstGeom prst="roundRect">
            <a:avLst/>
          </a:prstGeom>
          <a:solidFill>
            <a:srgbClr val="161B2C"/>
          </a:solidFill>
          <a:ln w="1905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300" b="1">
                <a:solidFill>
                  <a:srgbClr val="3B82F6"/>
                </a:solidFill>
              </a:defRPr>
            </a:pPr>
            <a:r>
              <a:t>MEMBER 3 • RAG &amp; VECTOR ENGINEER</a:t>
            </a:r>
          </a:p>
          <a:p>
            <a:pPr>
              <a:spcBef>
                <a:spcPts val="800"/>
              </a:spcBef>
              <a:defRPr sz="1100">
                <a:solidFill>
                  <a:srgbClr val="9CA3AF"/>
                </a:solidFill>
              </a:defRPr>
            </a:pPr>
            <a:r>
              <a:t>Implemented multi-format parsers (Mammoth, pdf-parse), cosine similarity embeddings, and citation-backed Q&amp;A.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4023360"/>
            <a:ext cx="5212080" cy="2103120"/>
          </a:xfrm>
          <a:prstGeom prst="roundRect">
            <a:avLst/>
          </a:prstGeom>
          <a:solidFill>
            <a:srgbClr val="161B2C"/>
          </a:solidFill>
          <a:ln w="1905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300" b="1">
                <a:solidFill>
                  <a:srgbClr val="3B82F6"/>
                </a:solidFill>
              </a:defRPr>
            </a:pPr>
            <a:r>
              <a:t>MEMBER 4 • DATABASE &amp; QA ENGINEER</a:t>
            </a:r>
          </a:p>
          <a:p>
            <a:pPr>
              <a:spcBef>
                <a:spcPts val="800"/>
              </a:spcBef>
              <a:defRPr sz="1100">
                <a:solidFill>
                  <a:srgbClr val="9CA3AF"/>
                </a:solidFill>
              </a:defRPr>
            </a:pPr>
            <a:r>
              <a:t>Designed MongoDB Mongoose schemas, volunteer workload balancing algorithms, seed data, and automated demo suite.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SECTION 07 / IMPACT &amp; FUTURE SCOPE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</a:defRPr>
            </a:pPr>
            <a:r>
              <a:t>Real-World Value Proposition &amp; Strategic Roadmap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61B2C"/>
          </a:solidFill>
          <a:ln w="1905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300" b="1">
                <a:solidFill>
                  <a:srgbClr val="3B82F6"/>
                </a:solidFill>
              </a:defRPr>
            </a:pPr>
            <a:r>
              <a:t>REAL-WORLD IMPACT &amp; RESULTS</a:t>
            </a:r>
          </a:p>
          <a:p>
            <a:pPr>
              <a:spcBef>
                <a:spcPts val="1000"/>
              </a:spcBef>
            </a:pPr>
            <a:r>
              <a:rPr b="1" sz="1150">
                <a:solidFill>
                  <a:srgbClr val="10B981"/>
                </a:solidFill>
              </a:rPr>
              <a:t>🌟 15+ Hours Saved Weekly
</a:t>
            </a:r>
            <a:r>
              <a:rPr sz="1050">
                <a:solidFill>
                  <a:srgbClr val="9CA3AF"/>
                </a:solidFill>
              </a:rPr>
              <a:t>Eliminates manual task delegation and meeting transcript note synthesis for event organizers.</a:t>
            </a:r>
          </a:p>
          <a:p>
            <a:pPr>
              <a:spcBef>
                <a:spcPts val="1000"/>
              </a:spcBef>
            </a:pPr>
            <a:r>
              <a:rPr b="1" sz="1150">
                <a:solidFill>
                  <a:srgbClr val="10B981"/>
                </a:solidFill>
              </a:rPr>
              <a:t>🌟 Zero Task Slippage
</a:t>
            </a:r>
            <a:r>
              <a:rPr sz="1050">
                <a:solidFill>
                  <a:srgbClr val="9CA3AF"/>
                </a:solidFill>
              </a:rPr>
              <a:t>Automated priority tagging and volunteer workload balancing guarantees every critical item has an active owner.</a:t>
            </a:r>
          </a:p>
          <a:p>
            <a:pPr>
              <a:spcBef>
                <a:spcPts val="1000"/>
              </a:spcBef>
            </a:pPr>
            <a:r>
              <a:rPr b="1" sz="1150">
                <a:solidFill>
                  <a:srgbClr val="10B981"/>
                </a:solidFill>
              </a:rPr>
              <a:t>🌟 Single Source of Truth
</a:t>
            </a:r>
            <a:r>
              <a:rPr sz="1050">
                <a:solidFill>
                  <a:srgbClr val="9CA3AF"/>
                </a:solidFill>
              </a:rPr>
              <a:t>Consolidates tasks, volunteers, risks, documents, and notifications into one auditable database.</a:t>
            </a:r>
          </a:p>
          <a:p>
            <a:pPr>
              <a:spcBef>
                <a:spcPts val="1000"/>
              </a:spcBef>
            </a:pPr>
            <a:r>
              <a:rPr b="1" sz="1150">
                <a:solidFill>
                  <a:srgbClr val="10B981"/>
                </a:solidFill>
              </a:rPr>
              <a:t>🌟 Campus &amp; Industry Ready
</a:t>
            </a:r>
            <a:r>
              <a:rPr sz="1050">
                <a:solidFill>
                  <a:srgbClr val="9CA3AF"/>
                </a:solidFill>
              </a:rPr>
              <a:t>Engineered to scale effortlessly for college clubs, 36-hour hackathons, and multi-day tech symposiums.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161B2C"/>
          </a:solidFill>
          <a:ln w="1905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300" b="1">
                <a:solidFill>
                  <a:srgbClr val="3B82F6"/>
                </a:solidFill>
              </a:defRPr>
            </a:pPr>
            <a:r>
              <a:t>FUTURE SCOPE &amp; EVOLUTION</a:t>
            </a:r>
          </a:p>
          <a:p>
            <a:pPr>
              <a:spcBef>
                <a:spcPts val="1000"/>
              </a:spcBef>
            </a:pPr>
            <a:r>
              <a:rPr b="1" sz="1150">
                <a:solidFill>
                  <a:srgbClr val="3B82F6"/>
                </a:solidFill>
              </a:rPr>
              <a:t>🚀 Live Audio Transcription
</a:t>
            </a:r>
            <a:r>
              <a:rPr sz="1050">
                <a:solidFill>
                  <a:srgbClr val="9CA3AF"/>
                </a:solidFill>
              </a:rPr>
              <a:t>Real-time speech-to-text integration (Whisper AI) for direct in-meeting audio streaming and task extraction.</a:t>
            </a:r>
          </a:p>
          <a:p>
            <a:pPr>
              <a:spcBef>
                <a:spcPts val="1000"/>
              </a:spcBef>
            </a:pPr>
            <a:r>
              <a:rPr b="1" sz="1150">
                <a:solidFill>
                  <a:srgbClr val="3B82F6"/>
                </a:solidFill>
              </a:rPr>
              <a:t>🚀 WhatsApp &amp; Slack Integrations
</a:t>
            </a:r>
            <a:r>
              <a:rPr sz="1050">
                <a:solidFill>
                  <a:srgbClr val="9CA3AF"/>
                </a:solidFill>
              </a:rPr>
              <a:t>Two-way bots allowing volunteers to check task deadlines and confirm completion via messaging apps.</a:t>
            </a:r>
          </a:p>
          <a:p>
            <a:pPr>
              <a:spcBef>
                <a:spcPts val="1000"/>
              </a:spcBef>
            </a:pPr>
            <a:r>
              <a:rPr b="1" sz="1150">
                <a:solidFill>
                  <a:srgbClr val="3B82F6"/>
                </a:solidFill>
              </a:rPr>
              <a:t>🚀 Mobile App (React Native)
</a:t>
            </a:r>
            <a:r>
              <a:rPr sz="1050">
                <a:solidFill>
                  <a:srgbClr val="9CA3AF"/>
                </a:solidFill>
              </a:rPr>
              <a:t>Native iOS/Android companion app with offline task check-in and push notifications.</a:t>
            </a:r>
          </a:p>
          <a:p>
            <a:pPr>
              <a:spcBef>
                <a:spcPts val="1000"/>
              </a:spcBef>
            </a:pPr>
            <a:r>
              <a:rPr b="1" sz="1150">
                <a:solidFill>
                  <a:srgbClr val="3B82F6"/>
                </a:solidFill>
              </a:rPr>
              <a:t>🚀 Budget &amp; OCR Receipt Auditing
</a:t>
            </a:r>
            <a:r>
              <a:rPr sz="1050">
                <a:solidFill>
                  <a:srgbClr val="9CA3AF"/>
                </a:solidFill>
              </a:rPr>
              <a:t>Automated expense receipt scanning and budget threshold violation alerts.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SECTION 08 / PROJECT LINKS &amp; VERIFICATION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</a:defRPr>
            </a:pPr>
            <a:r>
              <a:t>Open-Source Repository &amp; Verification Credentials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698480" cy="4663440"/>
          </a:xfrm>
          <a:prstGeom prst="roundRect">
            <a:avLst/>
          </a:prstGeom>
          <a:solidFill>
            <a:srgbClr val="161B2C"/>
          </a:solidFill>
          <a:ln w="1905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300" b="1">
                <a:solidFill>
                  <a:srgbClr val="3B82F6"/>
                </a:solidFill>
              </a:defRPr>
            </a:pPr>
            <a:r>
              <a:t>SUBMISSION &amp; VERIFICATION DETAILS</a:t>
            </a:r>
          </a:p>
          <a:p>
            <a:pPr>
              <a:spcBef>
                <a:spcPts val="1200"/>
              </a:spcBef>
            </a:pPr>
            <a:r>
              <a:rPr b="1" sz="1300">
                <a:solidFill>
                  <a:srgbClr val="06B6D4"/>
                </a:solidFill>
              </a:rPr>
              <a:t>🔗 GitHub Repository: </a:t>
            </a:r>
            <a:r>
              <a:rPr sz="1300">
                <a:solidFill>
                  <a:srgbClr val="FFFFFF"/>
                </a:solidFill>
              </a:rPr>
              <a:t>https://github.com/Kpanchal1210/ClubOps-AI</a:t>
            </a:r>
          </a:p>
          <a:p>
            <a:pPr>
              <a:spcBef>
                <a:spcPts val="1200"/>
              </a:spcBef>
            </a:pPr>
            <a:r>
              <a:rPr b="1" sz="1300">
                <a:solidFill>
                  <a:srgbClr val="06B6D4"/>
                </a:solidFill>
              </a:rPr>
              <a:t>🔗 Repository Branch: </a:t>
            </a:r>
            <a:r>
              <a:rPr sz="1300">
                <a:solidFill>
                  <a:srgbClr val="FFFFFF"/>
                </a:solidFill>
              </a:rPr>
              <a:t>main (Fully synchronized with zero conflicts)</a:t>
            </a:r>
          </a:p>
          <a:p>
            <a:pPr>
              <a:spcBef>
                <a:spcPts val="1200"/>
              </a:spcBef>
            </a:pPr>
            <a:r>
              <a:rPr b="1" sz="1300">
                <a:solidFill>
                  <a:srgbClr val="06B6D4"/>
                </a:solidFill>
              </a:rPr>
              <a:t>🔗 Documentation: </a:t>
            </a:r>
            <a:r>
              <a:rPr sz="1300">
                <a:solidFill>
                  <a:srgbClr val="FFFFFF"/>
                </a:solidFill>
              </a:rPr>
              <a:t>Full architecture, API tables, and setup instructions in README.md</a:t>
            </a:r>
          </a:p>
          <a:p>
            <a:pPr>
              <a:spcBef>
                <a:spcPts val="1200"/>
              </a:spcBef>
            </a:pPr>
            <a:r>
              <a:rPr b="1" sz="1300">
                <a:solidFill>
                  <a:srgbClr val="06B6D4"/>
                </a:solidFill>
              </a:rPr>
              <a:t>🔗 Demo Credentials: </a:t>
            </a:r>
            <a:r>
              <a:rPr sz="1300">
                <a:solidFill>
                  <a:srgbClr val="FFFFFF"/>
                </a:solidFill>
              </a:rPr>
              <a:t>organizer@clubops.org / password123 (Club Admin Role)</a:t>
            </a:r>
          </a:p>
          <a:p>
            <a:pPr>
              <a:spcBef>
                <a:spcPts val="1200"/>
              </a:spcBef>
            </a:pPr>
            <a:r>
              <a:rPr b="1" sz="1300">
                <a:solidFill>
                  <a:srgbClr val="06B6D4"/>
                </a:solidFill>
              </a:rPr>
              <a:t>🔗 Local Verification: </a:t>
            </a:r>
            <a:r>
              <a:rPr sz="1300">
                <a:solidFill>
                  <a:srgbClr val="FFFFFF"/>
                </a:solidFill>
              </a:rPr>
              <a:t>Backend: http://localhost:5002 | Frontend: http://localhost:5173</a:t>
            </a:r>
          </a:p>
          <a:p>
            <a:pPr>
              <a:spcBef>
                <a:spcPts val="1200"/>
              </a:spcBef>
            </a:pPr>
            <a:r>
              <a:rPr b="1" sz="1300">
                <a:solidFill>
                  <a:srgbClr val="06B6D4"/>
                </a:solidFill>
              </a:rPr>
              <a:t>🔗 Automated Demo Script: </a:t>
            </a:r>
            <a:r>
              <a:rPr sz="1300">
                <a:solidFill>
                  <a:srgbClr val="FFFFFF"/>
                </a:solidFill>
              </a:rPr>
              <a:t>Run 'npm run demo' inside /backend for instant full-flow verification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