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104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Rectangle 1"/>
          <p:cNvSpPr/>
          <p:nvPr/>
        </p:nvSpPr>
        <p:spPr>
          <a:xfrm>
            <a:off x="731520" y="752540"/>
            <a:ext cx="10728655" cy="53949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0" y="1143000"/>
            <a:ext cx="1097280" cy="365760"/>
          </a:xfrm>
          <a:prstGeom prst="rect">
            <a:avLst/>
          </a:prstGeom>
          <a:solidFill>
            <a:srgbClr val="FF2D55"/>
          </a:solidFill>
          <a:ln w="12700">
            <a:solidFill>
              <a:srgbClr val="FF2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161288"/>
            <a:ext cx="1097280" cy="320040"/>
          </a:xfrm>
          <a:prstGeom prst="rect">
            <a:avLst/>
          </a:prstGeom>
          <a:noFill/>
        </p:spPr>
        <p:txBody>
          <a:bodyPr wrap="none">
            <a:spAutoFit/>
          </a:bodyPr>
          <a:lstStyle/>
          <a:p>
            <a:pPr algn="ctr">
              <a:defRPr sz="1000" b="1">
                <a:solidFill>
                  <a:srgbClr val="FFFFFF"/>
                </a:solidFill>
                <a:latin typeface="Segoe UI"/>
              </a:defRPr>
            </a:pPr>
            <a:r>
              <a:t>BIT N BUILD</a:t>
            </a:r>
          </a:p>
        </p:txBody>
      </p:sp>
      <p:sp>
        <p:nvSpPr>
          <p:cNvPr id="5" name="TextBox 4"/>
          <p:cNvSpPr txBox="1"/>
          <p:nvPr/>
        </p:nvSpPr>
        <p:spPr>
          <a:xfrm>
            <a:off x="2377440" y="1161288"/>
            <a:ext cx="3312125" cy="246221"/>
          </a:xfrm>
          <a:prstGeom prst="rect">
            <a:avLst/>
          </a:prstGeom>
          <a:noFill/>
        </p:spPr>
        <p:txBody>
          <a:bodyPr wrap="none">
            <a:spAutoFit/>
          </a:bodyPr>
          <a:lstStyle/>
          <a:p>
            <a:pPr>
              <a:defRPr sz="1000" b="1">
                <a:solidFill>
                  <a:srgbClr val="9CA3AF"/>
                </a:solidFill>
                <a:latin typeface="Segoe UI"/>
              </a:defRPr>
            </a:pPr>
            <a:r>
              <a:rPr dirty="0"/>
              <a:t>2026 HACKATHON PROJECT  •  OPS DASHBOARD </a:t>
            </a:r>
          </a:p>
        </p:txBody>
      </p:sp>
      <p:sp>
        <p:nvSpPr>
          <p:cNvPr id="6" name="TextBox 5"/>
          <p:cNvSpPr txBox="1"/>
          <p:nvPr/>
        </p:nvSpPr>
        <p:spPr>
          <a:xfrm>
            <a:off x="1188720" y="1645920"/>
            <a:ext cx="9601200" cy="1097280"/>
          </a:xfrm>
          <a:prstGeom prst="rect">
            <a:avLst/>
          </a:prstGeom>
          <a:noFill/>
        </p:spPr>
        <p:txBody>
          <a:bodyPr wrap="none">
            <a:spAutoFit/>
          </a:bodyPr>
          <a:lstStyle/>
          <a:p>
            <a:pPr>
              <a:defRPr sz="5600" b="1">
                <a:solidFill>
                  <a:srgbClr val="FFFFFF"/>
                </a:solidFill>
                <a:latin typeface="Segoe UI"/>
              </a:defRPr>
            </a:pPr>
            <a:r>
              <a:rPr dirty="0"/>
              <a:t>CLUBOPS AI</a:t>
            </a:r>
          </a:p>
        </p:txBody>
      </p:sp>
      <p:sp>
        <p:nvSpPr>
          <p:cNvPr id="7" name="TextBox 6"/>
          <p:cNvSpPr txBox="1"/>
          <p:nvPr/>
        </p:nvSpPr>
        <p:spPr>
          <a:xfrm>
            <a:off x="1188720" y="2743200"/>
            <a:ext cx="9601200" cy="640080"/>
          </a:xfrm>
          <a:prstGeom prst="rect">
            <a:avLst/>
          </a:prstGeom>
          <a:noFill/>
        </p:spPr>
        <p:txBody>
          <a:bodyPr wrap="none">
            <a:spAutoFit/>
          </a:bodyPr>
          <a:lstStyle/>
          <a:p>
            <a:pPr>
              <a:defRPr sz="2000" b="1">
                <a:solidFill>
                  <a:srgbClr val="FF2D55"/>
                </a:solidFill>
                <a:latin typeface="Segoe UI"/>
              </a:defRPr>
            </a:pPr>
            <a:r>
              <a:rPr dirty="0"/>
              <a:t>Centralized Operations Platform for College Clubs &amp; Campus Events</a:t>
            </a:r>
          </a:p>
        </p:txBody>
      </p:sp>
      <p:sp>
        <p:nvSpPr>
          <p:cNvPr id="8" name="TextBox 7"/>
          <p:cNvSpPr txBox="1"/>
          <p:nvPr/>
        </p:nvSpPr>
        <p:spPr>
          <a:xfrm>
            <a:off x="1188720" y="3383280"/>
            <a:ext cx="9601200" cy="731520"/>
          </a:xfrm>
          <a:prstGeom prst="rect">
            <a:avLst/>
          </a:prstGeom>
          <a:noFill/>
        </p:spPr>
        <p:txBody>
          <a:bodyPr wrap="square">
            <a:spAutoFit/>
          </a:bodyPr>
          <a:lstStyle/>
          <a:p>
            <a:pPr>
              <a:defRPr sz="1200">
                <a:solidFill>
                  <a:srgbClr val="9CA3AF"/>
                </a:solidFill>
                <a:latin typeface="Segoe UI"/>
              </a:defRPr>
            </a:pPr>
            <a:r>
              <a:t>Combining React 18, Node.js, Express, MongoDB Atlas, and Google Gemini to streamline event planning, meeting transcript synthesis, guideline-grounded document search, and assistant-guided task assignment.</a:t>
            </a:r>
          </a:p>
        </p:txBody>
      </p:sp>
      <p:sp>
        <p:nvSpPr>
          <p:cNvPr id="9" name="Rectangle 8"/>
          <p:cNvSpPr/>
          <p:nvPr/>
        </p:nvSpPr>
        <p:spPr>
          <a:xfrm>
            <a:off x="1188720" y="4526280"/>
            <a:ext cx="2286000" cy="109728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5880" y="4617720"/>
            <a:ext cx="2011680" cy="461665"/>
          </a:xfrm>
          <a:prstGeom prst="rect">
            <a:avLst/>
          </a:prstGeom>
          <a:noFill/>
        </p:spPr>
        <p:txBody>
          <a:bodyPr wrap="square">
            <a:spAutoFit/>
          </a:bodyPr>
          <a:lstStyle/>
          <a:p>
            <a:pPr>
              <a:defRPr sz="1200" b="1">
                <a:solidFill>
                  <a:srgbClr val="FF2D55"/>
                </a:solidFill>
                <a:latin typeface="Segoe UI"/>
              </a:defRPr>
            </a:pPr>
            <a:r>
              <a:rPr dirty="0">
                <a:solidFill>
                  <a:schemeClr val="bg1"/>
                </a:solidFill>
              </a:rPr>
              <a:t>Krish </a:t>
            </a:r>
            <a:r>
              <a:rPr lang="en-IN" dirty="0">
                <a:solidFill>
                  <a:schemeClr val="bg1"/>
                </a:solidFill>
              </a:rPr>
              <a:t>Panchal</a:t>
            </a:r>
            <a:endParaRPr dirty="0">
              <a:solidFill>
                <a:schemeClr val="bg1"/>
              </a:solidFill>
            </a:endParaRPr>
          </a:p>
          <a:p>
            <a:pPr>
              <a:spcBef>
                <a:spcPts val="300"/>
              </a:spcBef>
              <a:defRPr sz="950">
                <a:solidFill>
                  <a:srgbClr val="9CA3AF"/>
                </a:solidFill>
                <a:latin typeface="Segoe UI"/>
              </a:defRPr>
            </a:pPr>
            <a:r>
              <a:rPr lang="en-IN" dirty="0"/>
              <a:t>Frontend Lead (React, Tailwind UI)</a:t>
            </a:r>
            <a:endParaRPr dirty="0"/>
          </a:p>
        </p:txBody>
      </p:sp>
      <p:sp>
        <p:nvSpPr>
          <p:cNvPr id="11" name="Rectangle 10"/>
          <p:cNvSpPr/>
          <p:nvPr/>
        </p:nvSpPr>
        <p:spPr>
          <a:xfrm>
            <a:off x="3657600" y="4526280"/>
            <a:ext cx="2286000" cy="109728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94760" y="4617720"/>
            <a:ext cx="2011680" cy="607859"/>
          </a:xfrm>
          <a:prstGeom prst="rect">
            <a:avLst/>
          </a:prstGeom>
          <a:noFill/>
        </p:spPr>
        <p:txBody>
          <a:bodyPr wrap="square">
            <a:spAutoFit/>
          </a:bodyPr>
          <a:lstStyle/>
          <a:p>
            <a:pPr>
              <a:defRPr sz="1200" b="1">
                <a:solidFill>
                  <a:srgbClr val="FF2D55"/>
                </a:solidFill>
                <a:latin typeface="Segoe UI"/>
              </a:defRPr>
            </a:pPr>
            <a:r>
              <a:rPr lang="en-US" dirty="0">
                <a:solidFill>
                  <a:schemeClr val="bg1"/>
                </a:solidFill>
              </a:rPr>
              <a:t>Krish M. Patel</a:t>
            </a:r>
          </a:p>
          <a:p>
            <a:pPr>
              <a:spcBef>
                <a:spcPts val="300"/>
              </a:spcBef>
              <a:defRPr sz="950">
                <a:solidFill>
                  <a:srgbClr val="9CA3AF"/>
                </a:solidFill>
                <a:latin typeface="Segoe UI"/>
              </a:defRPr>
            </a:pPr>
            <a:r>
              <a:rPr lang="en-US" dirty="0"/>
              <a:t>Backend Lead (APIs, DB, Auth, Jobs)</a:t>
            </a:r>
          </a:p>
        </p:txBody>
      </p:sp>
      <p:sp>
        <p:nvSpPr>
          <p:cNvPr id="13" name="Rectangle 12"/>
          <p:cNvSpPr/>
          <p:nvPr/>
        </p:nvSpPr>
        <p:spPr>
          <a:xfrm>
            <a:off x="6126480" y="4526280"/>
            <a:ext cx="2286000" cy="109728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4617720"/>
            <a:ext cx="2011680" cy="914400"/>
          </a:xfrm>
          <a:prstGeom prst="rect">
            <a:avLst/>
          </a:prstGeom>
          <a:noFill/>
        </p:spPr>
        <p:txBody>
          <a:bodyPr wrap="square">
            <a:spAutoFit/>
          </a:bodyPr>
          <a:lstStyle/>
          <a:p>
            <a:pPr>
              <a:defRPr sz="1200" b="1">
                <a:solidFill>
                  <a:srgbClr val="FFFFFF"/>
                </a:solidFill>
                <a:latin typeface="Segoe UI"/>
              </a:defRPr>
            </a:pPr>
            <a:r>
              <a:rPr dirty="0"/>
              <a:t>Krish K. Patel</a:t>
            </a:r>
          </a:p>
          <a:p>
            <a:pPr>
              <a:spcBef>
                <a:spcPts val="300"/>
              </a:spcBef>
              <a:defRPr sz="950">
                <a:solidFill>
                  <a:srgbClr val="9CA3AF"/>
                </a:solidFill>
                <a:latin typeface="Segoe UI"/>
              </a:defRPr>
            </a:pPr>
            <a:r>
              <a:rPr dirty="0"/>
              <a:t>RAG Lead (Chunking &amp; Retrieval)</a:t>
            </a:r>
          </a:p>
        </p:txBody>
      </p:sp>
      <p:sp>
        <p:nvSpPr>
          <p:cNvPr id="15" name="Rectangle 14"/>
          <p:cNvSpPr/>
          <p:nvPr/>
        </p:nvSpPr>
        <p:spPr>
          <a:xfrm>
            <a:off x="8595360" y="4526280"/>
            <a:ext cx="2286000" cy="109728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32520" y="4617720"/>
            <a:ext cx="2011680" cy="914400"/>
          </a:xfrm>
          <a:prstGeom prst="rect">
            <a:avLst/>
          </a:prstGeom>
          <a:noFill/>
        </p:spPr>
        <p:txBody>
          <a:bodyPr wrap="square">
            <a:spAutoFit/>
          </a:bodyPr>
          <a:lstStyle/>
          <a:p>
            <a:pPr>
              <a:defRPr sz="1200" b="1">
                <a:solidFill>
                  <a:srgbClr val="FFFFFF"/>
                </a:solidFill>
                <a:latin typeface="Segoe UI"/>
              </a:defRPr>
            </a:pPr>
            <a:r>
              <a:t>Dhruv Patel</a:t>
            </a:r>
          </a:p>
          <a:p>
            <a:pPr>
              <a:spcBef>
                <a:spcPts val="300"/>
              </a:spcBef>
              <a:defRPr sz="950">
                <a:solidFill>
                  <a:srgbClr val="9CA3AF"/>
                </a:solidFill>
                <a:latin typeface="Segoe UI"/>
              </a:defRPr>
            </a:pPr>
            <a:r>
              <a:t>AI Automation (Gemini &amp; Agent Tools)</a:t>
            </a:r>
          </a:p>
        </p:txBody>
      </p:sp>
      <p:sp>
        <p:nvSpPr>
          <p:cNvPr id="17" name="TextBox 16"/>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 of 30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EXECUTIVE SUMMARY</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ClubOps AI: Pragmatic Campus Club Operations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Centralizing event coordination, assisted meeting review, and institutional guidelines.</a:t>
            </a:r>
          </a:p>
        </p:txBody>
      </p:sp>
      <p:sp>
        <p:nvSpPr>
          <p:cNvPr id="6" name="Rectangle 5"/>
          <p:cNvSpPr/>
          <p:nvPr/>
        </p:nvSpPr>
        <p:spPr>
          <a:xfrm>
            <a:off x="731520" y="1691640"/>
            <a:ext cx="5212080" cy="4480560"/>
          </a:xfrm>
          <a:prstGeom prst="rect">
            <a:avLst/>
          </a:prstGeom>
          <a:solidFill>
            <a:srgbClr val="F5F3EE"/>
          </a:solidFill>
          <a:ln w="12700">
            <a:solidFill>
              <a:srgbClr val="DA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4663440" cy="4023360"/>
          </a:xfrm>
          <a:prstGeom prst="rect">
            <a:avLst/>
          </a:prstGeom>
          <a:noFill/>
        </p:spPr>
        <p:txBody>
          <a:bodyPr wrap="square">
            <a:spAutoFit/>
          </a:bodyPr>
          <a:lstStyle/>
          <a:p>
            <a:pPr>
              <a:defRPr sz="1000" b="1">
                <a:solidFill>
                  <a:srgbClr val="FF2D55"/>
                </a:solidFill>
                <a:latin typeface="Segoe UI"/>
              </a:defRPr>
            </a:pPr>
            <a:r>
              <a:t>CURRENT OPERATION / PLATFORM VISION</a:t>
            </a:r>
          </a:p>
          <a:p>
            <a:pPr>
              <a:spcBef>
                <a:spcPts val="400"/>
              </a:spcBef>
              <a:defRPr sz="2000" b="1">
                <a:solidFill>
                  <a:srgbClr val="0F1117"/>
                </a:solidFill>
                <a:latin typeface="Segoe UI"/>
              </a:defRPr>
            </a:pPr>
            <a:r>
              <a:t>A Unified Operations Hub for University Events</a:t>
            </a:r>
          </a:p>
          <a:p>
            <a:pPr>
              <a:spcBef>
                <a:spcPts val="800"/>
              </a:spcBef>
              <a:defRPr sz="1100">
                <a:solidFill>
                  <a:srgbClr val="2D313A"/>
                </a:solidFill>
                <a:latin typeface="Segoe UI"/>
              </a:defRPr>
            </a:pPr>
            <a:r>
              <a:t>College clubs host major hackathons and technical symposiums, but rely on scattered WhatsApp chats and spreadsheets. Action items from meetings get forgotten, volunteer allocations clash, and venue policies remain buried in PDFs.</a:t>
            </a:r>
          </a:p>
          <a:p>
            <a:pPr>
              <a:spcBef>
                <a:spcPts val="800"/>
              </a:spcBef>
              <a:defRPr sz="1100">
                <a:solidFill>
                  <a:srgbClr val="2D313A"/>
                </a:solidFill>
                <a:latin typeface="Segoe UI"/>
              </a:defRPr>
            </a:pPr>
            <a:r>
              <a:t>ClubOps AI provides one centralized workspace where organizers manage events, review structured meeting extractions, search institutional guidelines via RAG, and use an assistant to log validated tasks.</a:t>
            </a:r>
          </a:p>
        </p:txBody>
      </p:sp>
      <p:sp>
        <p:nvSpPr>
          <p:cNvPr id="8" name="Rectangle 7"/>
          <p:cNvSpPr/>
          <p:nvPr/>
        </p:nvSpPr>
        <p:spPr>
          <a:xfrm>
            <a:off x="1005840" y="5120640"/>
            <a:ext cx="4663440" cy="777240"/>
          </a:xfrm>
          <a:prstGeom prst="rect">
            <a:avLst/>
          </a:prstGeom>
          <a:solidFill>
            <a:srgbClr val="F5F3EE"/>
          </a:solidFill>
          <a:ln w="12700">
            <a:solidFill>
              <a:srgbClr val="B4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5166360"/>
            <a:ext cx="1554480" cy="685800"/>
          </a:xfrm>
          <a:prstGeom prst="rect">
            <a:avLst/>
          </a:prstGeom>
          <a:noFill/>
        </p:spPr>
        <p:txBody>
          <a:bodyPr wrap="none">
            <a:spAutoFit/>
          </a:bodyPr>
          <a:lstStyle/>
          <a:p>
            <a:pPr algn="ctr">
              <a:defRPr sz="1400" b="1">
                <a:solidFill>
                  <a:srgbClr val="FF2D55"/>
                </a:solidFill>
                <a:latin typeface="Segoe UI"/>
              </a:defRPr>
            </a:pPr>
            <a:r>
              <a:t>300+</a:t>
            </a:r>
          </a:p>
          <a:p>
            <a:pPr algn="ctr">
              <a:defRPr sz="850" b="1">
                <a:solidFill>
                  <a:srgbClr val="0F1117"/>
                </a:solidFill>
                <a:latin typeface="Segoe UI"/>
              </a:defRPr>
            </a:pPr>
            <a:r>
              <a:t>ATTENDEES</a:t>
            </a:r>
          </a:p>
        </p:txBody>
      </p:sp>
      <p:sp>
        <p:nvSpPr>
          <p:cNvPr id="10" name="TextBox 9"/>
          <p:cNvSpPr txBox="1"/>
          <p:nvPr/>
        </p:nvSpPr>
        <p:spPr>
          <a:xfrm>
            <a:off x="2560320" y="5166360"/>
            <a:ext cx="1554480" cy="685800"/>
          </a:xfrm>
          <a:prstGeom prst="rect">
            <a:avLst/>
          </a:prstGeom>
          <a:noFill/>
        </p:spPr>
        <p:txBody>
          <a:bodyPr wrap="none">
            <a:spAutoFit/>
          </a:bodyPr>
          <a:lstStyle/>
          <a:p>
            <a:pPr algn="ctr">
              <a:defRPr sz="1400" b="1">
                <a:solidFill>
                  <a:srgbClr val="FF2D55"/>
                </a:solidFill>
                <a:latin typeface="Segoe UI"/>
              </a:defRPr>
            </a:pPr>
            <a:r>
              <a:t>50+</a:t>
            </a:r>
          </a:p>
          <a:p>
            <a:pPr algn="ctr">
              <a:defRPr sz="850" b="1">
                <a:solidFill>
                  <a:srgbClr val="0F1117"/>
                </a:solidFill>
                <a:latin typeface="Segoe UI"/>
              </a:defRPr>
            </a:pPr>
            <a:r>
              <a:t>VOLUNTEERS</a:t>
            </a:r>
          </a:p>
        </p:txBody>
      </p:sp>
      <p:sp>
        <p:nvSpPr>
          <p:cNvPr id="11" name="TextBox 10"/>
          <p:cNvSpPr txBox="1"/>
          <p:nvPr/>
        </p:nvSpPr>
        <p:spPr>
          <a:xfrm>
            <a:off x="4114800" y="5166360"/>
            <a:ext cx="1554480" cy="685800"/>
          </a:xfrm>
          <a:prstGeom prst="rect">
            <a:avLst/>
          </a:prstGeom>
          <a:noFill/>
        </p:spPr>
        <p:txBody>
          <a:bodyPr wrap="none">
            <a:spAutoFit/>
          </a:bodyPr>
          <a:lstStyle/>
          <a:p>
            <a:pPr algn="ctr">
              <a:defRPr sz="1400" b="1">
                <a:solidFill>
                  <a:srgbClr val="FF2D55"/>
                </a:solidFill>
                <a:latin typeface="Segoe UI"/>
              </a:defRPr>
            </a:pPr>
            <a:r>
              <a:t>24-48H</a:t>
            </a:r>
          </a:p>
          <a:p>
            <a:pPr algn="ctr">
              <a:defRPr sz="850" b="1">
                <a:solidFill>
                  <a:srgbClr val="0F1117"/>
                </a:solidFill>
                <a:latin typeface="Segoe UI"/>
              </a:defRPr>
            </a:pPr>
            <a:r>
              <a:t>EVENT SPRINT</a:t>
            </a:r>
          </a:p>
        </p:txBody>
      </p:sp>
      <p:sp>
        <p:nvSpPr>
          <p:cNvPr id="12" name="Rectangle 11"/>
          <p:cNvSpPr/>
          <p:nvPr/>
        </p:nvSpPr>
        <p:spPr>
          <a:xfrm>
            <a:off x="6217920" y="1691640"/>
            <a:ext cx="5242255" cy="214884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874519"/>
            <a:ext cx="4693615" cy="1783080"/>
          </a:xfrm>
          <a:prstGeom prst="rect">
            <a:avLst/>
          </a:prstGeom>
          <a:noFill/>
        </p:spPr>
        <p:txBody>
          <a:bodyPr wrap="square">
            <a:spAutoFit/>
          </a:bodyPr>
          <a:lstStyle/>
          <a:p>
            <a:pPr>
              <a:defRPr sz="1000" b="1">
                <a:solidFill>
                  <a:srgbClr val="FF2D55"/>
                </a:solidFill>
                <a:latin typeface="Segoe UI"/>
              </a:defRPr>
            </a:pPr>
            <a:r>
              <a:t>STRUCTURED INTELLIGENCE PIPELINE</a:t>
            </a:r>
          </a:p>
          <a:p>
            <a:pPr>
              <a:spcBef>
                <a:spcPts val="300"/>
              </a:spcBef>
              <a:defRPr sz="1300" b="1">
                <a:solidFill>
                  <a:srgbClr val="FFFFFF"/>
                </a:solidFill>
                <a:latin typeface="Segoe UI"/>
              </a:defRPr>
            </a:pPr>
            <a:r>
              <a:t>Gemini-Assisted Meeting Review &amp; Task Extraction</a:t>
            </a:r>
          </a:p>
          <a:p>
            <a:pPr>
              <a:spcBef>
                <a:spcPts val="400"/>
              </a:spcBef>
              <a:defRPr sz="1050">
                <a:solidFill>
                  <a:srgbClr val="9CA3AF"/>
                </a:solidFill>
                <a:latin typeface="Segoe UI"/>
              </a:defRPr>
            </a:pPr>
            <a:r>
              <a:t>Instead of manual minutes, organizers submit meeting transcripts. Gemini extracts structured action items, owners, deadlines, and potential risks into typed JSON for human review and database entry.</a:t>
            </a:r>
          </a:p>
        </p:txBody>
      </p:sp>
      <p:sp>
        <p:nvSpPr>
          <p:cNvPr id="14" name="Rectangle 13"/>
          <p:cNvSpPr/>
          <p:nvPr/>
        </p:nvSpPr>
        <p:spPr>
          <a:xfrm>
            <a:off x="6217920" y="4023360"/>
            <a:ext cx="5242255" cy="214884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4206240"/>
            <a:ext cx="4693615" cy="1783080"/>
          </a:xfrm>
          <a:prstGeom prst="rect">
            <a:avLst/>
          </a:prstGeom>
          <a:noFill/>
        </p:spPr>
        <p:txBody>
          <a:bodyPr wrap="square">
            <a:spAutoFit/>
          </a:bodyPr>
          <a:lstStyle/>
          <a:p>
            <a:pPr>
              <a:defRPr sz="1000" b="1">
                <a:solidFill>
                  <a:srgbClr val="FF2D55"/>
                </a:solidFill>
                <a:latin typeface="Segoe UI"/>
              </a:defRPr>
            </a:pPr>
            <a:r>
              <a:t>GROUNDED RAG &amp; SYSTEM RESILIENCE</a:t>
            </a:r>
          </a:p>
          <a:p>
            <a:pPr>
              <a:spcBef>
                <a:spcPts val="300"/>
              </a:spcBef>
              <a:defRPr sz="1300" b="1">
                <a:solidFill>
                  <a:srgbClr val="FFFFFF"/>
                </a:solidFill>
                <a:latin typeface="Segoe UI"/>
              </a:defRPr>
            </a:pPr>
            <a:r>
              <a:t>In-Process Document Grounding &amp; Heuristic Fallbacks</a:t>
            </a:r>
          </a:p>
          <a:p>
            <a:pPr>
              <a:spcBef>
                <a:spcPts val="400"/>
              </a:spcBef>
              <a:defRPr sz="1050">
                <a:solidFill>
                  <a:srgbClr val="9CA3AF"/>
                </a:solidFill>
                <a:latin typeface="Segoe UI"/>
              </a:defRPr>
            </a:pPr>
            <a:r>
              <a:t>Campus venue guidelines are chunked and vectorized using cosine similarity. If the Gemini API hits rate limits or is offline, deterministic regex and keyword matchers ensure basic operations remain available.</a:t>
            </a:r>
          </a:p>
        </p:txBody>
      </p:sp>
      <p:sp>
        <p:nvSpPr>
          <p:cNvPr id="16" name="TextBox 15"/>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 of 30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THE PROBLEM STATEMENT</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Operational Bottlenecks in Campus Clubs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Why student teams face friction when managing large-scale hackathons and symposiums.</a:t>
            </a:r>
          </a:p>
        </p:txBody>
      </p:sp>
      <p:sp>
        <p:nvSpPr>
          <p:cNvPr id="6" name="Rectangle 5"/>
          <p:cNvSpPr/>
          <p:nvPr/>
        </p:nvSpPr>
        <p:spPr>
          <a:xfrm>
            <a:off x="7315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4663440" cy="1645920"/>
          </a:xfrm>
          <a:prstGeom prst="rect">
            <a:avLst/>
          </a:prstGeom>
          <a:noFill/>
        </p:spPr>
        <p:txBody>
          <a:bodyPr wrap="square">
            <a:spAutoFit/>
          </a:bodyPr>
          <a:lstStyle/>
          <a:p>
            <a:pPr>
              <a:defRPr sz="1000" b="1">
                <a:solidFill>
                  <a:srgbClr val="FF2D55"/>
                </a:solidFill>
                <a:latin typeface="Segoe UI"/>
              </a:defRPr>
            </a:pPr>
            <a:r>
              <a:t>01 / COMMUNICATION SILOS</a:t>
            </a:r>
          </a:p>
          <a:p>
            <a:pPr>
              <a:spcBef>
                <a:spcPts val="300"/>
              </a:spcBef>
              <a:defRPr sz="1400" b="1">
                <a:solidFill>
                  <a:srgbClr val="FFFFFF"/>
                </a:solidFill>
                <a:latin typeface="Segoe UI"/>
              </a:defRPr>
            </a:pPr>
            <a:r>
              <a:t>Information Fragmentation</a:t>
            </a:r>
          </a:p>
          <a:p>
            <a:pPr>
              <a:spcBef>
                <a:spcPts val="500"/>
              </a:spcBef>
              <a:defRPr sz="1050">
                <a:solidFill>
                  <a:srgbClr val="9CA3AF"/>
                </a:solidFill>
                <a:latin typeface="Segoe UI"/>
              </a:defRPr>
            </a:pPr>
            <a:r>
              <a:t>Announcements, file attachments, and updates are scattered across WhatsApp chats, Discord servers, and personal emails. Critical deadlines and room assignments get buried under message noise.</a:t>
            </a:r>
          </a:p>
        </p:txBody>
      </p:sp>
      <p:sp>
        <p:nvSpPr>
          <p:cNvPr id="8" name="Rectangle 7"/>
          <p:cNvSpPr/>
          <p:nvPr/>
        </p:nvSpPr>
        <p:spPr>
          <a:xfrm>
            <a:off x="62179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920240"/>
            <a:ext cx="4663440" cy="1645920"/>
          </a:xfrm>
          <a:prstGeom prst="rect">
            <a:avLst/>
          </a:prstGeom>
          <a:noFill/>
        </p:spPr>
        <p:txBody>
          <a:bodyPr wrap="square">
            <a:spAutoFit/>
          </a:bodyPr>
          <a:lstStyle/>
          <a:p>
            <a:pPr>
              <a:defRPr sz="1000" b="1">
                <a:solidFill>
                  <a:srgbClr val="FF2D55"/>
                </a:solidFill>
                <a:latin typeface="Segoe UI"/>
              </a:defRPr>
            </a:pPr>
            <a:r>
              <a:t>02 / UNTRACKED ACTION ITEMS</a:t>
            </a:r>
          </a:p>
          <a:p>
            <a:pPr>
              <a:spcBef>
                <a:spcPts val="300"/>
              </a:spcBef>
              <a:defRPr sz="1400" b="1">
                <a:solidFill>
                  <a:srgbClr val="FFFFFF"/>
                </a:solidFill>
                <a:latin typeface="Segoe UI"/>
              </a:defRPr>
            </a:pPr>
            <a:r>
              <a:t>The Post-Meeting Information Void</a:t>
            </a:r>
          </a:p>
          <a:p>
            <a:pPr>
              <a:spcBef>
                <a:spcPts val="500"/>
              </a:spcBef>
              <a:defRPr sz="1050">
                <a:solidFill>
                  <a:srgbClr val="9CA3AF"/>
                </a:solidFill>
                <a:latin typeface="Segoe UI"/>
              </a:defRPr>
            </a:pPr>
            <a:r>
              <a:t>Organizers spend hours in planning syncs, but verbal commitments and whiteboard notes rarely get entered into an accountable task system with clear deadlines and named owners.</a:t>
            </a:r>
          </a:p>
        </p:txBody>
      </p:sp>
      <p:sp>
        <p:nvSpPr>
          <p:cNvPr id="10" name="Rectangle 9"/>
          <p:cNvSpPr/>
          <p:nvPr/>
        </p:nvSpPr>
        <p:spPr>
          <a:xfrm>
            <a:off x="7315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251960"/>
            <a:ext cx="4663440" cy="1645920"/>
          </a:xfrm>
          <a:prstGeom prst="rect">
            <a:avLst/>
          </a:prstGeom>
          <a:noFill/>
        </p:spPr>
        <p:txBody>
          <a:bodyPr wrap="square">
            <a:spAutoFit/>
          </a:bodyPr>
          <a:lstStyle/>
          <a:p>
            <a:pPr>
              <a:defRPr sz="1000" b="1">
                <a:solidFill>
                  <a:srgbClr val="FF2D55"/>
                </a:solidFill>
                <a:latin typeface="Segoe UI"/>
              </a:defRPr>
            </a:pPr>
            <a:r>
              <a:t>03 / VOLUNTEER DISENGAGEMENT</a:t>
            </a:r>
          </a:p>
          <a:p>
            <a:pPr>
              <a:spcBef>
                <a:spcPts val="300"/>
              </a:spcBef>
              <a:defRPr sz="1400" b="1">
                <a:solidFill>
                  <a:srgbClr val="FFFFFF"/>
                </a:solidFill>
                <a:latin typeface="Segoe UI"/>
              </a:defRPr>
            </a:pPr>
            <a:r>
              <a:t>Unmatched Volunteer Allocation</a:t>
            </a:r>
          </a:p>
          <a:p>
            <a:pPr>
              <a:spcBef>
                <a:spcPts val="500"/>
              </a:spcBef>
              <a:defRPr sz="1050">
                <a:solidFill>
                  <a:srgbClr val="9CA3AF"/>
                </a:solidFill>
                <a:latin typeface="Segoe UI"/>
              </a:defRPr>
            </a:pPr>
            <a:r>
              <a:t>Student volunteers are assigned tasks without visibility into their actual technical skills or schedule availability, leading to duplicated efforts, confusion, and organizer burnout.</a:t>
            </a:r>
          </a:p>
        </p:txBody>
      </p:sp>
      <p:sp>
        <p:nvSpPr>
          <p:cNvPr id="12" name="Rectangle 11"/>
          <p:cNvSpPr/>
          <p:nvPr/>
        </p:nvSpPr>
        <p:spPr>
          <a:xfrm>
            <a:off x="62179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251960"/>
            <a:ext cx="4663440" cy="1645920"/>
          </a:xfrm>
          <a:prstGeom prst="rect">
            <a:avLst/>
          </a:prstGeom>
          <a:noFill/>
        </p:spPr>
        <p:txBody>
          <a:bodyPr wrap="square">
            <a:spAutoFit/>
          </a:bodyPr>
          <a:lstStyle/>
          <a:p>
            <a:pPr>
              <a:defRPr sz="1000" b="1">
                <a:solidFill>
                  <a:srgbClr val="FF2D55"/>
                </a:solidFill>
                <a:latin typeface="Segoe UI"/>
              </a:defRPr>
            </a:pPr>
            <a:r>
              <a:t>04 / RISK BLINDSPOTS</a:t>
            </a:r>
          </a:p>
          <a:p>
            <a:pPr>
              <a:spcBef>
                <a:spcPts val="300"/>
              </a:spcBef>
              <a:defRPr sz="1400" b="1">
                <a:solidFill>
                  <a:srgbClr val="FFFFFF"/>
                </a:solidFill>
                <a:latin typeface="Segoe UI"/>
              </a:defRPr>
            </a:pPr>
            <a:r>
              <a:t>Buried Compliance &amp; Safety Guidelines</a:t>
            </a:r>
          </a:p>
          <a:p>
            <a:pPr>
              <a:spcBef>
                <a:spcPts val="500"/>
              </a:spcBef>
              <a:defRPr sz="1050">
                <a:solidFill>
                  <a:srgbClr val="9CA3AF"/>
                </a:solidFill>
                <a:latin typeface="Segoe UI"/>
              </a:defRPr>
            </a:pPr>
            <a:r>
              <a:t>University auditorium curfews, power load limits, and fire evacuation protocols remain inside 30-page PDF documents that students don't read until a logistical conflict occurs on event day.</a:t>
            </a:r>
          </a:p>
        </p:txBody>
      </p:sp>
      <p:sp>
        <p:nvSpPr>
          <p:cNvPr id="14" name="TextBox 1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3 of 30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SYSTEM COMPARISON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The Status Quo vs. The ClubOps AI Approach</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Comparing traditional ad-hoc coordination against a centralized, assisted platform.</a:t>
            </a:r>
          </a:p>
        </p:txBody>
      </p:sp>
      <p:sp>
        <p:nvSpPr>
          <p:cNvPr id="6" name="Rectangle 5"/>
          <p:cNvSpPr/>
          <p:nvPr/>
        </p:nvSpPr>
        <p:spPr>
          <a:xfrm>
            <a:off x="731520" y="1691640"/>
            <a:ext cx="52120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19"/>
            <a:ext cx="4663440" cy="4114800"/>
          </a:xfrm>
          <a:prstGeom prst="rect">
            <a:avLst/>
          </a:prstGeom>
          <a:noFill/>
        </p:spPr>
        <p:txBody>
          <a:bodyPr wrap="square">
            <a:spAutoFit/>
          </a:bodyPr>
          <a:lstStyle/>
          <a:p>
            <a:pPr>
              <a:defRPr sz="1100" b="1">
                <a:solidFill>
                  <a:srgbClr val="FF2D55"/>
                </a:solidFill>
                <a:latin typeface="Segoe UI"/>
              </a:defRPr>
            </a:pPr>
            <a:r>
              <a:t>TRADITIONAL AD-HOC COORDINATION</a:t>
            </a:r>
          </a:p>
          <a:p>
            <a:pPr>
              <a:spcBef>
                <a:spcPts val="800"/>
              </a:spcBef>
              <a:defRPr sz="1150" b="1">
                <a:solidFill>
                  <a:srgbClr val="FFFFFF"/>
                </a:solidFill>
                <a:latin typeface="Segoe UI"/>
              </a:defRPr>
            </a:pPr>
            <a:r>
              <a:t>• WhatsApp &amp; Discord Chats</a:t>
            </a:r>
          </a:p>
          <a:p>
            <a:pPr>
              <a:spcBef>
                <a:spcPts val="100"/>
              </a:spcBef>
              <a:defRPr sz="1000">
                <a:solidFill>
                  <a:srgbClr val="9CA3AF"/>
                </a:solidFill>
                <a:latin typeface="Segoe UI"/>
              </a:defRPr>
            </a:pPr>
            <a:r>
              <a:t>No structured task tracking; messages are ephemeral and ownership is ambiguous.</a:t>
            </a:r>
          </a:p>
          <a:p>
            <a:pPr>
              <a:spcBef>
                <a:spcPts val="800"/>
              </a:spcBef>
              <a:defRPr sz="1150" b="1">
                <a:solidFill>
                  <a:srgbClr val="FFFFFF"/>
                </a:solidFill>
                <a:latin typeface="Segoe UI"/>
              </a:defRPr>
            </a:pPr>
            <a:r>
              <a:t>• Unmaintained Spreadsheets</a:t>
            </a:r>
          </a:p>
          <a:p>
            <a:pPr>
              <a:spcBef>
                <a:spcPts val="100"/>
              </a:spcBef>
              <a:defRPr sz="1000">
                <a:solidFill>
                  <a:srgbClr val="9CA3AF"/>
                </a:solidFill>
                <a:latin typeface="Segoe UI"/>
              </a:defRPr>
            </a:pPr>
            <a:r>
              <a:t>Requires high manual effort to keep updated; quickly abandoned during intense hackathon hours.</a:t>
            </a:r>
          </a:p>
          <a:p>
            <a:pPr>
              <a:spcBef>
                <a:spcPts val="800"/>
              </a:spcBef>
              <a:defRPr sz="1150" b="1">
                <a:solidFill>
                  <a:srgbClr val="FFFFFF"/>
                </a:solidFill>
                <a:latin typeface="Segoe UI"/>
              </a:defRPr>
            </a:pPr>
            <a:r>
              <a:t>• Static PDF Rulebooks</a:t>
            </a:r>
          </a:p>
          <a:p>
            <a:pPr>
              <a:spcBef>
                <a:spcPts val="100"/>
              </a:spcBef>
              <a:defRPr sz="1000">
                <a:solidFill>
                  <a:srgbClr val="9CA3AF"/>
                </a:solidFill>
                <a:latin typeface="Segoe UI"/>
              </a:defRPr>
            </a:pPr>
            <a:r>
              <a:t>Guideline documents are rarely opened; policy questions require interrupting lead organizers.</a:t>
            </a:r>
          </a:p>
          <a:p>
            <a:pPr>
              <a:spcBef>
                <a:spcPts val="800"/>
              </a:spcBef>
              <a:defRPr sz="1150" b="1">
                <a:solidFill>
                  <a:srgbClr val="FFFFFF"/>
                </a:solidFill>
                <a:latin typeface="Segoe UI"/>
              </a:defRPr>
            </a:pPr>
            <a:r>
              <a:t>• Disconnected Generic AI Chat</a:t>
            </a:r>
          </a:p>
          <a:p>
            <a:pPr>
              <a:spcBef>
                <a:spcPts val="100"/>
              </a:spcBef>
              <a:defRPr sz="1000">
                <a:solidFill>
                  <a:srgbClr val="9CA3AF"/>
                </a:solidFill>
                <a:latin typeface="Segoe UI"/>
              </a:defRPr>
            </a:pPr>
            <a:r>
              <a:t>Public LLM tools write generic emails, but cannot view your club database or log real tasks.</a:t>
            </a:r>
          </a:p>
        </p:txBody>
      </p:sp>
      <p:sp>
        <p:nvSpPr>
          <p:cNvPr id="8" name="Rectangle 7"/>
          <p:cNvSpPr/>
          <p:nvPr/>
        </p:nvSpPr>
        <p:spPr>
          <a:xfrm>
            <a:off x="6217920" y="1691640"/>
            <a:ext cx="5212080" cy="4480560"/>
          </a:xfrm>
          <a:prstGeom prst="rect">
            <a:avLst/>
          </a:prstGeom>
          <a:solidFill>
            <a:srgbClr val="F5F3EE"/>
          </a:solidFill>
          <a:ln w="12700">
            <a:solidFill>
              <a:srgbClr val="DA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19"/>
            <a:ext cx="4663440" cy="4114800"/>
          </a:xfrm>
          <a:prstGeom prst="rect">
            <a:avLst/>
          </a:prstGeom>
          <a:noFill/>
        </p:spPr>
        <p:txBody>
          <a:bodyPr wrap="square">
            <a:spAutoFit/>
          </a:bodyPr>
          <a:lstStyle/>
          <a:p>
            <a:pPr>
              <a:defRPr sz="1100" b="1">
                <a:solidFill>
                  <a:srgbClr val="FF2D55"/>
                </a:solidFill>
                <a:latin typeface="Segoe UI"/>
              </a:defRPr>
            </a:pPr>
            <a:r>
              <a:t>THE CLUBOPS AI PLATFORM APPROACH</a:t>
            </a:r>
          </a:p>
          <a:p>
            <a:pPr>
              <a:spcBef>
                <a:spcPts val="800"/>
              </a:spcBef>
              <a:defRPr sz="1150" b="1">
                <a:solidFill>
                  <a:srgbClr val="0F1117"/>
                </a:solidFill>
                <a:latin typeface="Segoe UI"/>
              </a:defRPr>
            </a:pPr>
            <a:r>
              <a:t>• Unified Operations Workspace</a:t>
            </a:r>
          </a:p>
          <a:p>
            <a:pPr>
              <a:spcBef>
                <a:spcPts val="100"/>
              </a:spcBef>
              <a:defRPr sz="1000">
                <a:solidFill>
                  <a:srgbClr val="2D313A"/>
                </a:solidFill>
                <a:latin typeface="Segoe UI"/>
              </a:defRPr>
            </a:pPr>
            <a:r>
              <a:t>Single dashboard for multi-event lifecycles, volunteer rosters, task boards, and risks.</a:t>
            </a:r>
          </a:p>
          <a:p>
            <a:pPr>
              <a:spcBef>
                <a:spcPts val="800"/>
              </a:spcBef>
              <a:defRPr sz="1150" b="1">
                <a:solidFill>
                  <a:srgbClr val="0F1117"/>
                </a:solidFill>
                <a:latin typeface="Segoe UI"/>
              </a:defRPr>
            </a:pPr>
            <a:r>
              <a:t>• Meeting Transcript Synthesis</a:t>
            </a:r>
          </a:p>
          <a:p>
            <a:pPr>
              <a:spcBef>
                <a:spcPts val="100"/>
              </a:spcBef>
              <a:defRPr sz="1000">
                <a:solidFill>
                  <a:srgbClr val="2D313A"/>
                </a:solidFill>
                <a:latin typeface="Segoe UI"/>
              </a:defRPr>
            </a:pPr>
            <a:r>
              <a:t>Pastes transcripts directly into Gemini to generate structured drafts of tasks and risks.</a:t>
            </a:r>
          </a:p>
          <a:p>
            <a:pPr>
              <a:spcBef>
                <a:spcPts val="800"/>
              </a:spcBef>
              <a:defRPr sz="1150" b="1">
                <a:solidFill>
                  <a:srgbClr val="0F1117"/>
                </a:solidFill>
                <a:latin typeface="Segoe UI"/>
              </a:defRPr>
            </a:pPr>
            <a:r>
              <a:t>• In-Process RAG Document Search</a:t>
            </a:r>
          </a:p>
          <a:p>
            <a:pPr>
              <a:spcBef>
                <a:spcPts val="100"/>
              </a:spcBef>
              <a:defRPr sz="1000">
                <a:solidFill>
                  <a:srgbClr val="2D313A"/>
                </a:solidFill>
                <a:latin typeface="Segoe UI"/>
              </a:defRPr>
            </a:pPr>
            <a:r>
              <a:t>Searches institutional guidelines and venue permits using vector similarity embeddings.</a:t>
            </a:r>
          </a:p>
          <a:p>
            <a:pPr>
              <a:spcBef>
                <a:spcPts val="800"/>
              </a:spcBef>
              <a:defRPr sz="1150" b="1">
                <a:solidFill>
                  <a:srgbClr val="0F1117"/>
                </a:solidFill>
                <a:latin typeface="Segoe UI"/>
              </a:defRPr>
            </a:pPr>
            <a:r>
              <a:t>• Validated Assistant Execution</a:t>
            </a:r>
          </a:p>
          <a:p>
            <a:pPr>
              <a:spcBef>
                <a:spcPts val="100"/>
              </a:spcBef>
              <a:defRPr sz="1000">
                <a:solidFill>
                  <a:srgbClr val="2D313A"/>
                </a:solidFill>
                <a:latin typeface="Segoe UI"/>
              </a:defRPr>
            </a:pPr>
            <a:r>
              <a:t>Natural language commands mapped to backend tools with Mongoose schema validation.</a:t>
            </a:r>
          </a:p>
        </p:txBody>
      </p:sp>
      <p:sp>
        <p:nvSpPr>
          <p:cNvPr id="10" name="TextBox 9"/>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4 of 30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DATA FLOW PIPELINE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The End-to-End Operational Pipeline</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Decoupling AI extraction from database persistence through strict server-side validation.</a:t>
            </a:r>
          </a:p>
        </p:txBody>
      </p:sp>
      <p:sp>
        <p:nvSpPr>
          <p:cNvPr id="6" name="Rectangle 5"/>
          <p:cNvSpPr/>
          <p:nvPr/>
        </p:nvSpPr>
        <p:spPr>
          <a:xfrm>
            <a:off x="731520"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20240"/>
            <a:ext cx="2121408" cy="4023360"/>
          </a:xfrm>
          <a:prstGeom prst="rect">
            <a:avLst/>
          </a:prstGeom>
          <a:noFill/>
        </p:spPr>
        <p:txBody>
          <a:bodyPr wrap="square">
            <a:spAutoFit/>
          </a:bodyPr>
          <a:lstStyle/>
          <a:p>
            <a:pPr>
              <a:defRPr sz="1000" b="1">
                <a:solidFill>
                  <a:srgbClr val="FF2D55"/>
                </a:solidFill>
                <a:latin typeface="Segoe UI"/>
              </a:defRPr>
            </a:pPr>
            <a:r>
              <a:t>STAGE 01</a:t>
            </a:r>
          </a:p>
          <a:p>
            <a:pPr>
              <a:spcBef>
                <a:spcPts val="200"/>
              </a:spcBef>
              <a:defRPr sz="1600" b="1">
                <a:solidFill>
                  <a:srgbClr val="FFFFFF"/>
                </a:solidFill>
                <a:latin typeface="Segoe UI"/>
              </a:defRPr>
            </a:pPr>
            <a:r>
              <a:t>INGEST</a:t>
            </a:r>
          </a:p>
          <a:p>
            <a:pPr>
              <a:spcBef>
                <a:spcPts val="1000"/>
              </a:spcBef>
              <a:defRPr sz="1100" b="1">
                <a:solidFill>
                  <a:srgbClr val="FFFFFF"/>
                </a:solidFill>
                <a:latin typeface="Segoe UI"/>
              </a:defRPr>
            </a:pPr>
            <a:r>
              <a:t>• Raw Transcripts</a:t>
            </a:r>
          </a:p>
          <a:p>
            <a:pPr>
              <a:spcBef>
                <a:spcPts val="200"/>
              </a:spcBef>
              <a:defRPr sz="950">
                <a:solidFill>
                  <a:srgbClr val="9CA3AF"/>
                </a:solidFill>
                <a:latin typeface="Segoe UI"/>
              </a:defRPr>
            </a:pPr>
            <a:r>
              <a:t>Multi-speaker transcripts submitted from team syncs.</a:t>
            </a:r>
          </a:p>
          <a:p>
            <a:pPr>
              <a:spcBef>
                <a:spcPts val="1000"/>
              </a:spcBef>
              <a:defRPr sz="1100" b="1">
                <a:solidFill>
                  <a:srgbClr val="FFFFFF"/>
                </a:solidFill>
                <a:latin typeface="Segoe UI"/>
              </a:defRPr>
            </a:pPr>
            <a:r>
              <a:t>• PDF Documents</a:t>
            </a:r>
          </a:p>
          <a:p>
            <a:pPr>
              <a:spcBef>
                <a:spcPts val="200"/>
              </a:spcBef>
              <a:defRPr sz="950">
                <a:solidFill>
                  <a:srgbClr val="9CA3AF"/>
                </a:solidFill>
                <a:latin typeface="Segoe UI"/>
              </a:defRPr>
            </a:pPr>
            <a:r>
              <a:t>Campus venue rules, safety policies, and hackathon guidelines.</a:t>
            </a:r>
          </a:p>
          <a:p>
            <a:pPr>
              <a:spcBef>
                <a:spcPts val="1000"/>
              </a:spcBef>
              <a:defRPr sz="1100" b="1">
                <a:solidFill>
                  <a:srgbClr val="FFFFFF"/>
                </a:solidFill>
                <a:latin typeface="Segoe UI"/>
              </a:defRPr>
            </a:pPr>
            <a:r>
              <a:t>• Text Commands</a:t>
            </a:r>
          </a:p>
          <a:p>
            <a:pPr>
              <a:spcBef>
                <a:spcPts val="200"/>
              </a:spcBef>
              <a:defRPr sz="950">
                <a:solidFill>
                  <a:srgbClr val="9CA3AF"/>
                </a:solidFill>
                <a:latin typeface="Segoe UI"/>
              </a:defRPr>
            </a:pPr>
            <a:r>
              <a:t>Operational instructions entered via the assistant bar.</a:t>
            </a:r>
          </a:p>
        </p:txBody>
      </p:sp>
      <p:sp>
        <p:nvSpPr>
          <p:cNvPr id="8" name="Rectangle 7"/>
          <p:cNvSpPr/>
          <p:nvPr/>
        </p:nvSpPr>
        <p:spPr>
          <a:xfrm>
            <a:off x="3447288"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30168" y="1920240"/>
            <a:ext cx="2121408" cy="4023360"/>
          </a:xfrm>
          <a:prstGeom prst="rect">
            <a:avLst/>
          </a:prstGeom>
          <a:noFill/>
        </p:spPr>
        <p:txBody>
          <a:bodyPr wrap="square">
            <a:spAutoFit/>
          </a:bodyPr>
          <a:lstStyle/>
          <a:p>
            <a:pPr>
              <a:defRPr sz="1000" b="1">
                <a:solidFill>
                  <a:srgbClr val="FF2D55"/>
                </a:solidFill>
                <a:latin typeface="Segoe UI"/>
              </a:defRPr>
            </a:pPr>
            <a:r>
              <a:t>STAGE 02</a:t>
            </a:r>
          </a:p>
          <a:p>
            <a:pPr>
              <a:spcBef>
                <a:spcPts val="200"/>
              </a:spcBef>
              <a:defRPr sz="1600" b="1">
                <a:solidFill>
                  <a:srgbClr val="FFFFFF"/>
                </a:solidFill>
                <a:latin typeface="Segoe UI"/>
              </a:defRPr>
            </a:pPr>
            <a:r>
              <a:t>STRUCTURE</a:t>
            </a:r>
          </a:p>
          <a:p>
            <a:pPr>
              <a:spcBef>
                <a:spcPts val="1000"/>
              </a:spcBef>
              <a:defRPr sz="1100" b="1">
                <a:solidFill>
                  <a:srgbClr val="FFFFFF"/>
                </a:solidFill>
                <a:latin typeface="Segoe UI"/>
              </a:defRPr>
            </a:pPr>
            <a:r>
              <a:t>• Gemini Extraction</a:t>
            </a:r>
          </a:p>
          <a:p>
            <a:pPr>
              <a:spcBef>
                <a:spcPts val="200"/>
              </a:spcBef>
              <a:defRPr sz="950">
                <a:solidFill>
                  <a:srgbClr val="9CA3AF"/>
                </a:solidFill>
                <a:latin typeface="Segoe UI"/>
              </a:defRPr>
            </a:pPr>
            <a:r>
              <a:t>Prompts constrained to return typed JSON schemas.</a:t>
            </a:r>
          </a:p>
          <a:p>
            <a:pPr>
              <a:spcBef>
                <a:spcPts val="1000"/>
              </a:spcBef>
              <a:defRPr sz="1100" b="1">
                <a:solidFill>
                  <a:srgbClr val="FFFFFF"/>
                </a:solidFill>
                <a:latin typeface="Segoe UI"/>
              </a:defRPr>
            </a:pPr>
            <a:r>
              <a:t>• RAG Chunking</a:t>
            </a:r>
          </a:p>
          <a:p>
            <a:pPr>
              <a:spcBef>
                <a:spcPts val="200"/>
              </a:spcBef>
              <a:defRPr sz="950">
                <a:solidFill>
                  <a:srgbClr val="9CA3AF"/>
                </a:solidFill>
                <a:latin typeface="Segoe UI"/>
              </a:defRPr>
            </a:pPr>
            <a:r>
              <a:t>Documents split into 400-char segments with 40-char overlap.</a:t>
            </a:r>
          </a:p>
          <a:p>
            <a:pPr>
              <a:spcBef>
                <a:spcPts val="1000"/>
              </a:spcBef>
              <a:defRPr sz="1100" b="1">
                <a:solidFill>
                  <a:srgbClr val="FFFFFF"/>
                </a:solidFill>
                <a:latin typeface="Segoe UI"/>
              </a:defRPr>
            </a:pPr>
            <a:r>
              <a:t>• Vector Embeddings</a:t>
            </a:r>
          </a:p>
          <a:p>
            <a:pPr>
              <a:spcBef>
                <a:spcPts val="200"/>
              </a:spcBef>
              <a:defRPr sz="950">
                <a:solidFill>
                  <a:srgbClr val="9CA3AF"/>
                </a:solidFill>
                <a:latin typeface="Segoe UI"/>
              </a:defRPr>
            </a:pPr>
            <a:r>
              <a:t>Text converted to dense vectors for cosine similarity matching.</a:t>
            </a:r>
          </a:p>
        </p:txBody>
      </p:sp>
      <p:sp>
        <p:nvSpPr>
          <p:cNvPr id="10" name="Rectangle 9"/>
          <p:cNvSpPr/>
          <p:nvPr/>
        </p:nvSpPr>
        <p:spPr>
          <a:xfrm>
            <a:off x="6163056"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45936" y="1920240"/>
            <a:ext cx="2121408" cy="4023360"/>
          </a:xfrm>
          <a:prstGeom prst="rect">
            <a:avLst/>
          </a:prstGeom>
          <a:noFill/>
        </p:spPr>
        <p:txBody>
          <a:bodyPr wrap="square">
            <a:spAutoFit/>
          </a:bodyPr>
          <a:lstStyle/>
          <a:p>
            <a:pPr>
              <a:defRPr sz="1000" b="1">
                <a:solidFill>
                  <a:srgbClr val="FF2D55"/>
                </a:solidFill>
                <a:latin typeface="Segoe UI"/>
              </a:defRPr>
            </a:pPr>
            <a:r>
              <a:t>STAGE 03</a:t>
            </a:r>
          </a:p>
          <a:p>
            <a:pPr>
              <a:spcBef>
                <a:spcPts val="200"/>
              </a:spcBef>
              <a:defRPr sz="1600" b="1">
                <a:solidFill>
                  <a:srgbClr val="FFFFFF"/>
                </a:solidFill>
                <a:latin typeface="Segoe UI"/>
              </a:defRPr>
            </a:pPr>
            <a:r>
              <a:t>VALIDATE</a:t>
            </a:r>
          </a:p>
          <a:p>
            <a:pPr>
              <a:spcBef>
                <a:spcPts val="1000"/>
              </a:spcBef>
              <a:defRPr sz="1100" b="1">
                <a:solidFill>
                  <a:srgbClr val="FFFFFF"/>
                </a:solidFill>
                <a:latin typeface="Segoe UI"/>
              </a:defRPr>
            </a:pPr>
            <a:r>
              <a:t>• JWT &amp; RBAC Check</a:t>
            </a:r>
          </a:p>
          <a:p>
            <a:pPr>
              <a:spcBef>
                <a:spcPts val="200"/>
              </a:spcBef>
              <a:defRPr sz="950">
                <a:solidFill>
                  <a:srgbClr val="9CA3AF"/>
                </a:solidFill>
                <a:latin typeface="Segoe UI"/>
              </a:defRPr>
            </a:pPr>
            <a:r>
              <a:t>Verifies user identity, club affiliation, and permissions.</a:t>
            </a:r>
          </a:p>
          <a:p>
            <a:pPr>
              <a:spcBef>
                <a:spcPts val="1000"/>
              </a:spcBef>
              <a:defRPr sz="1100" b="1">
                <a:solidFill>
                  <a:srgbClr val="FFFFFF"/>
                </a:solidFill>
                <a:latin typeface="Segoe UI"/>
              </a:defRPr>
            </a:pPr>
            <a:r>
              <a:t>• Name Resolution</a:t>
            </a:r>
          </a:p>
          <a:p>
            <a:pPr>
              <a:spcBef>
                <a:spcPts val="200"/>
              </a:spcBef>
              <a:defRPr sz="950">
                <a:solidFill>
                  <a:srgbClr val="9CA3AF"/>
                </a:solidFill>
                <a:latin typeface="Segoe UI"/>
              </a:defRPr>
            </a:pPr>
            <a:r>
              <a:t>Matches spoken names (e.g. 'Maya') to valid MongoDB User IDs.</a:t>
            </a:r>
          </a:p>
          <a:p>
            <a:pPr>
              <a:spcBef>
                <a:spcPts val="1000"/>
              </a:spcBef>
              <a:defRPr sz="1100" b="1">
                <a:solidFill>
                  <a:srgbClr val="FFFFFF"/>
                </a:solidFill>
                <a:latin typeface="Segoe UI"/>
              </a:defRPr>
            </a:pPr>
            <a:r>
              <a:t>• Schema Guards</a:t>
            </a:r>
          </a:p>
          <a:p>
            <a:pPr>
              <a:spcBef>
                <a:spcPts val="200"/>
              </a:spcBef>
              <a:defRPr sz="950">
                <a:solidFill>
                  <a:srgbClr val="9CA3AF"/>
                </a:solidFill>
                <a:latin typeface="Segoe UI"/>
              </a:defRPr>
            </a:pPr>
            <a:r>
              <a:t>Checks required fields, valid status enums, and dates.</a:t>
            </a:r>
          </a:p>
        </p:txBody>
      </p:sp>
      <p:sp>
        <p:nvSpPr>
          <p:cNvPr id="12" name="Rectangle 11"/>
          <p:cNvSpPr/>
          <p:nvPr/>
        </p:nvSpPr>
        <p:spPr>
          <a:xfrm>
            <a:off x="8878824"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61704" y="1920240"/>
            <a:ext cx="2121408" cy="4023360"/>
          </a:xfrm>
          <a:prstGeom prst="rect">
            <a:avLst/>
          </a:prstGeom>
          <a:noFill/>
        </p:spPr>
        <p:txBody>
          <a:bodyPr wrap="square">
            <a:spAutoFit/>
          </a:bodyPr>
          <a:lstStyle/>
          <a:p>
            <a:pPr>
              <a:defRPr sz="1000" b="1">
                <a:solidFill>
                  <a:srgbClr val="FF2D55"/>
                </a:solidFill>
                <a:latin typeface="Segoe UI"/>
              </a:defRPr>
            </a:pPr>
            <a:r>
              <a:t>STAGE 04</a:t>
            </a:r>
          </a:p>
          <a:p>
            <a:pPr>
              <a:spcBef>
                <a:spcPts val="200"/>
              </a:spcBef>
              <a:defRPr sz="1600" b="1">
                <a:solidFill>
                  <a:srgbClr val="FFFFFF"/>
                </a:solidFill>
                <a:latin typeface="Segoe UI"/>
              </a:defRPr>
            </a:pPr>
            <a:r>
              <a:t>COMMIT &amp; JOB</a:t>
            </a:r>
          </a:p>
          <a:p>
            <a:pPr>
              <a:spcBef>
                <a:spcPts val="1000"/>
              </a:spcBef>
              <a:defRPr sz="1100" b="1">
                <a:solidFill>
                  <a:srgbClr val="FFFFFF"/>
                </a:solidFill>
                <a:latin typeface="Segoe UI"/>
              </a:defRPr>
            </a:pPr>
            <a:r>
              <a:t>• MongoDB Mutation</a:t>
            </a:r>
          </a:p>
          <a:p>
            <a:pPr>
              <a:spcBef>
                <a:spcPts val="200"/>
              </a:spcBef>
              <a:defRPr sz="950">
                <a:solidFill>
                  <a:srgbClr val="9CA3AF"/>
                </a:solidFill>
                <a:latin typeface="Segoe UI"/>
              </a:defRPr>
            </a:pPr>
            <a:r>
              <a:t>Writes atomic updates across collections via Mongoose.</a:t>
            </a:r>
          </a:p>
          <a:p>
            <a:pPr>
              <a:spcBef>
                <a:spcPts val="1000"/>
              </a:spcBef>
              <a:defRPr sz="1100" b="1">
                <a:solidFill>
                  <a:srgbClr val="FFFFFF"/>
                </a:solidFill>
                <a:latin typeface="Segoe UI"/>
              </a:defRPr>
            </a:pPr>
            <a:r>
              <a:t>• Audit Trail</a:t>
            </a:r>
          </a:p>
          <a:p>
            <a:pPr>
              <a:spcBef>
                <a:spcPts val="200"/>
              </a:spcBef>
              <a:defRPr sz="950">
                <a:solidFill>
                  <a:srgbClr val="9CA3AF"/>
                </a:solidFill>
                <a:latin typeface="Segoe UI"/>
              </a:defRPr>
            </a:pPr>
            <a:r>
              <a:t>Logs agent actions in AgentAction collection.</a:t>
            </a:r>
          </a:p>
          <a:p>
            <a:pPr>
              <a:spcBef>
                <a:spcPts val="1000"/>
              </a:spcBef>
              <a:defRPr sz="1100" b="1">
                <a:solidFill>
                  <a:srgbClr val="FFFFFF"/>
                </a:solidFill>
                <a:latin typeface="Segoe UI"/>
              </a:defRPr>
            </a:pPr>
            <a:r>
              <a:t>• Scheduled Jobs</a:t>
            </a:r>
          </a:p>
          <a:p>
            <a:pPr>
              <a:spcBef>
                <a:spcPts val="200"/>
              </a:spcBef>
              <a:defRPr sz="950">
                <a:solidFill>
                  <a:srgbClr val="9CA3AF"/>
                </a:solidFill>
                <a:latin typeface="Segoe UI"/>
              </a:defRPr>
            </a:pPr>
            <a:r>
              <a:t>Background workers check approaching task deadlines.</a:t>
            </a:r>
          </a:p>
        </p:txBody>
      </p:sp>
      <p:sp>
        <p:nvSpPr>
          <p:cNvPr id="14" name="TextBox 1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5 of 30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USER ROLES</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Designed for Campus Club Stakeholders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Tailored views and permissions for club presidents, event organizers, and student volunteers.</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EXECUTIVE OVERSIGHT</a:t>
            </a:r>
          </a:p>
          <a:p>
            <a:pPr>
              <a:spcBef>
                <a:spcPts val="300"/>
              </a:spcBef>
              <a:defRPr sz="1500" b="1">
                <a:solidFill>
                  <a:srgbClr val="FFFFFF"/>
                </a:solidFill>
                <a:latin typeface="Segoe UI"/>
              </a:defRPr>
            </a:pPr>
            <a:r>
              <a:t>Club President &amp; Admin</a:t>
            </a:r>
          </a:p>
          <a:p>
            <a:pPr>
              <a:spcBef>
                <a:spcPts val="1200"/>
              </a:spcBef>
              <a:defRPr sz="1000" b="1">
                <a:solidFill>
                  <a:srgbClr val="FF2D55"/>
                </a:solidFill>
                <a:latin typeface="Segoe UI"/>
              </a:defRPr>
            </a:pPr>
            <a:r>
              <a:t>CORE RESPONSIBILITIES</a:t>
            </a:r>
          </a:p>
          <a:p>
            <a:pPr>
              <a:spcBef>
                <a:spcPts val="200"/>
              </a:spcBef>
              <a:defRPr sz="1050">
                <a:solidFill>
                  <a:srgbClr val="9CA3AF"/>
                </a:solidFill>
                <a:latin typeface="Segoe UI"/>
              </a:defRPr>
            </a:pPr>
            <a:r>
              <a:t>Club governance, executive decisions, roster management, and institutional university compliance.</a:t>
            </a:r>
          </a:p>
          <a:p>
            <a:pPr>
              <a:spcBef>
                <a:spcPts val="1200"/>
              </a:spcBef>
              <a:defRPr sz="1000" b="1">
                <a:solidFill>
                  <a:srgbClr val="FF2D55"/>
                </a:solidFill>
                <a:latin typeface="Segoe UI"/>
              </a:defRPr>
            </a:pPr>
            <a:r>
              <a:t>PLATFORM FEATURES</a:t>
            </a:r>
          </a:p>
          <a:p>
            <a:pPr>
              <a:spcBef>
                <a:spcPts val="200"/>
              </a:spcBef>
              <a:defRPr sz="1050">
                <a:solidFill>
                  <a:srgbClr val="9CA3AF"/>
                </a:solidFill>
                <a:latin typeface="Segoe UI"/>
              </a:defRPr>
            </a:pPr>
            <a:r>
              <a:t>Club-level event switcher, user role assignment (Admin, Organizer, Member), and overall audit logs.</a:t>
            </a:r>
          </a:p>
          <a:p>
            <a:pPr>
              <a:spcBef>
                <a:spcPts val="1200"/>
              </a:spcBef>
              <a:defRPr sz="1000" b="1">
                <a:solidFill>
                  <a:srgbClr val="FF2D55"/>
                </a:solidFill>
                <a:latin typeface="Segoe UI"/>
              </a:defRPr>
            </a:pPr>
            <a:r>
              <a:t>PRIMARY BENEFIT</a:t>
            </a:r>
          </a:p>
          <a:p>
            <a:pPr>
              <a:spcBef>
                <a:spcPts val="200"/>
              </a:spcBef>
              <a:defRPr sz="1050">
                <a:solidFill>
                  <a:srgbClr val="9CA3AF"/>
                </a:solidFill>
                <a:latin typeface="Segoe UI"/>
              </a:defRPr>
            </a:pPr>
            <a:r>
              <a:t>High-level visibility across multiple concurrent hackathons, symposiums, and weekly workshops.</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EVENT OPERATIONS</a:t>
            </a:r>
          </a:p>
          <a:p>
            <a:pPr>
              <a:spcBef>
                <a:spcPts val="300"/>
              </a:spcBef>
              <a:defRPr sz="1500" b="1">
                <a:solidFill>
                  <a:srgbClr val="FFFFFF"/>
                </a:solidFill>
                <a:latin typeface="Segoe UI"/>
              </a:defRPr>
            </a:pPr>
            <a:r>
              <a:t>Event Lead &amp; Organizer</a:t>
            </a:r>
          </a:p>
          <a:p>
            <a:pPr>
              <a:spcBef>
                <a:spcPts val="1200"/>
              </a:spcBef>
              <a:defRPr sz="1000" b="1">
                <a:solidFill>
                  <a:srgbClr val="FF2D55"/>
                </a:solidFill>
                <a:latin typeface="Segoe UI"/>
              </a:defRPr>
            </a:pPr>
            <a:r>
              <a:t>CORE RESPONSIBILITIES</a:t>
            </a:r>
          </a:p>
          <a:p>
            <a:pPr>
              <a:spcBef>
                <a:spcPts val="200"/>
              </a:spcBef>
              <a:defRPr sz="1050">
                <a:solidFill>
                  <a:srgbClr val="9CA3AF"/>
                </a:solidFill>
                <a:latin typeface="Segoe UI"/>
              </a:defRPr>
            </a:pPr>
            <a:r>
              <a:t>Day-to-day sprint logistics, volunteer coordination, venue preparation, and risk monitoring.</a:t>
            </a:r>
          </a:p>
          <a:p>
            <a:pPr>
              <a:spcBef>
                <a:spcPts val="1200"/>
              </a:spcBef>
              <a:defRPr sz="1000" b="1">
                <a:solidFill>
                  <a:srgbClr val="FF2D55"/>
                </a:solidFill>
                <a:latin typeface="Segoe UI"/>
              </a:defRPr>
            </a:pPr>
            <a:r>
              <a:t>PLATFORM FEATURES</a:t>
            </a:r>
          </a:p>
          <a:p>
            <a:pPr>
              <a:spcBef>
                <a:spcPts val="200"/>
              </a:spcBef>
              <a:defRPr sz="1050">
                <a:solidFill>
                  <a:srgbClr val="9CA3AF"/>
                </a:solidFill>
                <a:latin typeface="Segoe UI"/>
              </a:defRPr>
            </a:pPr>
            <a:r>
              <a:t>Meeting transcript processing, task assignment boards, risk matrix updates, and RAG document queries.</a:t>
            </a:r>
          </a:p>
          <a:p>
            <a:pPr>
              <a:spcBef>
                <a:spcPts val="1200"/>
              </a:spcBef>
              <a:defRPr sz="1000" b="1">
                <a:solidFill>
                  <a:srgbClr val="FF2D55"/>
                </a:solidFill>
                <a:latin typeface="Segoe UI"/>
              </a:defRPr>
            </a:pPr>
            <a:r>
              <a:t>PRIMARY BENEFIT</a:t>
            </a:r>
          </a:p>
          <a:p>
            <a:pPr>
              <a:spcBef>
                <a:spcPts val="200"/>
              </a:spcBef>
              <a:defRPr sz="1050">
                <a:solidFill>
                  <a:srgbClr val="9CA3AF"/>
                </a:solidFill>
                <a:latin typeface="Segoe UI"/>
              </a:defRPr>
            </a:pPr>
            <a:r>
              <a:t>Saves significant admin time converting post-meeting notes into structured database deliverables.</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ACTIVE PARTICIPATION</a:t>
            </a:r>
          </a:p>
          <a:p>
            <a:pPr>
              <a:spcBef>
                <a:spcPts val="300"/>
              </a:spcBef>
              <a:defRPr sz="1500" b="1">
                <a:solidFill>
                  <a:srgbClr val="FFFFFF"/>
                </a:solidFill>
                <a:latin typeface="Segoe UI"/>
              </a:defRPr>
            </a:pPr>
            <a:r>
              <a:t>Volunteer &amp; Member</a:t>
            </a:r>
          </a:p>
          <a:p>
            <a:pPr>
              <a:spcBef>
                <a:spcPts val="1200"/>
              </a:spcBef>
              <a:defRPr sz="1000" b="1">
                <a:solidFill>
                  <a:srgbClr val="FF2D55"/>
                </a:solidFill>
                <a:latin typeface="Segoe UI"/>
              </a:defRPr>
            </a:pPr>
            <a:r>
              <a:t>CORE RESPONSIBILITIES</a:t>
            </a:r>
          </a:p>
          <a:p>
            <a:pPr>
              <a:spcBef>
                <a:spcPts val="200"/>
              </a:spcBef>
              <a:defRPr sz="1050">
                <a:solidFill>
                  <a:srgbClr val="9CA3AF"/>
                </a:solidFill>
                <a:latin typeface="Segoe UI"/>
              </a:defRPr>
            </a:pPr>
            <a:r>
              <a:t>Executing assigned duties on event days (AV stage setup, registration desk, logistics, hardware lab).</a:t>
            </a:r>
          </a:p>
          <a:p>
            <a:pPr>
              <a:spcBef>
                <a:spcPts val="1200"/>
              </a:spcBef>
              <a:defRPr sz="1000" b="1">
                <a:solidFill>
                  <a:srgbClr val="FF2D55"/>
                </a:solidFill>
                <a:latin typeface="Segoe UI"/>
              </a:defRPr>
            </a:pPr>
            <a:r>
              <a:t>PLATFORM FEATURES</a:t>
            </a:r>
          </a:p>
          <a:p>
            <a:pPr>
              <a:spcBef>
                <a:spcPts val="200"/>
              </a:spcBef>
              <a:defRPr sz="1050">
                <a:solidFill>
                  <a:srgbClr val="9CA3AF"/>
                </a:solidFill>
                <a:latin typeface="Segoe UI"/>
              </a:defRPr>
            </a:pPr>
            <a:r>
              <a:t>Direct task list with deadline dates, priority notification alerts, and instant guideline Q&amp;A.</a:t>
            </a:r>
          </a:p>
          <a:p>
            <a:pPr>
              <a:spcBef>
                <a:spcPts val="1200"/>
              </a:spcBef>
              <a:defRPr sz="1000" b="1">
                <a:solidFill>
                  <a:srgbClr val="FF2D55"/>
                </a:solidFill>
                <a:latin typeface="Segoe UI"/>
              </a:defRPr>
            </a:pPr>
            <a:r>
              <a:t>PRIMARY BENEFIT</a:t>
            </a:r>
          </a:p>
          <a:p>
            <a:pPr>
              <a:spcBef>
                <a:spcPts val="200"/>
              </a:spcBef>
              <a:defRPr sz="1050">
                <a:solidFill>
                  <a:srgbClr val="9CA3AF"/>
                </a:solidFill>
                <a:latin typeface="Segoe UI"/>
              </a:defRPr>
            </a:pPr>
            <a:r>
              <a:t>Clear instructions on what needs to be done without waiting for organizer announcements.</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6 of 30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PRACTICAL VALUE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Demonstrated Value in Club Operations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Targeted improvements across meeting wrap-up, task accountability, and policy search.</a:t>
            </a:r>
          </a:p>
        </p:txBody>
      </p:sp>
      <p:sp>
        <p:nvSpPr>
          <p:cNvPr id="6" name="Rectangle 5"/>
          <p:cNvSpPr/>
          <p:nvPr/>
        </p:nvSpPr>
        <p:spPr>
          <a:xfrm>
            <a:off x="7315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20"/>
            <a:ext cx="4663440" cy="1737360"/>
          </a:xfrm>
          <a:prstGeom prst="rect">
            <a:avLst/>
          </a:prstGeom>
          <a:noFill/>
        </p:spPr>
        <p:txBody>
          <a:bodyPr wrap="square">
            <a:spAutoFit/>
          </a:bodyPr>
          <a:lstStyle/>
          <a:p>
            <a:pPr>
              <a:defRPr sz="2600" b="1">
                <a:solidFill>
                  <a:srgbClr val="FF2D55"/>
                </a:solidFill>
                <a:latin typeface="Segoe UI"/>
              </a:defRPr>
            </a:pPr>
            <a:r>
              <a:t>~75% FASTER</a:t>
            </a:r>
          </a:p>
          <a:p>
            <a:pPr>
              <a:spcBef>
                <a:spcPts val="200"/>
              </a:spcBef>
              <a:defRPr sz="1400" b="1">
                <a:solidFill>
                  <a:srgbClr val="FFFFFF"/>
                </a:solidFill>
                <a:latin typeface="Segoe UI"/>
              </a:defRPr>
            </a:pPr>
            <a:r>
              <a:t>Meeting Debrief &amp; Task Drafting</a:t>
            </a:r>
          </a:p>
          <a:p>
            <a:pPr>
              <a:spcBef>
                <a:spcPts val="400"/>
              </a:spcBef>
              <a:defRPr sz="1050">
                <a:solidFill>
                  <a:srgbClr val="9CA3AF"/>
                </a:solidFill>
                <a:latin typeface="Segoe UI"/>
              </a:defRPr>
            </a:pPr>
            <a:r>
              <a:t>Pasting a raw meeting transcript into Gemini produces a structured draft of tasks, owners, and risks in ~6 seconds, replacing manual post-meeting typing and spreadsheet formatting.</a:t>
            </a:r>
          </a:p>
        </p:txBody>
      </p:sp>
      <p:sp>
        <p:nvSpPr>
          <p:cNvPr id="8" name="Rectangle 7"/>
          <p:cNvSpPr/>
          <p:nvPr/>
        </p:nvSpPr>
        <p:spPr>
          <a:xfrm>
            <a:off x="62179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20"/>
            <a:ext cx="4663440" cy="1737360"/>
          </a:xfrm>
          <a:prstGeom prst="rect">
            <a:avLst/>
          </a:prstGeom>
          <a:noFill/>
        </p:spPr>
        <p:txBody>
          <a:bodyPr wrap="square">
            <a:spAutoFit/>
          </a:bodyPr>
          <a:lstStyle/>
          <a:p>
            <a:pPr>
              <a:defRPr sz="2600" b="1">
                <a:solidFill>
                  <a:srgbClr val="FF2D55"/>
                </a:solidFill>
                <a:latin typeface="Segoe UI"/>
              </a:defRPr>
            </a:pPr>
            <a:r>
              <a:t>STRUCTURED</a:t>
            </a:r>
          </a:p>
          <a:p>
            <a:pPr>
              <a:spcBef>
                <a:spcPts val="200"/>
              </a:spcBef>
              <a:defRPr sz="1400" b="1">
                <a:solidFill>
                  <a:srgbClr val="FFFFFF"/>
                </a:solidFill>
                <a:latin typeface="Segoe UI"/>
              </a:defRPr>
            </a:pPr>
            <a:r>
              <a:t>Task Tracking &amp; Follow-Through</a:t>
            </a:r>
          </a:p>
          <a:p>
            <a:pPr>
              <a:spcBef>
                <a:spcPts val="400"/>
              </a:spcBef>
              <a:defRPr sz="1050">
                <a:solidFill>
                  <a:srgbClr val="9CA3AF"/>
                </a:solidFill>
                <a:latin typeface="Segoe UI"/>
              </a:defRPr>
            </a:pPr>
            <a:r>
              <a:t>Action items agreed upon during syncs are captured into the database with explicit owners and deadlines. Background cron jobs track approaching due dates to keep teams aligned.</a:t>
            </a:r>
          </a:p>
        </p:txBody>
      </p:sp>
      <p:sp>
        <p:nvSpPr>
          <p:cNvPr id="10" name="Rectangle 9"/>
          <p:cNvSpPr/>
          <p:nvPr/>
        </p:nvSpPr>
        <p:spPr>
          <a:xfrm>
            <a:off x="7315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206240"/>
            <a:ext cx="4663440" cy="1737360"/>
          </a:xfrm>
          <a:prstGeom prst="rect">
            <a:avLst/>
          </a:prstGeom>
          <a:noFill/>
        </p:spPr>
        <p:txBody>
          <a:bodyPr wrap="square">
            <a:spAutoFit/>
          </a:bodyPr>
          <a:lstStyle/>
          <a:p>
            <a:pPr>
              <a:defRPr sz="2600" b="1">
                <a:solidFill>
                  <a:srgbClr val="FF2D55"/>
                </a:solidFill>
                <a:latin typeface="Segoe UI"/>
              </a:defRPr>
            </a:pPr>
            <a:r>
              <a:t>EARLY AWARENESS</a:t>
            </a:r>
          </a:p>
          <a:p>
            <a:pPr>
              <a:spcBef>
                <a:spcPts val="200"/>
              </a:spcBef>
              <a:defRPr sz="1400" b="1">
                <a:solidFill>
                  <a:srgbClr val="FFFFFF"/>
                </a:solidFill>
                <a:latin typeface="Segoe UI"/>
              </a:defRPr>
            </a:pPr>
            <a:r>
              <a:t>Operational Risk Categorization</a:t>
            </a:r>
          </a:p>
          <a:p>
            <a:pPr>
              <a:spcBef>
                <a:spcPts val="400"/>
              </a:spcBef>
              <a:defRPr sz="1050">
                <a:solidFill>
                  <a:srgbClr val="9CA3AF"/>
                </a:solidFill>
                <a:latin typeface="Segoe UI"/>
              </a:defRPr>
            </a:pPr>
            <a:r>
              <a:t>Gemini highlights logistical concerns mentioned casually in discussions (e.g. Wi-Fi saturation, swag shipping delays), allowing organizers to log mitigation steps early.</a:t>
            </a:r>
          </a:p>
        </p:txBody>
      </p:sp>
      <p:sp>
        <p:nvSpPr>
          <p:cNvPr id="12" name="Rectangle 11"/>
          <p:cNvSpPr/>
          <p:nvPr/>
        </p:nvSpPr>
        <p:spPr>
          <a:xfrm>
            <a:off x="62179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206240"/>
            <a:ext cx="4663440" cy="1737360"/>
          </a:xfrm>
          <a:prstGeom prst="rect">
            <a:avLst/>
          </a:prstGeom>
          <a:noFill/>
        </p:spPr>
        <p:txBody>
          <a:bodyPr wrap="square">
            <a:spAutoFit/>
          </a:bodyPr>
          <a:lstStyle/>
          <a:p>
            <a:pPr>
              <a:defRPr sz="2600" b="1">
                <a:solidFill>
                  <a:srgbClr val="FF2D55"/>
                </a:solidFill>
                <a:latin typeface="Segoe UI"/>
              </a:defRPr>
            </a:pPr>
            <a:r>
              <a:t>INSTANT SEARCH</a:t>
            </a:r>
          </a:p>
          <a:p>
            <a:pPr>
              <a:spcBef>
                <a:spcPts val="200"/>
              </a:spcBef>
              <a:defRPr sz="1400" b="1">
                <a:solidFill>
                  <a:srgbClr val="FFFFFF"/>
                </a:solidFill>
                <a:latin typeface="Segoe UI"/>
              </a:defRPr>
            </a:pPr>
            <a:r>
              <a:t>Policy &amp; Guideline Grounding</a:t>
            </a:r>
          </a:p>
          <a:p>
            <a:pPr>
              <a:spcBef>
                <a:spcPts val="400"/>
              </a:spcBef>
              <a:defRPr sz="1050">
                <a:solidFill>
                  <a:srgbClr val="9CA3AF"/>
                </a:solidFill>
                <a:latin typeface="Segoe UI"/>
              </a:defRPr>
            </a:pPr>
            <a:r>
              <a:t>Volunteers and organizers query venue regulations, safety rules, and hackathon schedules through in-process RAG, receiving direct answers with cited document sources.</a:t>
            </a:r>
          </a:p>
        </p:txBody>
      </p:sp>
      <p:sp>
        <p:nvSpPr>
          <p:cNvPr id="14" name="TextBox 1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7 of 30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FULL-STACK ARCHITECTURE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Multi-Tier Software Architecture</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Clear separation of concerns across client, API services, AI integration, and persistence.</a:t>
            </a:r>
          </a:p>
        </p:txBody>
      </p:sp>
      <p:sp>
        <p:nvSpPr>
          <p:cNvPr id="6" name="Rectangle 5"/>
          <p:cNvSpPr/>
          <p:nvPr/>
        </p:nvSpPr>
        <p:spPr>
          <a:xfrm>
            <a:off x="731520"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20240"/>
            <a:ext cx="2121408" cy="4023360"/>
          </a:xfrm>
          <a:prstGeom prst="rect">
            <a:avLst/>
          </a:prstGeom>
          <a:noFill/>
        </p:spPr>
        <p:txBody>
          <a:bodyPr wrap="square">
            <a:spAutoFit/>
          </a:bodyPr>
          <a:lstStyle/>
          <a:p>
            <a:pPr>
              <a:defRPr sz="1200" b="1">
                <a:solidFill>
                  <a:srgbClr val="FF2D55"/>
                </a:solidFill>
                <a:latin typeface="Segoe UI"/>
              </a:defRPr>
            </a:pPr>
            <a:r>
              <a:t>FRONTEND SPA</a:t>
            </a:r>
          </a:p>
          <a:p>
            <a:pPr>
              <a:spcBef>
                <a:spcPts val="200"/>
              </a:spcBef>
              <a:defRPr sz="1000" b="1">
                <a:solidFill>
                  <a:srgbClr val="FFFFFF"/>
                </a:solidFill>
                <a:latin typeface="Segoe UI"/>
              </a:defRPr>
            </a:pPr>
            <a:r>
              <a:t>Lead: Krish Panchal</a:t>
            </a:r>
          </a:p>
          <a:p>
            <a:pPr>
              <a:spcBef>
                <a:spcPts val="800"/>
              </a:spcBef>
              <a:defRPr sz="1000" b="1">
                <a:solidFill>
                  <a:srgbClr val="FFFFFF"/>
                </a:solidFill>
                <a:latin typeface="Segoe UI"/>
              </a:defRPr>
            </a:pPr>
            <a:r>
              <a:t>• React 18 &amp; Vite</a:t>
            </a:r>
          </a:p>
          <a:p>
            <a:pPr>
              <a:spcBef>
                <a:spcPts val="100"/>
              </a:spcBef>
              <a:defRPr sz="900">
                <a:solidFill>
                  <a:srgbClr val="9CA3AF"/>
                </a:solidFill>
                <a:latin typeface="Segoe UI"/>
              </a:defRPr>
            </a:pPr>
            <a:r>
              <a:t>Single-Page Application with rapid build times and modular components.</a:t>
            </a:r>
          </a:p>
          <a:p>
            <a:pPr>
              <a:spcBef>
                <a:spcPts val="800"/>
              </a:spcBef>
              <a:defRPr sz="1000" b="1">
                <a:solidFill>
                  <a:srgbClr val="FFFFFF"/>
                </a:solidFill>
                <a:latin typeface="Segoe UI"/>
              </a:defRPr>
            </a:pPr>
            <a:r>
              <a:t>• Tailwind CSS UI</a:t>
            </a:r>
          </a:p>
          <a:p>
            <a:pPr>
              <a:spcBef>
                <a:spcPts val="100"/>
              </a:spcBef>
              <a:defRPr sz="900">
                <a:solidFill>
                  <a:srgbClr val="9CA3AF"/>
                </a:solidFill>
                <a:latin typeface="Segoe UI"/>
              </a:defRPr>
            </a:pPr>
            <a:r>
              <a:t>Neo-Brutalist design system matching dark dashboard screenshot aesthetics.</a:t>
            </a:r>
          </a:p>
          <a:p>
            <a:pPr>
              <a:spcBef>
                <a:spcPts val="800"/>
              </a:spcBef>
              <a:defRPr sz="1000" b="1">
                <a:solidFill>
                  <a:srgbClr val="FFFFFF"/>
                </a:solidFill>
                <a:latin typeface="Segoe UI"/>
              </a:defRPr>
            </a:pPr>
            <a:r>
              <a:t>• State &amp; Auth Context</a:t>
            </a:r>
          </a:p>
          <a:p>
            <a:pPr>
              <a:spcBef>
                <a:spcPts val="100"/>
              </a:spcBef>
              <a:defRPr sz="900">
                <a:solidFill>
                  <a:srgbClr val="9CA3AF"/>
                </a:solidFill>
                <a:latin typeface="Segoe UI"/>
              </a:defRPr>
            </a:pPr>
            <a:r>
              <a:t>Manages active user sessions, token storage, and event selection.</a:t>
            </a:r>
          </a:p>
          <a:p>
            <a:pPr>
              <a:spcBef>
                <a:spcPts val="800"/>
              </a:spcBef>
              <a:defRPr sz="1000" b="1">
                <a:solidFill>
                  <a:srgbClr val="FFFFFF"/>
                </a:solidFill>
                <a:latin typeface="Segoe UI"/>
              </a:defRPr>
            </a:pPr>
            <a:r>
              <a:t>• Protected Routes</a:t>
            </a:r>
          </a:p>
          <a:p>
            <a:pPr>
              <a:spcBef>
                <a:spcPts val="100"/>
              </a:spcBef>
              <a:defRPr sz="900">
                <a:solidFill>
                  <a:srgbClr val="9CA3AF"/>
                </a:solidFill>
                <a:latin typeface="Segoe UI"/>
              </a:defRPr>
            </a:pPr>
            <a:r>
              <a:t>Enforces JWT verification before dashboard layout rendering.</a:t>
            </a:r>
          </a:p>
        </p:txBody>
      </p:sp>
      <p:sp>
        <p:nvSpPr>
          <p:cNvPr id="8" name="Rectangle 7"/>
          <p:cNvSpPr/>
          <p:nvPr/>
        </p:nvSpPr>
        <p:spPr>
          <a:xfrm>
            <a:off x="3447288"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30168" y="1920240"/>
            <a:ext cx="2121408" cy="4023360"/>
          </a:xfrm>
          <a:prstGeom prst="rect">
            <a:avLst/>
          </a:prstGeom>
          <a:noFill/>
        </p:spPr>
        <p:txBody>
          <a:bodyPr wrap="square">
            <a:spAutoFit/>
          </a:bodyPr>
          <a:lstStyle/>
          <a:p>
            <a:pPr>
              <a:defRPr sz="1200" b="1">
                <a:solidFill>
                  <a:srgbClr val="FF2D55"/>
                </a:solidFill>
                <a:latin typeface="Segoe UI"/>
              </a:defRPr>
            </a:pPr>
            <a:r>
              <a:t>BACKEND REST API</a:t>
            </a:r>
          </a:p>
          <a:p>
            <a:pPr>
              <a:spcBef>
                <a:spcPts val="200"/>
              </a:spcBef>
              <a:defRPr sz="1000" b="1">
                <a:solidFill>
                  <a:srgbClr val="FFFFFF"/>
                </a:solidFill>
                <a:latin typeface="Segoe UI"/>
              </a:defRPr>
            </a:pPr>
            <a:r>
              <a:t>Lead: Krish M. Patel</a:t>
            </a:r>
          </a:p>
          <a:p>
            <a:pPr>
              <a:spcBef>
                <a:spcPts val="800"/>
              </a:spcBef>
              <a:defRPr sz="1000" b="1">
                <a:solidFill>
                  <a:srgbClr val="FFFFFF"/>
                </a:solidFill>
                <a:latin typeface="Segoe UI"/>
              </a:defRPr>
            </a:pPr>
            <a:r>
              <a:t>• Node.js &amp; Express.js</a:t>
            </a:r>
          </a:p>
          <a:p>
            <a:pPr>
              <a:spcBef>
                <a:spcPts val="100"/>
              </a:spcBef>
              <a:defRPr sz="900">
                <a:solidFill>
                  <a:srgbClr val="9CA3AF"/>
                </a:solidFill>
                <a:latin typeface="Segoe UI"/>
              </a:defRPr>
            </a:pPr>
            <a:r>
              <a:t>11 modular controllers handling CRUD operations across club entities.</a:t>
            </a:r>
          </a:p>
          <a:p>
            <a:pPr>
              <a:spcBef>
                <a:spcPts val="800"/>
              </a:spcBef>
              <a:defRPr sz="1000" b="1">
                <a:solidFill>
                  <a:srgbClr val="FFFFFF"/>
                </a:solidFill>
                <a:latin typeface="Segoe UI"/>
              </a:defRPr>
            </a:pPr>
            <a:r>
              <a:t>• Security &amp; Auth</a:t>
            </a:r>
          </a:p>
          <a:p>
            <a:pPr>
              <a:spcBef>
                <a:spcPts val="100"/>
              </a:spcBef>
              <a:defRPr sz="900">
                <a:solidFill>
                  <a:srgbClr val="9CA3AF"/>
                </a:solidFill>
                <a:latin typeface="Segoe UI"/>
              </a:defRPr>
            </a:pPr>
            <a:r>
              <a:t>BCrypt password hashing and signed JWT authorization middleware.</a:t>
            </a:r>
          </a:p>
          <a:p>
            <a:pPr>
              <a:spcBef>
                <a:spcPts val="800"/>
              </a:spcBef>
              <a:defRPr sz="1000" b="1">
                <a:solidFill>
                  <a:srgbClr val="FFFFFF"/>
                </a:solidFill>
                <a:latin typeface="Segoe UI"/>
              </a:defRPr>
            </a:pPr>
            <a:r>
              <a:t>• Scheduled Workers</a:t>
            </a:r>
          </a:p>
          <a:p>
            <a:pPr>
              <a:spcBef>
                <a:spcPts val="100"/>
              </a:spcBef>
              <a:defRPr sz="900">
                <a:solidFill>
                  <a:srgbClr val="9CA3AF"/>
                </a:solidFill>
                <a:latin typeface="Segoe UI"/>
              </a:defRPr>
            </a:pPr>
            <a:r>
              <a:t>Background cron jobs scanning task deadlines and event states.</a:t>
            </a:r>
          </a:p>
          <a:p>
            <a:pPr>
              <a:spcBef>
                <a:spcPts val="800"/>
              </a:spcBef>
              <a:defRPr sz="1000" b="1">
                <a:solidFill>
                  <a:srgbClr val="FFFFFF"/>
                </a:solidFill>
                <a:latin typeface="Segoe UI"/>
              </a:defRPr>
            </a:pPr>
            <a:r>
              <a:t>• Server-Side Validation</a:t>
            </a:r>
          </a:p>
          <a:p>
            <a:pPr>
              <a:spcBef>
                <a:spcPts val="100"/>
              </a:spcBef>
              <a:defRPr sz="900">
                <a:solidFill>
                  <a:srgbClr val="9CA3AF"/>
                </a:solidFill>
                <a:latin typeface="Segoe UI"/>
              </a:defRPr>
            </a:pPr>
            <a:r>
              <a:t>Mongoose schema rules, role checks, and input sanitization.</a:t>
            </a:r>
          </a:p>
        </p:txBody>
      </p:sp>
      <p:sp>
        <p:nvSpPr>
          <p:cNvPr id="10" name="Rectangle 9"/>
          <p:cNvSpPr/>
          <p:nvPr/>
        </p:nvSpPr>
        <p:spPr>
          <a:xfrm>
            <a:off x="6163056"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45936" y="1920240"/>
            <a:ext cx="2121408" cy="4023360"/>
          </a:xfrm>
          <a:prstGeom prst="rect">
            <a:avLst/>
          </a:prstGeom>
          <a:noFill/>
        </p:spPr>
        <p:txBody>
          <a:bodyPr wrap="square">
            <a:spAutoFit/>
          </a:bodyPr>
          <a:lstStyle/>
          <a:p>
            <a:pPr>
              <a:defRPr sz="1200" b="1">
                <a:solidFill>
                  <a:srgbClr val="FF2D55"/>
                </a:solidFill>
                <a:latin typeface="Segoe UI"/>
              </a:defRPr>
            </a:pPr>
            <a:r>
              <a:t>RAG PIPELINE</a:t>
            </a:r>
          </a:p>
          <a:p>
            <a:pPr>
              <a:spcBef>
                <a:spcPts val="200"/>
              </a:spcBef>
              <a:defRPr sz="1000" b="1">
                <a:solidFill>
                  <a:srgbClr val="FFFFFF"/>
                </a:solidFill>
                <a:latin typeface="Segoe UI"/>
              </a:defRPr>
            </a:pPr>
            <a:r>
              <a:t>Lead: Krish K. Patel</a:t>
            </a:r>
          </a:p>
          <a:p>
            <a:pPr>
              <a:spcBef>
                <a:spcPts val="800"/>
              </a:spcBef>
              <a:defRPr sz="1000" b="1">
                <a:solidFill>
                  <a:srgbClr val="FFFFFF"/>
                </a:solidFill>
                <a:latin typeface="Segoe UI"/>
              </a:defRPr>
            </a:pPr>
            <a:r>
              <a:t>• Document Loaders</a:t>
            </a:r>
          </a:p>
          <a:p>
            <a:pPr>
              <a:spcBef>
                <a:spcPts val="100"/>
              </a:spcBef>
              <a:defRPr sz="900">
                <a:solidFill>
                  <a:srgbClr val="9CA3AF"/>
                </a:solidFill>
                <a:latin typeface="Segoe UI"/>
              </a:defRPr>
            </a:pPr>
            <a:r>
              <a:t>Parses uploaded PDF and text files with club and event associations.</a:t>
            </a:r>
          </a:p>
          <a:p>
            <a:pPr>
              <a:spcBef>
                <a:spcPts val="800"/>
              </a:spcBef>
              <a:defRPr sz="1000" b="1">
                <a:solidFill>
                  <a:srgbClr val="FFFFFF"/>
                </a:solidFill>
                <a:latin typeface="Segoe UI"/>
              </a:defRPr>
            </a:pPr>
            <a:r>
              <a:t>• Sliding Window Chunker</a:t>
            </a:r>
          </a:p>
          <a:p>
            <a:pPr>
              <a:spcBef>
                <a:spcPts val="100"/>
              </a:spcBef>
              <a:defRPr sz="900">
                <a:solidFill>
                  <a:srgbClr val="9CA3AF"/>
                </a:solidFill>
                <a:latin typeface="Segoe UI"/>
              </a:defRPr>
            </a:pPr>
            <a:r>
              <a:t>Splits text into 400-char chunks with 40-char semantic overlap.</a:t>
            </a:r>
          </a:p>
          <a:p>
            <a:pPr>
              <a:spcBef>
                <a:spcPts val="800"/>
              </a:spcBef>
              <a:defRPr sz="1000" b="1">
                <a:solidFill>
                  <a:srgbClr val="FFFFFF"/>
                </a:solidFill>
                <a:latin typeface="Segoe UI"/>
              </a:defRPr>
            </a:pPr>
            <a:r>
              <a:t>• Vector Embeddings</a:t>
            </a:r>
          </a:p>
          <a:p>
            <a:pPr>
              <a:spcBef>
                <a:spcPts val="100"/>
              </a:spcBef>
              <a:defRPr sz="900">
                <a:solidFill>
                  <a:srgbClr val="9CA3AF"/>
                </a:solidFill>
                <a:latin typeface="Segoe UI"/>
              </a:defRPr>
            </a:pPr>
            <a:r>
              <a:t>Generates dense mathematical embeddings via Gemini vector API.</a:t>
            </a:r>
          </a:p>
          <a:p>
            <a:pPr>
              <a:spcBef>
                <a:spcPts val="800"/>
              </a:spcBef>
              <a:defRPr sz="1000" b="1">
                <a:solidFill>
                  <a:srgbClr val="FFFFFF"/>
                </a:solidFill>
                <a:latin typeface="Segoe UI"/>
              </a:defRPr>
            </a:pPr>
            <a:r>
              <a:t>• Cosine Retriever</a:t>
            </a:r>
          </a:p>
          <a:p>
            <a:pPr>
              <a:spcBef>
                <a:spcPts val="100"/>
              </a:spcBef>
              <a:defRPr sz="900">
                <a:solidFill>
                  <a:srgbClr val="9CA3AF"/>
                </a:solidFill>
                <a:latin typeface="Segoe UI"/>
              </a:defRPr>
            </a:pPr>
            <a:r>
              <a:t>Calculates similarity directly in Node.js for low-latency retrieval.</a:t>
            </a:r>
          </a:p>
        </p:txBody>
      </p:sp>
      <p:sp>
        <p:nvSpPr>
          <p:cNvPr id="12" name="Rectangle 11"/>
          <p:cNvSpPr/>
          <p:nvPr/>
        </p:nvSpPr>
        <p:spPr>
          <a:xfrm>
            <a:off x="8878824"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61704" y="1920240"/>
            <a:ext cx="2121408" cy="4023360"/>
          </a:xfrm>
          <a:prstGeom prst="rect">
            <a:avLst/>
          </a:prstGeom>
          <a:noFill/>
        </p:spPr>
        <p:txBody>
          <a:bodyPr wrap="square">
            <a:spAutoFit/>
          </a:bodyPr>
          <a:lstStyle/>
          <a:p>
            <a:pPr>
              <a:defRPr sz="1200" b="1">
                <a:solidFill>
                  <a:srgbClr val="FF2D55"/>
                </a:solidFill>
                <a:latin typeface="Segoe UI"/>
              </a:defRPr>
            </a:pPr>
            <a:r>
              <a:t>AI AUTOMATION</a:t>
            </a:r>
          </a:p>
          <a:p>
            <a:pPr>
              <a:spcBef>
                <a:spcPts val="200"/>
              </a:spcBef>
              <a:defRPr sz="1000" b="1">
                <a:solidFill>
                  <a:srgbClr val="FFFFFF"/>
                </a:solidFill>
                <a:latin typeface="Segoe UI"/>
              </a:defRPr>
            </a:pPr>
            <a:r>
              <a:t>Lead: Dhruv Patel</a:t>
            </a:r>
          </a:p>
          <a:p>
            <a:pPr>
              <a:spcBef>
                <a:spcPts val="800"/>
              </a:spcBef>
              <a:defRPr sz="1000" b="1">
                <a:solidFill>
                  <a:srgbClr val="FFFFFF"/>
                </a:solidFill>
                <a:latin typeface="Segoe UI"/>
              </a:defRPr>
            </a:pPr>
            <a:r>
              <a:t>• Google Gemini SDK</a:t>
            </a:r>
          </a:p>
          <a:p>
            <a:pPr>
              <a:spcBef>
                <a:spcPts val="100"/>
              </a:spcBef>
              <a:defRPr sz="900">
                <a:solidFill>
                  <a:srgbClr val="9CA3AF"/>
                </a:solidFill>
                <a:latin typeface="Segoe UI"/>
              </a:defRPr>
            </a:pPr>
            <a:r>
              <a:t>Gemini 3.6 &amp; 2.5 Flash models for structured schema generation.</a:t>
            </a:r>
          </a:p>
          <a:p>
            <a:pPr>
              <a:spcBef>
                <a:spcPts val="800"/>
              </a:spcBef>
              <a:defRPr sz="1000" b="1">
                <a:solidFill>
                  <a:srgbClr val="FFFFFF"/>
                </a:solidFill>
                <a:latin typeface="Segoe UI"/>
              </a:defRPr>
            </a:pPr>
            <a:r>
              <a:t>• Structured Intent Parser</a:t>
            </a:r>
          </a:p>
          <a:p>
            <a:pPr>
              <a:spcBef>
                <a:spcPts val="100"/>
              </a:spcBef>
              <a:defRPr sz="900">
                <a:solidFill>
                  <a:srgbClr val="9CA3AF"/>
                </a:solidFill>
                <a:latin typeface="Segoe UI"/>
              </a:defRPr>
            </a:pPr>
            <a:r>
              <a:t>Maps natural language commands into verified backend tools.</a:t>
            </a:r>
          </a:p>
          <a:p>
            <a:pPr>
              <a:spcBef>
                <a:spcPts val="800"/>
              </a:spcBef>
              <a:defRPr sz="1000" b="1">
                <a:solidFill>
                  <a:srgbClr val="FFFFFF"/>
                </a:solidFill>
                <a:latin typeface="Segoe UI"/>
              </a:defRPr>
            </a:pPr>
            <a:r>
              <a:t>• Tool Registry Engine</a:t>
            </a:r>
          </a:p>
          <a:p>
            <a:pPr>
              <a:spcBef>
                <a:spcPts val="100"/>
              </a:spcBef>
              <a:defRPr sz="900">
                <a:solidFill>
                  <a:srgbClr val="9CA3AF"/>
                </a:solidFill>
                <a:latin typeface="Segoe UI"/>
              </a:defRPr>
            </a:pPr>
            <a:r>
              <a:t>Safe bridge executing database mutations for assistant commands.</a:t>
            </a:r>
          </a:p>
          <a:p>
            <a:pPr>
              <a:spcBef>
                <a:spcPts val="800"/>
              </a:spcBef>
              <a:defRPr sz="1000" b="1">
                <a:solidFill>
                  <a:srgbClr val="FFFFFF"/>
                </a:solidFill>
                <a:latin typeface="Segoe UI"/>
              </a:defRPr>
            </a:pPr>
            <a:r>
              <a:t>• Heuristic Fallback</a:t>
            </a:r>
          </a:p>
          <a:p>
            <a:pPr>
              <a:spcBef>
                <a:spcPts val="100"/>
              </a:spcBef>
              <a:defRPr sz="900">
                <a:solidFill>
                  <a:srgbClr val="9CA3AF"/>
                </a:solidFill>
                <a:latin typeface="Segoe UI"/>
              </a:defRPr>
            </a:pPr>
            <a:r>
              <a:t>Deterministic keyword/regex matchers when offline or rate-limited.</a:t>
            </a:r>
          </a:p>
        </p:txBody>
      </p:sp>
      <p:sp>
        <p:nvSpPr>
          <p:cNvPr id="14" name="TextBox 1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8 of 30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FEATURE PILLAR 01</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Centralized Club &amp; Multi-Event Management</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Overseeing concurrent hackathons, member rosters, and operational lifecycles.</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EVENT LIFECYCLES</a:t>
            </a:r>
          </a:p>
          <a:p>
            <a:pPr>
              <a:spcBef>
                <a:spcPts val="300"/>
              </a:spcBef>
              <a:defRPr sz="1500" b="1">
                <a:solidFill>
                  <a:srgbClr val="FFFFFF"/>
                </a:solidFill>
                <a:latin typeface="Segoe UI"/>
              </a:defRPr>
            </a:pPr>
            <a:r>
              <a:t>Multi-Event Workflows</a:t>
            </a:r>
          </a:p>
          <a:p>
            <a:pPr>
              <a:spcBef>
                <a:spcPts val="1000"/>
              </a:spcBef>
              <a:defRPr sz="1100" b="1">
                <a:solidFill>
                  <a:srgbClr val="FFFFFF"/>
                </a:solidFill>
                <a:latin typeface="Segoe UI"/>
              </a:defRPr>
            </a:pPr>
            <a:r>
              <a:t>• Three Event Stages</a:t>
            </a:r>
          </a:p>
          <a:p>
            <a:pPr>
              <a:spcBef>
                <a:spcPts val="200"/>
              </a:spcBef>
              <a:defRPr sz="950">
                <a:solidFill>
                  <a:srgbClr val="9CA3AF"/>
                </a:solidFill>
                <a:latin typeface="Segoe UI"/>
              </a:defRPr>
            </a:pPr>
            <a:r>
              <a:t>Supports planning, ongoing, and completed event lifecycles with state tracking in MongoDB.</a:t>
            </a:r>
          </a:p>
          <a:p>
            <a:pPr>
              <a:spcBef>
                <a:spcPts val="1000"/>
              </a:spcBef>
              <a:defRPr sz="1100" b="1">
                <a:solidFill>
                  <a:srgbClr val="FFFFFF"/>
                </a:solidFill>
                <a:latin typeface="Segoe UI"/>
              </a:defRPr>
            </a:pPr>
            <a:r>
              <a:t>• Logistics Tracking</a:t>
            </a:r>
          </a:p>
          <a:p>
            <a:pPr>
              <a:spcBef>
                <a:spcPts val="200"/>
              </a:spcBef>
              <a:defRPr sz="950">
                <a:solidFill>
                  <a:srgbClr val="9CA3AF"/>
                </a:solidFill>
                <a:latin typeface="Segoe UI"/>
              </a:defRPr>
            </a:pPr>
            <a:r>
              <a:t>Maintains venue names, start/end timestamps, expected participant headcounts, and volunteer ratios.</a:t>
            </a:r>
          </a:p>
          <a:p>
            <a:pPr>
              <a:spcBef>
                <a:spcPts val="1000"/>
              </a:spcBef>
              <a:defRPr sz="1100" b="1">
                <a:solidFill>
                  <a:srgbClr val="FFFFFF"/>
                </a:solidFill>
                <a:latin typeface="Segoe UI"/>
              </a:defRPr>
            </a:pPr>
            <a:r>
              <a:t>• Concurrent Management</a:t>
            </a:r>
          </a:p>
          <a:p>
            <a:pPr>
              <a:spcBef>
                <a:spcPts val="200"/>
              </a:spcBef>
              <a:defRPr sz="950">
                <a:solidFill>
                  <a:srgbClr val="9CA3AF"/>
                </a:solidFill>
                <a:latin typeface="Segoe UI"/>
              </a:defRPr>
            </a:pPr>
            <a:r>
              <a:t>Supports running multiple initiatives simultaneously (e.g. Hackathon 2026, Robotics Symposium, Showcase).</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MEMBERSHIP SCOPING</a:t>
            </a:r>
          </a:p>
          <a:p>
            <a:pPr>
              <a:spcBef>
                <a:spcPts val="300"/>
              </a:spcBef>
              <a:defRPr sz="1500" b="1">
                <a:solidFill>
                  <a:srgbClr val="FFFFFF"/>
                </a:solidFill>
                <a:latin typeface="Segoe UI"/>
              </a:defRPr>
            </a:pPr>
            <a:r>
              <a:t>Club Workspace Isolation</a:t>
            </a:r>
          </a:p>
          <a:p>
            <a:pPr>
              <a:spcBef>
                <a:spcPts val="1000"/>
              </a:spcBef>
              <a:defRPr sz="1100" b="1">
                <a:solidFill>
                  <a:srgbClr val="FFFFFF"/>
                </a:solidFill>
                <a:latin typeface="Segoe UI"/>
              </a:defRPr>
            </a:pPr>
            <a:r>
              <a:t>• Role-Based Access</a:t>
            </a:r>
          </a:p>
          <a:p>
            <a:pPr>
              <a:spcBef>
                <a:spcPts val="200"/>
              </a:spcBef>
              <a:defRPr sz="950">
                <a:solidFill>
                  <a:srgbClr val="9CA3AF"/>
                </a:solidFill>
                <a:latin typeface="Segoe UI"/>
              </a:defRPr>
            </a:pPr>
            <a:r>
              <a:t>Three distinct roles (Admin, Organizer, Member) controlling view and edit permissions.</a:t>
            </a:r>
          </a:p>
          <a:p>
            <a:pPr>
              <a:spcBef>
                <a:spcPts val="1000"/>
              </a:spcBef>
              <a:defRPr sz="1100" b="1">
                <a:solidFill>
                  <a:srgbClr val="FFFFFF"/>
                </a:solidFill>
                <a:latin typeface="Segoe UI"/>
              </a:defRPr>
            </a:pPr>
            <a:r>
              <a:t>• Multi-Tenant Boundary</a:t>
            </a:r>
          </a:p>
          <a:p>
            <a:pPr>
              <a:spcBef>
                <a:spcPts val="200"/>
              </a:spcBef>
              <a:defRPr sz="950">
                <a:solidFill>
                  <a:srgbClr val="9CA3AF"/>
                </a:solidFill>
                <a:latin typeface="Segoe UI"/>
              </a:defRPr>
            </a:pPr>
            <a:r>
              <a:t>Events, tasks, and documents are strictly scoped by clubId to maintain club privacy.</a:t>
            </a:r>
          </a:p>
          <a:p>
            <a:pPr>
              <a:spcBef>
                <a:spcPts val="1000"/>
              </a:spcBef>
              <a:defRPr sz="1100" b="1">
                <a:solidFill>
                  <a:srgbClr val="FFFFFF"/>
                </a:solidFill>
                <a:latin typeface="Segoe UI"/>
              </a:defRPr>
            </a:pPr>
            <a:r>
              <a:t>• Roster Management</a:t>
            </a:r>
          </a:p>
          <a:p>
            <a:pPr>
              <a:spcBef>
                <a:spcPts val="200"/>
              </a:spcBef>
              <a:defRPr sz="950">
                <a:solidFill>
                  <a:srgbClr val="9CA3AF"/>
                </a:solidFill>
                <a:latin typeface="Segoe UI"/>
              </a:defRPr>
            </a:pPr>
            <a:r>
              <a:t>Add, remove, and update club members with profile attributes and assigned roles.</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DASHBOARD TELEMETRY</a:t>
            </a:r>
          </a:p>
          <a:p>
            <a:pPr>
              <a:spcBef>
                <a:spcPts val="300"/>
              </a:spcBef>
              <a:defRPr sz="1500" b="1">
                <a:solidFill>
                  <a:srgbClr val="FFFFFF"/>
                </a:solidFill>
                <a:latin typeface="Segoe UI"/>
              </a:defRPr>
            </a:pPr>
            <a:r>
              <a:t>Event Operations Dashboard</a:t>
            </a:r>
          </a:p>
          <a:p>
            <a:pPr>
              <a:spcBef>
                <a:spcPts val="1000"/>
              </a:spcBef>
              <a:defRPr sz="1100" b="1">
                <a:solidFill>
                  <a:srgbClr val="FFFFFF"/>
                </a:solidFill>
                <a:latin typeface="Segoe UI"/>
              </a:defRPr>
            </a:pPr>
            <a:r>
              <a:t>• Aggregated Counters</a:t>
            </a:r>
          </a:p>
          <a:p>
            <a:pPr>
              <a:spcBef>
                <a:spcPts val="200"/>
              </a:spcBef>
              <a:defRPr sz="950">
                <a:solidFill>
                  <a:srgbClr val="9CA3AF"/>
                </a:solidFill>
                <a:latin typeface="Segoe UI"/>
              </a:defRPr>
            </a:pPr>
            <a:r>
              <a:t>Displays active tasks, reported risks, confirmed volunteers, and uploaded documents.</a:t>
            </a:r>
          </a:p>
          <a:p>
            <a:pPr>
              <a:spcBef>
                <a:spcPts val="1000"/>
              </a:spcBef>
              <a:defRPr sz="1100" b="1">
                <a:solidFill>
                  <a:srgbClr val="FFFFFF"/>
                </a:solidFill>
                <a:latin typeface="Segoe UI"/>
              </a:defRPr>
            </a:pPr>
            <a:r>
              <a:t>• Progress Tracking</a:t>
            </a:r>
          </a:p>
          <a:p>
            <a:pPr>
              <a:spcBef>
                <a:spcPts val="200"/>
              </a:spcBef>
              <a:defRPr sz="950">
                <a:solidFill>
                  <a:srgbClr val="9CA3AF"/>
                </a:solidFill>
                <a:latin typeface="Segoe UI"/>
              </a:defRPr>
            </a:pPr>
            <a:r>
              <a:t>Calculates pending vs. completed task ratios to give organizers quick visibility into sprint status.</a:t>
            </a:r>
          </a:p>
          <a:p>
            <a:pPr>
              <a:spcBef>
                <a:spcPts val="1000"/>
              </a:spcBef>
              <a:defRPr sz="1100" b="1">
                <a:solidFill>
                  <a:srgbClr val="FFFFFF"/>
                </a:solidFill>
                <a:latin typeface="Segoe UI"/>
              </a:defRPr>
            </a:pPr>
            <a:r>
              <a:t>• Quick Switching</a:t>
            </a:r>
          </a:p>
          <a:p>
            <a:pPr>
              <a:spcBef>
                <a:spcPts val="200"/>
              </a:spcBef>
              <a:defRPr sz="950">
                <a:solidFill>
                  <a:srgbClr val="9CA3AF"/>
                </a:solidFill>
                <a:latin typeface="Segoe UI"/>
              </a:defRPr>
            </a:pPr>
            <a:r>
              <a:t>Tabbed interface allows fast navigation between Tasks, Volunteers, Risks, Meetings, and Documents.</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9 of 30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FEATURE PILLAR 02</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Task Management &amp; Scheduled Deadline Jobs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Structured deliverable tracking with automated background deadline verification.</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TASK TAXONOMY</a:t>
            </a:r>
          </a:p>
          <a:p>
            <a:pPr>
              <a:spcBef>
                <a:spcPts val="300"/>
              </a:spcBef>
              <a:defRPr sz="1500" b="1">
                <a:solidFill>
                  <a:srgbClr val="FFFFFF"/>
                </a:solidFill>
                <a:latin typeface="Segoe UI"/>
              </a:defRPr>
            </a:pPr>
            <a:r>
              <a:t>Granular Task Attributes</a:t>
            </a:r>
          </a:p>
          <a:p>
            <a:pPr>
              <a:spcBef>
                <a:spcPts val="1000"/>
              </a:spcBef>
              <a:defRPr sz="1100" b="1">
                <a:solidFill>
                  <a:srgbClr val="FFFFFF"/>
                </a:solidFill>
                <a:latin typeface="Segoe UI"/>
              </a:defRPr>
            </a:pPr>
            <a:r>
              <a:t>• Priority Classification</a:t>
            </a:r>
          </a:p>
          <a:p>
            <a:pPr>
              <a:spcBef>
                <a:spcPts val="200"/>
              </a:spcBef>
              <a:defRPr sz="950">
                <a:solidFill>
                  <a:srgbClr val="9CA3AF"/>
                </a:solidFill>
                <a:latin typeface="Segoe UI"/>
              </a:defRPr>
            </a:pPr>
            <a:r>
              <a:t>Classified into Low, Medium, High, and Critical priority tiers.</a:t>
            </a:r>
          </a:p>
          <a:p>
            <a:pPr>
              <a:spcBef>
                <a:spcPts val="1000"/>
              </a:spcBef>
              <a:defRPr sz="1100" b="1">
                <a:solidFill>
                  <a:srgbClr val="FFFFFF"/>
                </a:solidFill>
                <a:latin typeface="Segoe UI"/>
              </a:defRPr>
            </a:pPr>
            <a:r>
              <a:t>• Status Transitions</a:t>
            </a:r>
          </a:p>
          <a:p>
            <a:pPr>
              <a:spcBef>
                <a:spcPts val="200"/>
              </a:spcBef>
              <a:defRPr sz="950">
                <a:solidFill>
                  <a:srgbClr val="9CA3AF"/>
                </a:solidFill>
                <a:latin typeface="Segoe UI"/>
              </a:defRPr>
            </a:pPr>
            <a:r>
              <a:t>Tracks progression across pending → in_progress → completed → overdue states.</a:t>
            </a:r>
          </a:p>
          <a:p>
            <a:pPr>
              <a:spcBef>
                <a:spcPts val="1000"/>
              </a:spcBef>
              <a:defRPr sz="1100" b="1">
                <a:solidFill>
                  <a:srgbClr val="FFFFFF"/>
                </a:solidFill>
                <a:latin typeface="Segoe UI"/>
              </a:defRPr>
            </a:pPr>
            <a:r>
              <a:t>• Source Provenance</a:t>
            </a:r>
          </a:p>
          <a:p>
            <a:pPr>
              <a:spcBef>
                <a:spcPts val="200"/>
              </a:spcBef>
              <a:defRPr sz="950">
                <a:solidFill>
                  <a:srgbClr val="9CA3AF"/>
                </a:solidFill>
                <a:latin typeface="Segoe UI"/>
              </a:defRPr>
            </a:pPr>
            <a:r>
              <a:t>Stores origin metadata: manual entry, AI meeting extraction, or assistant command.</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CREATION CHANNELS</a:t>
            </a:r>
          </a:p>
          <a:p>
            <a:pPr>
              <a:spcBef>
                <a:spcPts val="300"/>
              </a:spcBef>
              <a:defRPr sz="1500" b="1">
                <a:solidFill>
                  <a:srgbClr val="FFFFFF"/>
                </a:solidFill>
                <a:latin typeface="Segoe UI"/>
              </a:defRPr>
            </a:pPr>
            <a:r>
              <a:t>Multi-Channel Task Ingestion</a:t>
            </a:r>
          </a:p>
          <a:p>
            <a:pPr>
              <a:spcBef>
                <a:spcPts val="1000"/>
              </a:spcBef>
              <a:defRPr sz="1100" b="1">
                <a:solidFill>
                  <a:srgbClr val="FFFFFF"/>
                </a:solidFill>
                <a:latin typeface="Segoe UI"/>
              </a:defRPr>
            </a:pPr>
            <a:r>
              <a:t>• Organizer UI</a:t>
            </a:r>
          </a:p>
          <a:p>
            <a:pPr>
              <a:spcBef>
                <a:spcPts val="200"/>
              </a:spcBef>
              <a:defRPr sz="950">
                <a:solidFill>
                  <a:srgbClr val="9CA3AF"/>
                </a:solidFill>
                <a:latin typeface="Segoe UI"/>
              </a:defRPr>
            </a:pPr>
            <a:r>
              <a:t>Standard modal forms with date pickers, priority selects, and volunteer dropdowns.</a:t>
            </a:r>
          </a:p>
          <a:p>
            <a:pPr>
              <a:spcBef>
                <a:spcPts val="1000"/>
              </a:spcBef>
              <a:defRPr sz="1100" b="1">
                <a:solidFill>
                  <a:srgbClr val="FFFFFF"/>
                </a:solidFill>
                <a:latin typeface="Segoe UI"/>
              </a:defRPr>
            </a:pPr>
            <a:r>
              <a:t>• Meeting Review Extraction</a:t>
            </a:r>
          </a:p>
          <a:p>
            <a:pPr>
              <a:spcBef>
                <a:spcPts val="200"/>
              </a:spcBef>
              <a:defRPr sz="950">
                <a:solidFill>
                  <a:srgbClr val="9CA3AF"/>
                </a:solidFill>
                <a:latin typeface="Segoe UI"/>
              </a:defRPr>
            </a:pPr>
            <a:r>
              <a:t>Ingests tasks extracted by Gemini from meeting discussions with one-click approval.</a:t>
            </a:r>
          </a:p>
          <a:p>
            <a:pPr>
              <a:spcBef>
                <a:spcPts val="1000"/>
              </a:spcBef>
              <a:defRPr sz="1100" b="1">
                <a:solidFill>
                  <a:srgbClr val="FFFFFF"/>
                </a:solidFill>
                <a:latin typeface="Segoe UI"/>
              </a:defRPr>
            </a:pPr>
            <a:r>
              <a:t>• Command Bar</a:t>
            </a:r>
          </a:p>
          <a:p>
            <a:pPr>
              <a:spcBef>
                <a:spcPts val="200"/>
              </a:spcBef>
              <a:defRPr sz="950">
                <a:solidFill>
                  <a:srgbClr val="9CA3AF"/>
                </a:solidFill>
                <a:latin typeface="Segoe UI"/>
              </a:defRPr>
            </a:pPr>
            <a:r>
              <a:t>Assistant command input: 'Create high priority task for Maya to test AV setup'.</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BACKGROUND WORKERS</a:t>
            </a:r>
          </a:p>
          <a:p>
            <a:pPr>
              <a:spcBef>
                <a:spcPts val="300"/>
              </a:spcBef>
              <a:defRPr sz="1500" b="1">
                <a:solidFill>
                  <a:srgbClr val="FFFFFF"/>
                </a:solidFill>
                <a:latin typeface="Segoe UI"/>
              </a:defRPr>
            </a:pPr>
            <a:r>
              <a:t>Automated Deadline Auditing</a:t>
            </a:r>
          </a:p>
          <a:p>
            <a:pPr>
              <a:spcBef>
                <a:spcPts val="1000"/>
              </a:spcBef>
              <a:defRPr sz="1100" b="1">
                <a:solidFill>
                  <a:srgbClr val="FFFFFF"/>
                </a:solidFill>
                <a:latin typeface="Segoe UI"/>
              </a:defRPr>
            </a:pPr>
            <a:r>
              <a:t>• taskDeadlineJob.js</a:t>
            </a:r>
          </a:p>
          <a:p>
            <a:pPr>
              <a:spcBef>
                <a:spcPts val="200"/>
              </a:spcBef>
              <a:defRPr sz="950">
                <a:solidFill>
                  <a:srgbClr val="9CA3AF"/>
                </a:solidFill>
                <a:latin typeface="Segoe UI"/>
              </a:defRPr>
            </a:pPr>
            <a:r>
              <a:t>Periodic cron job scanning tasks for upcoming deadlines within 48h and 24h.</a:t>
            </a:r>
          </a:p>
          <a:p>
            <a:pPr>
              <a:spcBef>
                <a:spcPts val="1000"/>
              </a:spcBef>
              <a:defRPr sz="1100" b="1">
                <a:solidFill>
                  <a:srgbClr val="FFFFFF"/>
                </a:solidFill>
                <a:latin typeface="Segoe UI"/>
              </a:defRPr>
            </a:pPr>
            <a:r>
              <a:t>• Notification Dispatch</a:t>
            </a:r>
          </a:p>
          <a:p>
            <a:pPr>
              <a:spcBef>
                <a:spcPts val="200"/>
              </a:spcBef>
              <a:defRPr sz="950">
                <a:solidFill>
                  <a:srgbClr val="9CA3AF"/>
                </a:solidFill>
                <a:latin typeface="Segoe UI"/>
              </a:defRPr>
            </a:pPr>
            <a:r>
              <a:t>Automatically generates inbox alerts when critical deadlines approach.</a:t>
            </a:r>
          </a:p>
          <a:p>
            <a:pPr>
              <a:spcBef>
                <a:spcPts val="1000"/>
              </a:spcBef>
              <a:defRPr sz="1100" b="1">
                <a:solidFill>
                  <a:srgbClr val="FFFFFF"/>
                </a:solidFill>
                <a:latin typeface="Segoe UI"/>
              </a:defRPr>
            </a:pPr>
            <a:r>
              <a:t>• eventCompletionJob.js</a:t>
            </a:r>
          </a:p>
          <a:p>
            <a:pPr>
              <a:spcBef>
                <a:spcPts val="200"/>
              </a:spcBef>
              <a:defRPr sz="950">
                <a:solidFill>
                  <a:srgbClr val="9CA3AF"/>
                </a:solidFill>
                <a:latin typeface="Segoe UI"/>
              </a:defRPr>
            </a:pPr>
            <a:r>
              <a:t>Verifies active task statuses prior to closing event lifecycle.</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10 of 30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FEATURE PILLAR 03</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Volunteer Coordination &amp; Squad Allocation</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Aligning member technical skills and availability with event day duties.</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SKILL PROFILING</a:t>
            </a:r>
          </a:p>
          <a:p>
            <a:pPr>
              <a:spcBef>
                <a:spcPts val="300"/>
              </a:spcBef>
              <a:defRPr sz="1500" b="1">
                <a:solidFill>
                  <a:srgbClr val="FFFFFF"/>
                </a:solidFill>
                <a:latin typeface="Segoe UI"/>
              </a:defRPr>
            </a:pPr>
            <a:r>
              <a:t>Member Skills &amp; Availability</a:t>
            </a:r>
          </a:p>
          <a:p>
            <a:pPr>
              <a:spcBef>
                <a:spcPts val="1000"/>
              </a:spcBef>
              <a:defRPr sz="1100" b="1">
                <a:solidFill>
                  <a:srgbClr val="FFFFFF"/>
                </a:solidFill>
                <a:latin typeface="Segoe UI"/>
              </a:defRPr>
            </a:pPr>
            <a:r>
              <a:t>• Skill Tags</a:t>
            </a:r>
          </a:p>
          <a:p>
            <a:pPr>
              <a:spcBef>
                <a:spcPts val="200"/>
              </a:spcBef>
              <a:defRPr sz="950">
                <a:solidFill>
                  <a:srgbClr val="9CA3AF"/>
                </a:solidFill>
                <a:latin typeface="Segoe UI"/>
              </a:defRPr>
            </a:pPr>
            <a:r>
              <a:t>Members register domain capabilities: AV Setup, Networking, Logistics, Sponsorship, First Aid.</a:t>
            </a:r>
          </a:p>
          <a:p>
            <a:pPr>
              <a:spcBef>
                <a:spcPts val="1000"/>
              </a:spcBef>
              <a:defRPr sz="1100" b="1">
                <a:solidFill>
                  <a:srgbClr val="FFFFFF"/>
                </a:solidFill>
                <a:latin typeface="Segoe UI"/>
              </a:defRPr>
            </a:pPr>
            <a:r>
              <a:t>• Availability Toggles</a:t>
            </a:r>
          </a:p>
          <a:p>
            <a:pPr>
              <a:spcBef>
                <a:spcPts val="200"/>
              </a:spcBef>
              <a:defRPr sz="950">
                <a:solidFill>
                  <a:srgbClr val="9CA3AF"/>
                </a:solidFill>
                <a:latin typeface="Segoe UI"/>
              </a:defRPr>
            </a:pPr>
            <a:r>
              <a:t>Volunteers set availability ('available' vs. 'busy') to signal exam periods or conflicts.</a:t>
            </a:r>
          </a:p>
          <a:p>
            <a:pPr>
              <a:spcBef>
                <a:spcPts val="1000"/>
              </a:spcBef>
              <a:defRPr sz="1100" b="1">
                <a:solidFill>
                  <a:srgbClr val="FFFFFF"/>
                </a:solidFill>
                <a:latin typeface="Segoe UI"/>
              </a:defRPr>
            </a:pPr>
            <a:r>
              <a:t>• Fast Filtering</a:t>
            </a:r>
          </a:p>
          <a:p>
            <a:pPr>
              <a:spcBef>
                <a:spcPts val="200"/>
              </a:spcBef>
              <a:defRPr sz="950">
                <a:solidFill>
                  <a:srgbClr val="9CA3AF"/>
                </a:solidFill>
                <a:latin typeface="Segoe UI"/>
              </a:defRPr>
            </a:pPr>
            <a:r>
              <a:t>Organizers quickly identify who has specialized hardware or technical experience.</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OPERATIONAL SQUADS</a:t>
            </a:r>
          </a:p>
          <a:p>
            <a:pPr>
              <a:spcBef>
                <a:spcPts val="300"/>
              </a:spcBef>
              <a:defRPr sz="1500" b="1">
                <a:solidFill>
                  <a:srgbClr val="FFFFFF"/>
                </a:solidFill>
                <a:latin typeface="Segoe UI"/>
              </a:defRPr>
            </a:pPr>
            <a:r>
              <a:t>Functional Team Grouping</a:t>
            </a:r>
          </a:p>
          <a:p>
            <a:pPr>
              <a:spcBef>
                <a:spcPts val="1000"/>
              </a:spcBef>
              <a:defRPr sz="1100" b="1">
                <a:solidFill>
                  <a:srgbClr val="FFFFFF"/>
                </a:solidFill>
                <a:latin typeface="Segoe UI"/>
              </a:defRPr>
            </a:pPr>
            <a:r>
              <a:t>• Specialized Squads</a:t>
            </a:r>
          </a:p>
          <a:p>
            <a:pPr>
              <a:spcBef>
                <a:spcPts val="200"/>
              </a:spcBef>
              <a:defRPr sz="950">
                <a:solidFill>
                  <a:srgbClr val="9CA3AF"/>
                </a:solidFill>
                <a:latin typeface="Segoe UI"/>
              </a:defRPr>
            </a:pPr>
            <a:r>
              <a:t>Volunteers are categorized into squads (e.g. Technical Operations, Hospitality, Partnerships).</a:t>
            </a:r>
          </a:p>
          <a:p>
            <a:pPr>
              <a:spcBef>
                <a:spcPts val="1000"/>
              </a:spcBef>
              <a:defRPr sz="1100" b="1">
                <a:solidFill>
                  <a:srgbClr val="FFFFFF"/>
                </a:solidFill>
                <a:latin typeface="Segoe UI"/>
              </a:defRPr>
            </a:pPr>
            <a:r>
              <a:t>• Squad Assignment</a:t>
            </a:r>
          </a:p>
          <a:p>
            <a:pPr>
              <a:spcBef>
                <a:spcPts val="200"/>
              </a:spcBef>
              <a:defRPr sz="950">
                <a:solidFill>
                  <a:srgbClr val="9CA3AF"/>
                </a:solidFill>
                <a:latin typeface="Segoe UI"/>
              </a:defRPr>
            </a:pPr>
            <a:r>
              <a:t>Tasks can be assigned to functional teams rather than burdening a single individual.</a:t>
            </a:r>
          </a:p>
          <a:p>
            <a:pPr>
              <a:spcBef>
                <a:spcPts val="1000"/>
              </a:spcBef>
              <a:defRPr sz="1100" b="1">
                <a:solidFill>
                  <a:srgbClr val="FFFFFF"/>
                </a:solidFill>
                <a:latin typeface="Segoe UI"/>
              </a:defRPr>
            </a:pPr>
            <a:r>
              <a:t>• Flexible Reallocation</a:t>
            </a:r>
          </a:p>
          <a:p>
            <a:pPr>
              <a:spcBef>
                <a:spcPts val="200"/>
              </a:spcBef>
              <a:defRPr sz="950">
                <a:solidFill>
                  <a:srgbClr val="9CA3AF"/>
                </a:solidFill>
                <a:latin typeface="Segoe UI"/>
              </a:defRPr>
            </a:pPr>
            <a:r>
              <a:t>Volunteers can be shifted between teams as event bottlenecks emerge.</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WORKLOAD VISIBILITY</a:t>
            </a:r>
          </a:p>
          <a:p>
            <a:pPr>
              <a:spcBef>
                <a:spcPts val="300"/>
              </a:spcBef>
              <a:defRPr sz="1500" b="1">
                <a:solidFill>
                  <a:srgbClr val="FFFFFF"/>
                </a:solidFill>
                <a:latin typeface="Segoe UI"/>
              </a:defRPr>
            </a:pPr>
            <a:r>
              <a:t>Balancing Task Distributions</a:t>
            </a:r>
          </a:p>
          <a:p>
            <a:pPr>
              <a:spcBef>
                <a:spcPts val="1000"/>
              </a:spcBef>
              <a:defRPr sz="1100" b="1">
                <a:solidFill>
                  <a:srgbClr val="FFFFFF"/>
                </a:solidFill>
                <a:latin typeface="Segoe UI"/>
              </a:defRPr>
            </a:pPr>
            <a:r>
              <a:t>• Assigned Task Counters</a:t>
            </a:r>
          </a:p>
          <a:p>
            <a:pPr>
              <a:spcBef>
                <a:spcPts val="200"/>
              </a:spcBef>
              <a:defRPr sz="950">
                <a:solidFill>
                  <a:srgbClr val="9CA3AF"/>
                </a:solidFill>
                <a:latin typeface="Segoe UI"/>
              </a:defRPr>
            </a:pPr>
            <a:r>
              <a:t>Dashboard displays the number of active tasks assigned to each volunteer.</a:t>
            </a:r>
          </a:p>
          <a:p>
            <a:pPr>
              <a:spcBef>
                <a:spcPts val="1000"/>
              </a:spcBef>
              <a:defRPr sz="1100" b="1">
                <a:solidFill>
                  <a:srgbClr val="FFFFFF"/>
                </a:solidFill>
                <a:latin typeface="Segoe UI"/>
              </a:defRPr>
            </a:pPr>
            <a:r>
              <a:t>• Burnout Prevention</a:t>
            </a:r>
          </a:p>
          <a:p>
            <a:pPr>
              <a:spcBef>
                <a:spcPts val="200"/>
              </a:spcBef>
              <a:defRPr sz="950">
                <a:solidFill>
                  <a:srgbClr val="9CA3AF"/>
                </a:solidFill>
                <a:latin typeface="Segoe UI"/>
              </a:defRPr>
            </a:pPr>
            <a:r>
              <a:t>Helps organizers avoid assigning 10+ concurrent items to the same active student.</a:t>
            </a:r>
          </a:p>
          <a:p>
            <a:pPr>
              <a:spcBef>
                <a:spcPts val="1000"/>
              </a:spcBef>
              <a:defRPr sz="1100" b="1">
                <a:solidFill>
                  <a:srgbClr val="FFFFFF"/>
                </a:solidFill>
                <a:latin typeface="Segoe UI"/>
              </a:defRPr>
            </a:pPr>
            <a:r>
              <a:t>• Task Reassignment</a:t>
            </a:r>
          </a:p>
          <a:p>
            <a:pPr>
              <a:spcBef>
                <a:spcPts val="200"/>
              </a:spcBef>
              <a:defRPr sz="950">
                <a:solidFill>
                  <a:srgbClr val="9CA3AF"/>
                </a:solidFill>
                <a:latin typeface="Segoe UI"/>
              </a:defRPr>
            </a:pPr>
            <a:r>
              <a:t>Tasks can be reassigned to another available volunteer if conflicts arise.</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11 of 30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FEATURE PILLAR 04</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Proactive Risk Matrix &amp; Incident Tracking</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Identifying technical and logistical threats early through dual-mode detection.</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RISK TAXONOMY</a:t>
            </a:r>
          </a:p>
          <a:p>
            <a:pPr>
              <a:spcBef>
                <a:spcPts val="300"/>
              </a:spcBef>
              <a:defRPr sz="1500" b="1">
                <a:solidFill>
                  <a:srgbClr val="FFFFFF"/>
                </a:solidFill>
                <a:latin typeface="Segoe UI"/>
              </a:defRPr>
            </a:pPr>
            <a:r>
              <a:t>Severity &amp; Probability Matrix</a:t>
            </a:r>
          </a:p>
          <a:p>
            <a:pPr>
              <a:spcBef>
                <a:spcPts val="1000"/>
              </a:spcBef>
              <a:defRPr sz="1100" b="1">
                <a:solidFill>
                  <a:srgbClr val="FFFFFF"/>
                </a:solidFill>
                <a:latin typeface="Segoe UI"/>
              </a:defRPr>
            </a:pPr>
            <a:r>
              <a:t>• Severity Tiers</a:t>
            </a:r>
          </a:p>
          <a:p>
            <a:pPr>
              <a:spcBef>
                <a:spcPts val="200"/>
              </a:spcBef>
              <a:defRPr sz="950">
                <a:solidFill>
                  <a:srgbClr val="9CA3AF"/>
                </a:solidFill>
                <a:latin typeface="Segoe UI"/>
              </a:defRPr>
            </a:pPr>
            <a:r>
              <a:t>Risks are scored across Low, Medium, High, and Critical severity ratings.</a:t>
            </a:r>
          </a:p>
          <a:p>
            <a:pPr>
              <a:spcBef>
                <a:spcPts val="1000"/>
              </a:spcBef>
              <a:defRPr sz="1100" b="1">
                <a:solidFill>
                  <a:srgbClr val="FFFFFF"/>
                </a:solidFill>
                <a:latin typeface="Segoe UI"/>
              </a:defRPr>
            </a:pPr>
            <a:r>
              <a:t>• Probability Scoring</a:t>
            </a:r>
          </a:p>
          <a:p>
            <a:pPr>
              <a:spcBef>
                <a:spcPts val="200"/>
              </a:spcBef>
              <a:defRPr sz="950">
                <a:solidFill>
                  <a:srgbClr val="9CA3AF"/>
                </a:solidFill>
                <a:latin typeface="Segoe UI"/>
              </a:defRPr>
            </a:pPr>
            <a:r>
              <a:t>Evaluates likelihood: Low, Medium, and High probability levels.</a:t>
            </a:r>
          </a:p>
          <a:p>
            <a:pPr>
              <a:spcBef>
                <a:spcPts val="1000"/>
              </a:spcBef>
              <a:defRPr sz="1100" b="1">
                <a:solidFill>
                  <a:srgbClr val="FFFFFF"/>
                </a:solidFill>
                <a:latin typeface="Segoe UI"/>
              </a:defRPr>
            </a:pPr>
            <a:r>
              <a:t>• Status Progression</a:t>
            </a:r>
          </a:p>
          <a:p>
            <a:pPr>
              <a:spcBef>
                <a:spcPts val="200"/>
              </a:spcBef>
              <a:defRPr sz="950">
                <a:solidFill>
                  <a:srgbClr val="9CA3AF"/>
                </a:solidFill>
                <a:latin typeface="Segoe UI"/>
              </a:defRPr>
            </a:pPr>
            <a:r>
              <a:t>Monitors items through 'open' → 'investigating' → 'resolved' stages.</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DETECTION MODES</a:t>
            </a:r>
          </a:p>
          <a:p>
            <a:pPr>
              <a:spcBef>
                <a:spcPts val="300"/>
              </a:spcBef>
              <a:defRPr sz="1500" b="1">
                <a:solidFill>
                  <a:srgbClr val="FFFFFF"/>
                </a:solidFill>
                <a:latin typeface="Segoe UI"/>
              </a:defRPr>
            </a:pPr>
            <a:r>
              <a:t>Assisted &amp; Manual Identification</a:t>
            </a:r>
          </a:p>
          <a:p>
            <a:pPr>
              <a:spcBef>
                <a:spcPts val="1000"/>
              </a:spcBef>
              <a:defRPr sz="1100" b="1">
                <a:solidFill>
                  <a:srgbClr val="FFFFFF"/>
                </a:solidFill>
                <a:latin typeface="Segoe UI"/>
              </a:defRPr>
            </a:pPr>
            <a:r>
              <a:t>• Transcript Mining</a:t>
            </a:r>
          </a:p>
          <a:p>
            <a:pPr>
              <a:spcBef>
                <a:spcPts val="200"/>
              </a:spcBef>
              <a:defRPr sz="950">
                <a:solidFill>
                  <a:srgbClr val="9CA3AF"/>
                </a:solidFill>
                <a:latin typeface="Segoe UI"/>
              </a:defRPr>
            </a:pPr>
            <a:r>
              <a:t>Gemini flags potential hazards mentioned in team meetings (e.g. 'Wi-Fi gateway saturation').</a:t>
            </a:r>
          </a:p>
          <a:p>
            <a:pPr>
              <a:spcBef>
                <a:spcPts val="1000"/>
              </a:spcBef>
              <a:defRPr sz="1100" b="1">
                <a:solidFill>
                  <a:srgbClr val="FFFFFF"/>
                </a:solidFill>
                <a:latin typeface="Segoe UI"/>
              </a:defRPr>
            </a:pPr>
            <a:r>
              <a:t>• Manual Logging</a:t>
            </a:r>
          </a:p>
          <a:p>
            <a:pPr>
              <a:spcBef>
                <a:spcPts val="200"/>
              </a:spcBef>
              <a:defRPr sz="950">
                <a:solidFill>
                  <a:srgbClr val="9CA3AF"/>
                </a:solidFill>
                <a:latin typeface="Segoe UI"/>
              </a:defRPr>
            </a:pPr>
            <a:r>
              <a:t>Organizers can directly log known campus constraints into the risk registry.</a:t>
            </a:r>
          </a:p>
          <a:p>
            <a:pPr>
              <a:spcBef>
                <a:spcPts val="1000"/>
              </a:spcBef>
              <a:defRPr sz="1100" b="1">
                <a:solidFill>
                  <a:srgbClr val="FFFFFF"/>
                </a:solidFill>
                <a:latin typeface="Segoe UI"/>
              </a:defRPr>
            </a:pPr>
            <a:r>
              <a:t>• Source Tracking</a:t>
            </a:r>
          </a:p>
          <a:p>
            <a:pPr>
              <a:spcBef>
                <a:spcPts val="200"/>
              </a:spcBef>
              <a:defRPr sz="950">
                <a:solidFill>
                  <a:srgbClr val="9CA3AF"/>
                </a:solidFill>
                <a:latin typeface="Segoe UI"/>
              </a:defRPr>
            </a:pPr>
            <a:r>
              <a:t>Explicitly records whether a risk was flagged by AI analysis, manual entry, or agent command.</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MITIGATION ACTIONS</a:t>
            </a:r>
          </a:p>
          <a:p>
            <a:pPr>
              <a:spcBef>
                <a:spcPts val="300"/>
              </a:spcBef>
              <a:defRPr sz="1500" b="1">
                <a:solidFill>
                  <a:srgbClr val="FFFFFF"/>
                </a:solidFill>
                <a:latin typeface="Segoe UI"/>
              </a:defRPr>
            </a:pPr>
            <a:r>
              <a:t>Documented Contingency Plans</a:t>
            </a:r>
          </a:p>
          <a:p>
            <a:pPr>
              <a:spcBef>
                <a:spcPts val="1000"/>
              </a:spcBef>
              <a:defRPr sz="1100" b="1">
                <a:solidFill>
                  <a:srgbClr val="FFFFFF"/>
                </a:solidFill>
                <a:latin typeface="Segoe UI"/>
              </a:defRPr>
            </a:pPr>
            <a:r>
              <a:t>• Prescriptive Steps</a:t>
            </a:r>
          </a:p>
          <a:p>
            <a:pPr>
              <a:spcBef>
                <a:spcPts val="200"/>
              </a:spcBef>
              <a:defRPr sz="950">
                <a:solidFill>
                  <a:srgbClr val="9CA3AF"/>
                </a:solidFill>
                <a:latin typeface="Segoe UI"/>
              </a:defRPr>
            </a:pPr>
            <a:r>
              <a:t>Every risk record stores a recommended mitigation action (e.g. 'Deploy secondary mesh routers').</a:t>
            </a:r>
          </a:p>
          <a:p>
            <a:pPr>
              <a:spcBef>
                <a:spcPts val="1000"/>
              </a:spcBef>
              <a:defRPr sz="1100" b="1">
                <a:solidFill>
                  <a:srgbClr val="FFFFFF"/>
                </a:solidFill>
                <a:latin typeface="Segoe UI"/>
              </a:defRPr>
            </a:pPr>
            <a:r>
              <a:t>• Assigned Lead</a:t>
            </a:r>
          </a:p>
          <a:p>
            <a:pPr>
              <a:spcBef>
                <a:spcPts val="200"/>
              </a:spcBef>
              <a:defRPr sz="950">
                <a:solidFill>
                  <a:srgbClr val="9CA3AF"/>
                </a:solidFill>
                <a:latin typeface="Segoe UI"/>
              </a:defRPr>
            </a:pPr>
            <a:r>
              <a:t>Assigns responsibility for resolving the risk to a designated team member.</a:t>
            </a:r>
          </a:p>
          <a:p>
            <a:pPr>
              <a:spcBef>
                <a:spcPts val="1000"/>
              </a:spcBef>
              <a:defRPr sz="1100" b="1">
                <a:solidFill>
                  <a:srgbClr val="FFFFFF"/>
                </a:solidFill>
                <a:latin typeface="Segoe UI"/>
              </a:defRPr>
            </a:pPr>
            <a:r>
              <a:t>• Resolution Verification</a:t>
            </a:r>
          </a:p>
          <a:p>
            <a:pPr>
              <a:spcBef>
                <a:spcPts val="200"/>
              </a:spcBef>
              <a:defRPr sz="950">
                <a:solidFill>
                  <a:srgbClr val="9CA3AF"/>
                </a:solidFill>
                <a:latin typeface="Segoe UI"/>
              </a:defRPr>
            </a:pPr>
            <a:r>
              <a:t>Requires documenting the corrective action taken before marking as resolved.</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12 of 30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FEATURE PILLAR 05</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Notification Center &amp; Targeted Alerts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Keeping organizers and volunteers synchronized without group-chat noise.</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SYSTEM TRIGGERS</a:t>
            </a:r>
          </a:p>
          <a:p>
            <a:pPr>
              <a:spcBef>
                <a:spcPts val="300"/>
              </a:spcBef>
              <a:defRPr sz="1500" b="1">
                <a:solidFill>
                  <a:srgbClr val="FFFFFF"/>
                </a:solidFill>
                <a:latin typeface="Segoe UI"/>
              </a:defRPr>
            </a:pPr>
            <a:r>
              <a:t>Event-Driven Notifications</a:t>
            </a:r>
          </a:p>
          <a:p>
            <a:pPr>
              <a:spcBef>
                <a:spcPts val="1000"/>
              </a:spcBef>
              <a:defRPr sz="1100" b="1">
                <a:solidFill>
                  <a:srgbClr val="FFFFFF"/>
                </a:solidFill>
                <a:latin typeface="Segoe UI"/>
              </a:defRPr>
            </a:pPr>
            <a:r>
              <a:t>• Task Assignments</a:t>
            </a:r>
          </a:p>
          <a:p>
            <a:pPr>
              <a:spcBef>
                <a:spcPts val="200"/>
              </a:spcBef>
              <a:defRPr sz="950">
                <a:solidFill>
                  <a:srgbClr val="9CA3AF"/>
                </a:solidFill>
                <a:latin typeface="Segoe UI"/>
              </a:defRPr>
            </a:pPr>
            <a:r>
              <a:t>Volunteers receive notifications immediately when assigned to new tasks.</a:t>
            </a:r>
          </a:p>
          <a:p>
            <a:pPr>
              <a:spcBef>
                <a:spcPts val="1000"/>
              </a:spcBef>
              <a:defRPr sz="1100" b="1">
                <a:solidFill>
                  <a:srgbClr val="FFFFFF"/>
                </a:solidFill>
                <a:latin typeface="Segoe UI"/>
              </a:defRPr>
            </a:pPr>
            <a:r>
              <a:t>• Deadline Alerts</a:t>
            </a:r>
          </a:p>
          <a:p>
            <a:pPr>
              <a:spcBef>
                <a:spcPts val="200"/>
              </a:spcBef>
              <a:defRPr sz="950">
                <a:solidFill>
                  <a:srgbClr val="9CA3AF"/>
                </a:solidFill>
                <a:latin typeface="Segoe UI"/>
              </a:defRPr>
            </a:pPr>
            <a:r>
              <a:t>Automated warnings dispatched by background jobs when deadlines approach.</a:t>
            </a:r>
          </a:p>
          <a:p>
            <a:pPr>
              <a:spcBef>
                <a:spcPts val="1000"/>
              </a:spcBef>
              <a:defRPr sz="1100" b="1">
                <a:solidFill>
                  <a:srgbClr val="FFFFFF"/>
                </a:solidFill>
                <a:latin typeface="Segoe UI"/>
              </a:defRPr>
            </a:pPr>
            <a:r>
              <a:t>• Risk Escalations</a:t>
            </a:r>
          </a:p>
          <a:p>
            <a:pPr>
              <a:spcBef>
                <a:spcPts val="200"/>
              </a:spcBef>
              <a:defRPr sz="950">
                <a:solidFill>
                  <a:srgbClr val="9CA3AF"/>
                </a:solidFill>
                <a:latin typeface="Segoe UI"/>
              </a:defRPr>
            </a:pPr>
            <a:r>
              <a:t>Alerts organizers when a Critical severity risk is reported.</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URGENCY ROUTING</a:t>
            </a:r>
          </a:p>
          <a:p>
            <a:pPr>
              <a:spcBef>
                <a:spcPts val="300"/>
              </a:spcBef>
              <a:defRPr sz="1500" b="1">
                <a:solidFill>
                  <a:srgbClr val="FFFFFF"/>
                </a:solidFill>
                <a:latin typeface="Segoe UI"/>
              </a:defRPr>
            </a:pPr>
            <a:r>
              <a:t>Visual Priority Badges</a:t>
            </a:r>
          </a:p>
          <a:p>
            <a:pPr>
              <a:spcBef>
                <a:spcPts val="1000"/>
              </a:spcBef>
              <a:defRPr sz="1100" b="1">
                <a:solidFill>
                  <a:srgbClr val="FFFFFF"/>
                </a:solidFill>
                <a:latin typeface="Segoe UI"/>
              </a:defRPr>
            </a:pPr>
            <a:r>
              <a:t>• Priority Tiers</a:t>
            </a:r>
          </a:p>
          <a:p>
            <a:pPr>
              <a:spcBef>
                <a:spcPts val="200"/>
              </a:spcBef>
              <a:defRPr sz="950">
                <a:solidFill>
                  <a:srgbClr val="9CA3AF"/>
                </a:solidFill>
                <a:latin typeface="Segoe UI"/>
              </a:defRPr>
            </a:pPr>
            <a:r>
              <a:t>Color-coded priority tags (Low, Medium, High, Critical) highlight urgent alerts.</a:t>
            </a:r>
          </a:p>
          <a:p>
            <a:pPr>
              <a:spcBef>
                <a:spcPts val="1000"/>
              </a:spcBef>
              <a:defRPr sz="1100" b="1">
                <a:solidFill>
                  <a:srgbClr val="FFFFFF"/>
                </a:solidFill>
                <a:latin typeface="Segoe UI"/>
              </a:defRPr>
            </a:pPr>
            <a:r>
              <a:t>• Read / Unread State</a:t>
            </a:r>
          </a:p>
          <a:p>
            <a:pPr>
              <a:spcBef>
                <a:spcPts val="200"/>
              </a:spcBef>
              <a:defRPr sz="950">
                <a:solidFill>
                  <a:srgbClr val="9CA3AF"/>
                </a:solidFill>
                <a:latin typeface="Segoe UI"/>
              </a:defRPr>
            </a:pPr>
            <a:r>
              <a:t>Tracks unread counts with simple toggle to mark notifications as read.</a:t>
            </a:r>
          </a:p>
          <a:p>
            <a:pPr>
              <a:spcBef>
                <a:spcPts val="1000"/>
              </a:spcBef>
              <a:defRPr sz="1100" b="1">
                <a:solidFill>
                  <a:srgbClr val="FFFFFF"/>
                </a:solidFill>
                <a:latin typeface="Segoe UI"/>
              </a:defRPr>
            </a:pPr>
            <a:r>
              <a:t>• Scoped View</a:t>
            </a:r>
          </a:p>
          <a:p>
            <a:pPr>
              <a:spcBef>
                <a:spcPts val="200"/>
              </a:spcBef>
              <a:defRPr sz="950">
                <a:solidFill>
                  <a:srgbClr val="9CA3AF"/>
                </a:solidFill>
                <a:latin typeface="Segoe UI"/>
              </a:defRPr>
            </a:pPr>
            <a:r>
              <a:t>Users only see notifications relevant to their assigned events and tasks.</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ORGANIZER BROADCASTS</a:t>
            </a:r>
          </a:p>
          <a:p>
            <a:pPr>
              <a:spcBef>
                <a:spcPts val="300"/>
              </a:spcBef>
              <a:defRPr sz="1500" b="1">
                <a:solidFill>
                  <a:srgbClr val="FFFFFF"/>
                </a:solidFill>
                <a:latin typeface="Segoe UI"/>
              </a:defRPr>
            </a:pPr>
            <a:r>
              <a:t>Targeted Announcements</a:t>
            </a:r>
          </a:p>
          <a:p>
            <a:pPr>
              <a:spcBef>
                <a:spcPts val="1000"/>
              </a:spcBef>
              <a:defRPr sz="1100" b="1">
                <a:solidFill>
                  <a:srgbClr val="FFFFFF"/>
                </a:solidFill>
                <a:latin typeface="Segoe UI"/>
              </a:defRPr>
            </a:pPr>
            <a:r>
              <a:t>• Broadcast Tool</a:t>
            </a:r>
          </a:p>
          <a:p>
            <a:pPr>
              <a:spcBef>
                <a:spcPts val="200"/>
              </a:spcBef>
              <a:defRPr sz="950">
                <a:solidFill>
                  <a:srgbClr val="9CA3AF"/>
                </a:solidFill>
                <a:latin typeface="Segoe UI"/>
              </a:defRPr>
            </a:pPr>
            <a:r>
              <a:t>Organizers can send targeted notifications to individuals via assistant commands.</a:t>
            </a:r>
          </a:p>
          <a:p>
            <a:pPr>
              <a:spcBef>
                <a:spcPts val="1000"/>
              </a:spcBef>
              <a:defRPr sz="1100" b="1">
                <a:solidFill>
                  <a:srgbClr val="FFFFFF"/>
                </a:solidFill>
                <a:latin typeface="Segoe UI"/>
              </a:defRPr>
            </a:pPr>
            <a:r>
              <a:t>• Name Resolution</a:t>
            </a:r>
          </a:p>
          <a:p>
            <a:pPr>
              <a:spcBef>
                <a:spcPts val="200"/>
              </a:spcBef>
              <a:defRPr sz="950">
                <a:solidFill>
                  <a:srgbClr val="9CA3AF"/>
                </a:solidFill>
                <a:latin typeface="Segoe UI"/>
              </a:defRPr>
            </a:pPr>
            <a:r>
              <a:t>Resolves user names and validates club membership before dispatching.</a:t>
            </a:r>
          </a:p>
          <a:p>
            <a:pPr>
              <a:spcBef>
                <a:spcPts val="1000"/>
              </a:spcBef>
              <a:defRPr sz="1100" b="1">
                <a:solidFill>
                  <a:srgbClr val="FFFFFF"/>
                </a:solidFill>
                <a:latin typeface="Segoe UI"/>
              </a:defRPr>
            </a:pPr>
            <a:r>
              <a:t>• Facility Updates</a:t>
            </a:r>
          </a:p>
          <a:p>
            <a:pPr>
              <a:spcBef>
                <a:spcPts val="200"/>
              </a:spcBef>
              <a:defRPr sz="950">
                <a:solidFill>
                  <a:srgbClr val="9CA3AF"/>
                </a:solidFill>
                <a:latin typeface="Segoe UI"/>
              </a:defRPr>
            </a:pPr>
            <a:r>
              <a:t>Share building access permits and schedule changes directly to the in-app inbox.</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13 of 30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AI AUTOMATION</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Structured Intent Parsing &amp; Decoupled Execution</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Lead: Dhruv Patel  •  Extracting typed parameters without granting the LLM direct database access.</a:t>
            </a:r>
          </a:p>
        </p:txBody>
      </p:sp>
      <p:sp>
        <p:nvSpPr>
          <p:cNvPr id="6" name="Rectangle 5"/>
          <p:cNvSpPr/>
          <p:nvPr/>
        </p:nvSpPr>
        <p:spPr>
          <a:xfrm>
            <a:off x="731520" y="1691640"/>
            <a:ext cx="52120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19"/>
            <a:ext cx="4663440" cy="4114800"/>
          </a:xfrm>
          <a:prstGeom prst="rect">
            <a:avLst/>
          </a:prstGeom>
          <a:noFill/>
        </p:spPr>
        <p:txBody>
          <a:bodyPr wrap="square">
            <a:spAutoFit/>
          </a:bodyPr>
          <a:lstStyle/>
          <a:p>
            <a:pPr>
              <a:defRPr sz="1100" b="1">
                <a:solidFill>
                  <a:srgbClr val="FF2D55"/>
                </a:solidFill>
                <a:latin typeface="Segoe UI"/>
              </a:defRPr>
            </a:pPr>
            <a:r>
              <a:t>PROMPT ENGINEERING &amp; JSON CONSTRAINTS</a:t>
            </a:r>
          </a:p>
          <a:p>
            <a:pPr>
              <a:spcBef>
                <a:spcPts val="800"/>
              </a:spcBef>
              <a:defRPr sz="1100" b="1">
                <a:solidFill>
                  <a:srgbClr val="FFFFFF"/>
                </a:solidFill>
                <a:latin typeface="Segoe UI"/>
              </a:defRPr>
            </a:pPr>
            <a:r>
              <a:t>• Strict Output Constraints</a:t>
            </a:r>
          </a:p>
          <a:p>
            <a:pPr>
              <a:spcBef>
                <a:spcPts val="100"/>
              </a:spcBef>
              <a:defRPr sz="950">
                <a:solidFill>
                  <a:srgbClr val="9CA3AF"/>
                </a:solidFill>
                <a:latin typeface="Segoe UI"/>
              </a:defRPr>
            </a:pPr>
            <a:r>
              <a:t>Gemini 3.6 Flash is instructed to return ONLY raw JSON matching a specified schema. Explanations outside JSON are forbidden.</a:t>
            </a:r>
          </a:p>
          <a:p>
            <a:pPr>
              <a:spcBef>
                <a:spcPts val="800"/>
              </a:spcBef>
              <a:defRPr sz="1100" b="1">
                <a:solidFill>
                  <a:srgbClr val="FFFFFF"/>
                </a:solidFill>
                <a:latin typeface="Segoe UI"/>
              </a:defRPr>
            </a:pPr>
            <a:r>
              <a:t>• No Invented IDs</a:t>
            </a:r>
          </a:p>
          <a:p>
            <a:pPr>
              <a:spcBef>
                <a:spcPts val="100"/>
              </a:spcBef>
              <a:defRPr sz="950">
                <a:solidFill>
                  <a:srgbClr val="9CA3AF"/>
                </a:solidFill>
                <a:latin typeface="Segoe UI"/>
              </a:defRPr>
            </a:pPr>
            <a:r>
              <a:t>Prompt rules explicitly instruct the model never to invent MongoDB ObjectIDs; it must return plain names (e.g. 'Maya') or null.</a:t>
            </a:r>
          </a:p>
          <a:p>
            <a:pPr>
              <a:spcBef>
                <a:spcPts val="800"/>
              </a:spcBef>
              <a:defRPr sz="1100" b="1">
                <a:solidFill>
                  <a:srgbClr val="FFFFFF"/>
                </a:solidFill>
                <a:latin typeface="Segoe UI"/>
              </a:defRPr>
            </a:pPr>
            <a:r>
              <a:t>• Enum Normalization</a:t>
            </a:r>
          </a:p>
          <a:p>
            <a:pPr>
              <a:spcBef>
                <a:spcPts val="100"/>
              </a:spcBef>
              <a:defRPr sz="950">
                <a:solidFill>
                  <a:srgbClr val="9CA3AF"/>
                </a:solidFill>
                <a:latin typeface="Segoe UI"/>
              </a:defRPr>
            </a:pPr>
            <a:r>
              <a:t>Priority is constrained to ['low', 'medium', 'high', 'critical'] and status to valid Mongoose enum values.</a:t>
            </a:r>
          </a:p>
          <a:p>
            <a:pPr>
              <a:spcBef>
                <a:spcPts val="800"/>
              </a:spcBef>
              <a:defRPr sz="1100" b="1">
                <a:solidFill>
                  <a:srgbClr val="FFFFFF"/>
                </a:solidFill>
                <a:latin typeface="Segoe UI"/>
              </a:defRPr>
            </a:pPr>
            <a:r>
              <a:t>• Clean Parsing Wrapper</a:t>
            </a:r>
          </a:p>
          <a:p>
            <a:pPr>
              <a:spcBef>
                <a:spcPts val="100"/>
              </a:spcBef>
              <a:defRPr sz="950">
                <a:solidFill>
                  <a:srgbClr val="9CA3AF"/>
                </a:solidFill>
                <a:latin typeface="Segoe UI"/>
              </a:defRPr>
            </a:pPr>
            <a:r>
              <a:t>intentParser.js strips markdown code fences (` ```json `) before parsing to prevent syntax crashes.</a:t>
            </a:r>
          </a:p>
        </p:txBody>
      </p:sp>
      <p:sp>
        <p:nvSpPr>
          <p:cNvPr id="8" name="Rectangle 7"/>
          <p:cNvSpPr/>
          <p:nvPr/>
        </p:nvSpPr>
        <p:spPr>
          <a:xfrm>
            <a:off x="6217920" y="1691640"/>
            <a:ext cx="52120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19"/>
            <a:ext cx="4663440" cy="4114800"/>
          </a:xfrm>
          <a:prstGeom prst="rect">
            <a:avLst/>
          </a:prstGeom>
          <a:noFill/>
        </p:spPr>
        <p:txBody>
          <a:bodyPr wrap="square">
            <a:spAutoFit/>
          </a:bodyPr>
          <a:lstStyle/>
          <a:p>
            <a:pPr>
              <a:defRPr sz="1100" b="1">
                <a:solidFill>
                  <a:srgbClr val="FF2D55"/>
                </a:solidFill>
                <a:latin typeface="Segoe UI"/>
              </a:defRPr>
            </a:pPr>
            <a:r>
              <a:t>INTENT DISPATCH ARCHITECTURE</a:t>
            </a:r>
          </a:p>
          <a:p>
            <a:pPr>
              <a:spcBef>
                <a:spcPts val="800"/>
              </a:spcBef>
              <a:defRPr sz="1100" b="1">
                <a:solidFill>
                  <a:srgbClr val="FFFFFF"/>
                </a:solidFill>
                <a:latin typeface="Segoe UI"/>
              </a:defRPr>
            </a:pPr>
            <a:r>
              <a:t>• 5 Supported Intents</a:t>
            </a:r>
          </a:p>
          <a:p>
            <a:pPr>
              <a:spcBef>
                <a:spcPts val="100"/>
              </a:spcBef>
              <a:defRPr sz="950">
                <a:solidFill>
                  <a:srgbClr val="9CA3AF"/>
                </a:solidFill>
                <a:latin typeface="Segoe UI"/>
              </a:defRPr>
            </a:pPr>
            <a:r>
              <a:t>CREATE_TASK, UPDATE_TASK, CREATE_RISK, SEND_NOTIFICATION, QUERY_KNOWLEDGE, or UNKNOWN fallback.</a:t>
            </a:r>
          </a:p>
          <a:p>
            <a:pPr>
              <a:spcBef>
                <a:spcPts val="800"/>
              </a:spcBef>
              <a:defRPr sz="1100" b="1">
                <a:solidFill>
                  <a:srgbClr val="FFFFFF"/>
                </a:solidFill>
                <a:latin typeface="Segoe UI"/>
              </a:defRPr>
            </a:pPr>
            <a:r>
              <a:t>• Decoupled Execution</a:t>
            </a:r>
          </a:p>
          <a:p>
            <a:pPr>
              <a:spcBef>
                <a:spcPts val="100"/>
              </a:spcBef>
              <a:defRPr sz="950">
                <a:solidFill>
                  <a:srgbClr val="9CA3AF"/>
                </a:solidFill>
                <a:latin typeface="Segoe UI"/>
              </a:defRPr>
            </a:pPr>
            <a:r>
              <a:t>The LLM never directly executes SQL/Mongoose operations. It merely categorizes intent and extracts parameters.</a:t>
            </a:r>
          </a:p>
          <a:p>
            <a:pPr>
              <a:spcBef>
                <a:spcPts val="800"/>
              </a:spcBef>
              <a:defRPr sz="1100" b="1">
                <a:solidFill>
                  <a:srgbClr val="FFFFFF"/>
                </a:solidFill>
                <a:latin typeface="Segoe UI"/>
              </a:defRPr>
            </a:pPr>
            <a:r>
              <a:t>• Name-to-ID Verification</a:t>
            </a:r>
          </a:p>
          <a:p>
            <a:pPr>
              <a:spcBef>
                <a:spcPts val="100"/>
              </a:spcBef>
              <a:defRPr sz="950">
                <a:solidFill>
                  <a:srgbClr val="9CA3AF"/>
                </a:solidFill>
                <a:latin typeface="Segoe UI"/>
              </a:defRPr>
            </a:pPr>
            <a:r>
              <a:t>Backend code searches MongoDB for the user record matching the spoken name within the active club.</a:t>
            </a:r>
          </a:p>
          <a:p>
            <a:pPr>
              <a:spcBef>
                <a:spcPts val="800"/>
              </a:spcBef>
              <a:defRPr sz="1100" b="1">
                <a:solidFill>
                  <a:srgbClr val="FFFFFF"/>
                </a:solidFill>
                <a:latin typeface="Segoe UI"/>
              </a:defRPr>
            </a:pPr>
            <a:r>
              <a:t>• Action Audit Persistence</a:t>
            </a:r>
          </a:p>
          <a:p>
            <a:pPr>
              <a:spcBef>
                <a:spcPts val="100"/>
              </a:spcBef>
              <a:defRPr sz="950">
                <a:solidFill>
                  <a:srgbClr val="9CA3AF"/>
                </a:solidFill>
                <a:latin typeface="Segoe UI"/>
              </a:defRPr>
            </a:pPr>
            <a:r>
              <a:t>Every parsed command creates an AgentAction document tracking command string, status, and result.</a:t>
            </a:r>
          </a:p>
        </p:txBody>
      </p:sp>
      <p:sp>
        <p:nvSpPr>
          <p:cNvPr id="10" name="TextBox 9"/>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14 of 30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TOOL REGISTRY</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Backend Tool Registry: 5 Discrete Operations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Modular backend tools executing database mutations upon validated intent dispatch.</a:t>
            </a:r>
          </a:p>
        </p:txBody>
      </p:sp>
      <p:sp>
        <p:nvSpPr>
          <p:cNvPr id="6" name="Rectangle 5"/>
          <p:cNvSpPr/>
          <p:nvPr/>
        </p:nvSpPr>
        <p:spPr>
          <a:xfrm>
            <a:off x="731520" y="1691640"/>
            <a:ext cx="10728655" cy="804672"/>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3080"/>
            <a:ext cx="10362895" cy="621792"/>
          </a:xfrm>
          <a:prstGeom prst="rect">
            <a:avLst/>
          </a:prstGeom>
          <a:noFill/>
        </p:spPr>
        <p:txBody>
          <a:bodyPr wrap="square">
            <a:spAutoFit/>
          </a:bodyPr>
          <a:lstStyle/>
          <a:p>
            <a:pPr>
              <a:defRPr sz="1150" b="1">
                <a:solidFill>
                  <a:srgbClr val="FF2D55"/>
                </a:solidFill>
                <a:latin typeface="Segoe UI"/>
              </a:defRPr>
            </a:pPr>
            <a:r>
              <a:t>CREATE_TASK  —  Creates and assigns actionable deliverables to volunteers</a:t>
            </a:r>
          </a:p>
          <a:p>
            <a:pPr>
              <a:spcBef>
                <a:spcPts val="200"/>
              </a:spcBef>
              <a:defRPr sz="950">
                <a:solidFill>
                  <a:srgbClr val="9CA3AF"/>
                </a:solidFill>
                <a:latin typeface="Segoe UI"/>
              </a:defRPr>
            </a:pPr>
            <a:r>
              <a:t>Inputs: title, description, assigneeName, priority, deadline</a:t>
            </a:r>
            <a:br/>
            <a:r>
              <a:t>Backend logic: Resolves assignee name within event club members, validates priority enum, sets source='ai_agent', and saves to Task collection.</a:t>
            </a:r>
          </a:p>
        </p:txBody>
      </p:sp>
      <p:sp>
        <p:nvSpPr>
          <p:cNvPr id="8" name="Rectangle 7"/>
          <p:cNvSpPr/>
          <p:nvPr/>
        </p:nvSpPr>
        <p:spPr>
          <a:xfrm>
            <a:off x="731520" y="2606040"/>
            <a:ext cx="10728655" cy="804672"/>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697480"/>
            <a:ext cx="10362895" cy="621792"/>
          </a:xfrm>
          <a:prstGeom prst="rect">
            <a:avLst/>
          </a:prstGeom>
          <a:noFill/>
        </p:spPr>
        <p:txBody>
          <a:bodyPr wrap="square">
            <a:spAutoFit/>
          </a:bodyPr>
          <a:lstStyle/>
          <a:p>
            <a:pPr>
              <a:defRPr sz="1150" b="1">
                <a:solidFill>
                  <a:srgbClr val="FF2D55"/>
                </a:solidFill>
                <a:latin typeface="Segoe UI"/>
              </a:defRPr>
            </a:pPr>
            <a:r>
              <a:t>UPDATE_TASK  —  Updates task status, priority, or completion</a:t>
            </a:r>
          </a:p>
          <a:p>
            <a:pPr>
              <a:spcBef>
                <a:spcPts val="200"/>
              </a:spcBef>
              <a:defRPr sz="950">
                <a:solidFill>
                  <a:srgbClr val="9CA3AF"/>
                </a:solidFill>
                <a:latin typeface="Segoe UI"/>
              </a:defRPr>
            </a:pPr>
            <a:r>
              <a:t>Inputs: taskIdentifier, status, priority, deadline</a:t>
            </a:r>
            <a:br/>
            <a:r>
              <a:t>Backend logic: Fuzzy matches task title against active event tasks; updates status (e.g. 'completed') and logs modification timestamp.</a:t>
            </a:r>
          </a:p>
        </p:txBody>
      </p:sp>
      <p:sp>
        <p:nvSpPr>
          <p:cNvPr id="10" name="Rectangle 9"/>
          <p:cNvSpPr/>
          <p:nvPr/>
        </p:nvSpPr>
        <p:spPr>
          <a:xfrm>
            <a:off x="731520" y="3520440"/>
            <a:ext cx="10728655" cy="804672"/>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611880"/>
            <a:ext cx="10362895" cy="621792"/>
          </a:xfrm>
          <a:prstGeom prst="rect">
            <a:avLst/>
          </a:prstGeom>
          <a:noFill/>
        </p:spPr>
        <p:txBody>
          <a:bodyPr wrap="square">
            <a:spAutoFit/>
          </a:bodyPr>
          <a:lstStyle/>
          <a:p>
            <a:pPr>
              <a:defRPr sz="1150" b="1">
                <a:solidFill>
                  <a:srgbClr val="FF2D55"/>
                </a:solidFill>
                <a:latin typeface="Segoe UI"/>
              </a:defRPr>
            </a:pPr>
            <a:r>
              <a:t>CREATE_RISK  —  Logs operational hazards and recommended actions</a:t>
            </a:r>
          </a:p>
          <a:p>
            <a:pPr>
              <a:spcBef>
                <a:spcPts val="200"/>
              </a:spcBef>
              <a:defRPr sz="950">
                <a:solidFill>
                  <a:srgbClr val="9CA3AF"/>
                </a:solidFill>
                <a:latin typeface="Segoe UI"/>
              </a:defRPr>
            </a:pPr>
            <a:r>
              <a:t>Inputs: title, description, severity, probability, recommendedAction</a:t>
            </a:r>
            <a:br/>
            <a:r>
              <a:t>Backend logic: Creates monitored Risk record; sets detectedBy='ai_agent' and notifies organizers if marked Critical/High.</a:t>
            </a:r>
          </a:p>
        </p:txBody>
      </p:sp>
      <p:sp>
        <p:nvSpPr>
          <p:cNvPr id="12" name="Rectangle 11"/>
          <p:cNvSpPr/>
          <p:nvPr/>
        </p:nvSpPr>
        <p:spPr>
          <a:xfrm>
            <a:off x="731520" y="4434840"/>
            <a:ext cx="10728655" cy="804672"/>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526280"/>
            <a:ext cx="10362895" cy="621792"/>
          </a:xfrm>
          <a:prstGeom prst="rect">
            <a:avLst/>
          </a:prstGeom>
          <a:noFill/>
        </p:spPr>
        <p:txBody>
          <a:bodyPr wrap="square">
            <a:spAutoFit/>
          </a:bodyPr>
          <a:lstStyle/>
          <a:p>
            <a:pPr>
              <a:defRPr sz="1150" b="1">
                <a:solidFill>
                  <a:srgbClr val="FF2D55"/>
                </a:solidFill>
                <a:latin typeface="Segoe UI"/>
              </a:defRPr>
            </a:pPr>
            <a:r>
              <a:t>SEND_NOTIFICATION  —  Dispatches priority announcements to team members</a:t>
            </a:r>
          </a:p>
          <a:p>
            <a:pPr>
              <a:spcBef>
                <a:spcPts val="200"/>
              </a:spcBef>
              <a:defRPr sz="950">
                <a:solidFill>
                  <a:srgbClr val="9CA3AF"/>
                </a:solidFill>
                <a:latin typeface="Segoe UI"/>
              </a:defRPr>
            </a:pPr>
            <a:r>
              <a:t>Inputs: recipientName, message, priority</a:t>
            </a:r>
            <a:br/>
            <a:r>
              <a:t>Backend logic: Resolves recipient user ID in the club; writes to Notification collection with read=false for immediate inbox display.</a:t>
            </a:r>
          </a:p>
        </p:txBody>
      </p:sp>
      <p:sp>
        <p:nvSpPr>
          <p:cNvPr id="14" name="Rectangle 13"/>
          <p:cNvSpPr/>
          <p:nvPr/>
        </p:nvSpPr>
        <p:spPr>
          <a:xfrm>
            <a:off x="731520" y="5349240"/>
            <a:ext cx="10728655" cy="804672"/>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440680"/>
            <a:ext cx="10362895" cy="621792"/>
          </a:xfrm>
          <a:prstGeom prst="rect">
            <a:avLst/>
          </a:prstGeom>
          <a:noFill/>
        </p:spPr>
        <p:txBody>
          <a:bodyPr wrap="square">
            <a:spAutoFit/>
          </a:bodyPr>
          <a:lstStyle/>
          <a:p>
            <a:pPr>
              <a:defRPr sz="1150" b="1">
                <a:solidFill>
                  <a:srgbClr val="FF2D55"/>
                </a:solidFill>
                <a:latin typeface="Segoe UI"/>
              </a:defRPr>
            </a:pPr>
            <a:r>
              <a:t>QUERY_KNOWLEDGE  —  Queries live operational database records &amp; RAG documents</a:t>
            </a:r>
          </a:p>
          <a:p>
            <a:pPr>
              <a:spcBef>
                <a:spcPts val="200"/>
              </a:spcBef>
              <a:defRPr sz="950">
                <a:solidFill>
                  <a:srgbClr val="9CA3AF"/>
                </a:solidFill>
                <a:latin typeface="Segoe UI"/>
              </a:defRPr>
            </a:pPr>
            <a:r>
              <a:t>Inputs: query</a:t>
            </a:r>
            <a:br/>
            <a:r>
              <a:t>Backend logic: Gathers live tasks, risks, and volunteers, retrieves top-3 RAG chunks, and synthesizes a grounded answer with source citations.</a:t>
            </a:r>
          </a:p>
        </p:txBody>
      </p:sp>
      <p:sp>
        <p:nvSpPr>
          <p:cNvPr id="16" name="TextBox 15"/>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15 of 30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MEETING INTELLIGENCE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Meeting Intelligence: Transcript Ingestion Pipeline</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Converting raw conversational dialogue into structured tasks, risks, and decisions.</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STAGE 1: INGESTION</a:t>
            </a:r>
          </a:p>
          <a:p>
            <a:pPr>
              <a:spcBef>
                <a:spcPts val="300"/>
              </a:spcBef>
              <a:defRPr sz="1500" b="1">
                <a:solidFill>
                  <a:srgbClr val="FFFFFF"/>
                </a:solidFill>
                <a:latin typeface="Segoe UI"/>
              </a:defRPr>
            </a:pPr>
            <a:r>
              <a:t>Transcript Ingestion</a:t>
            </a:r>
          </a:p>
          <a:p>
            <a:pPr>
              <a:spcBef>
                <a:spcPts val="1000"/>
              </a:spcBef>
              <a:defRPr sz="1100" b="1">
                <a:solidFill>
                  <a:srgbClr val="FFFFFF"/>
                </a:solidFill>
                <a:latin typeface="Segoe UI"/>
              </a:defRPr>
            </a:pPr>
            <a:r>
              <a:t>• Multi-Speaker Text</a:t>
            </a:r>
          </a:p>
          <a:p>
            <a:pPr>
              <a:spcBef>
                <a:spcPts val="200"/>
              </a:spcBef>
              <a:defRPr sz="950">
                <a:solidFill>
                  <a:srgbClr val="9CA3AF"/>
                </a:solidFill>
                <a:latin typeface="Segoe UI"/>
              </a:defRPr>
            </a:pPr>
            <a:r>
              <a:t>Accepts verbatim transcripts or notes pasted into the meeting processing interface.</a:t>
            </a:r>
          </a:p>
          <a:p>
            <a:pPr>
              <a:spcBef>
                <a:spcPts val="1000"/>
              </a:spcBef>
              <a:defRPr sz="1100" b="1">
                <a:solidFill>
                  <a:srgbClr val="FFFFFF"/>
                </a:solidFill>
                <a:latin typeface="Segoe UI"/>
              </a:defRPr>
            </a:pPr>
            <a:r>
              <a:t>• Context Awareness</a:t>
            </a:r>
          </a:p>
          <a:p>
            <a:pPr>
              <a:spcBef>
                <a:spcPts val="200"/>
              </a:spcBef>
              <a:defRPr sz="950">
                <a:solidFill>
                  <a:srgbClr val="9CA3AF"/>
                </a:solidFill>
                <a:latin typeface="Segoe UI"/>
              </a:defRPr>
            </a:pPr>
            <a:r>
              <a:t>Preserves speaker identity (e.g. 'Sarah (Admin)', 'Krish (Organizer)') to inform owner extraction.</a:t>
            </a:r>
          </a:p>
          <a:p>
            <a:pPr>
              <a:spcBef>
                <a:spcPts val="1000"/>
              </a:spcBef>
              <a:defRPr sz="1100" b="1">
                <a:solidFill>
                  <a:srgbClr val="FFFFFF"/>
                </a:solidFill>
                <a:latin typeface="Segoe UI"/>
              </a:defRPr>
            </a:pPr>
            <a:r>
              <a:t>• Zero Formatting Required</a:t>
            </a:r>
          </a:p>
          <a:p>
            <a:pPr>
              <a:spcBef>
                <a:spcPts val="200"/>
              </a:spcBef>
              <a:defRPr sz="950">
                <a:solidFill>
                  <a:srgbClr val="9CA3AF"/>
                </a:solidFill>
                <a:latin typeface="Segoe UI"/>
              </a:defRPr>
            </a:pPr>
            <a:r>
              <a:t>Handles informal student dialogue, scheduling discussions, and rapid-fire exchanges.</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STAGE 2: EXTRACTION</a:t>
            </a:r>
          </a:p>
          <a:p>
            <a:pPr>
              <a:spcBef>
                <a:spcPts val="300"/>
              </a:spcBef>
              <a:defRPr sz="1500" b="1">
                <a:solidFill>
                  <a:srgbClr val="FFFFFF"/>
                </a:solidFill>
                <a:latin typeface="Segoe UI"/>
              </a:defRPr>
            </a:pPr>
            <a:r>
              <a:t>Gemini Schema Generation</a:t>
            </a:r>
          </a:p>
          <a:p>
            <a:pPr>
              <a:spcBef>
                <a:spcPts val="1000"/>
              </a:spcBef>
              <a:defRPr sz="1100" b="1">
                <a:solidFill>
                  <a:srgbClr val="FFFFFF"/>
                </a:solidFill>
                <a:latin typeface="Segoe UI"/>
              </a:defRPr>
            </a:pPr>
            <a:r>
              <a:t>• Typed JSON Structure</a:t>
            </a:r>
          </a:p>
          <a:p>
            <a:pPr>
              <a:spcBef>
                <a:spcPts val="200"/>
              </a:spcBef>
              <a:defRPr sz="950">
                <a:solidFill>
                  <a:srgbClr val="9CA3AF"/>
                </a:solidFill>
                <a:latin typeface="Segoe UI"/>
              </a:defRPr>
            </a:pPr>
            <a:r>
              <a:t>Prompts Gemini to extract summary, tasks array, risks array, decisions, and action items.</a:t>
            </a:r>
          </a:p>
          <a:p>
            <a:pPr>
              <a:spcBef>
                <a:spcPts val="1000"/>
              </a:spcBef>
              <a:defRPr sz="1100" b="1">
                <a:solidFill>
                  <a:srgbClr val="FFFFFF"/>
                </a:solidFill>
                <a:latin typeface="Segoe UI"/>
              </a:defRPr>
            </a:pPr>
            <a:r>
              <a:t>• Field Constraints</a:t>
            </a:r>
          </a:p>
          <a:p>
            <a:pPr>
              <a:spcBef>
                <a:spcPts val="200"/>
              </a:spcBef>
              <a:defRPr sz="950">
                <a:solidFill>
                  <a:srgbClr val="9CA3AF"/>
                </a:solidFill>
                <a:latin typeface="Segoe UI"/>
              </a:defRPr>
            </a:pPr>
            <a:r>
              <a:t>Forces tasks to have title, priority ('low' to 'critical'), and deadline (date or null).</a:t>
            </a:r>
          </a:p>
          <a:p>
            <a:pPr>
              <a:spcBef>
                <a:spcPts val="1000"/>
              </a:spcBef>
              <a:defRPr sz="1100" b="1">
                <a:solidFill>
                  <a:srgbClr val="FFFFFF"/>
                </a:solidFill>
                <a:latin typeface="Segoe UI"/>
              </a:defRPr>
            </a:pPr>
            <a:r>
              <a:t>• Cleansing &amp; Parsing</a:t>
            </a:r>
          </a:p>
          <a:p>
            <a:pPr>
              <a:spcBef>
                <a:spcPts val="200"/>
              </a:spcBef>
              <a:defRPr sz="950">
                <a:solidFill>
                  <a:srgbClr val="9CA3AF"/>
                </a:solidFill>
                <a:latin typeface="Segoe UI"/>
              </a:defRPr>
            </a:pPr>
            <a:r>
              <a:t>Removes potential markdown wrappers and executes server-side JSON.parse() in aiService.js.</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STAGE 3: HYDRATION</a:t>
            </a:r>
          </a:p>
          <a:p>
            <a:pPr>
              <a:spcBef>
                <a:spcPts val="300"/>
              </a:spcBef>
              <a:defRPr sz="1500" b="1">
                <a:solidFill>
                  <a:srgbClr val="FFFFFF"/>
                </a:solidFill>
                <a:latin typeface="Segoe UI"/>
              </a:defRPr>
            </a:pPr>
            <a:r>
              <a:t>Database Persistence</a:t>
            </a:r>
          </a:p>
          <a:p>
            <a:pPr>
              <a:spcBef>
                <a:spcPts val="1000"/>
              </a:spcBef>
              <a:defRPr sz="1100" b="1">
                <a:solidFill>
                  <a:srgbClr val="FFFFFF"/>
                </a:solidFill>
                <a:latin typeface="Segoe UI"/>
              </a:defRPr>
            </a:pPr>
            <a:r>
              <a:t>• Meeting Document</a:t>
            </a:r>
          </a:p>
          <a:p>
            <a:pPr>
              <a:spcBef>
                <a:spcPts val="200"/>
              </a:spcBef>
              <a:defRPr sz="950">
                <a:solidFill>
                  <a:srgbClr val="9CA3AF"/>
                </a:solidFill>
                <a:latin typeface="Segoe UI"/>
              </a:defRPr>
            </a:pPr>
            <a:r>
              <a:t>Stores raw transcript and generated summary in the Meeting collection.</a:t>
            </a:r>
          </a:p>
          <a:p>
            <a:pPr>
              <a:spcBef>
                <a:spcPts val="1000"/>
              </a:spcBef>
              <a:defRPr sz="1100" b="1">
                <a:solidFill>
                  <a:srgbClr val="FFFFFF"/>
                </a:solidFill>
                <a:latin typeface="Segoe UI"/>
              </a:defRPr>
            </a:pPr>
            <a:r>
              <a:t>• AIAnalysis Record</a:t>
            </a:r>
          </a:p>
          <a:p>
            <a:pPr>
              <a:spcBef>
                <a:spcPts val="200"/>
              </a:spcBef>
              <a:defRPr sz="950">
                <a:solidFill>
                  <a:srgbClr val="9CA3AF"/>
                </a:solidFill>
                <a:latin typeface="Segoe UI"/>
              </a:defRPr>
            </a:pPr>
            <a:r>
              <a:t>Stores parsed tasks, risks, and decisions linked directly to the meetingId and eventId.</a:t>
            </a:r>
          </a:p>
          <a:p>
            <a:pPr>
              <a:spcBef>
                <a:spcPts val="1000"/>
              </a:spcBef>
              <a:defRPr sz="1100" b="1">
                <a:solidFill>
                  <a:srgbClr val="FFFFFF"/>
                </a:solidFill>
                <a:latin typeface="Segoe UI"/>
              </a:defRPr>
            </a:pPr>
            <a:r>
              <a:t>• Human Review Flow</a:t>
            </a:r>
          </a:p>
          <a:p>
            <a:pPr>
              <a:spcBef>
                <a:spcPts val="200"/>
              </a:spcBef>
              <a:defRPr sz="950">
                <a:solidFill>
                  <a:srgbClr val="9CA3AF"/>
                </a:solidFill>
                <a:latin typeface="Segoe UI"/>
              </a:defRPr>
            </a:pPr>
            <a:r>
              <a:t>Organizers review extracted tasks on screen and can approve or edit them before final creation.</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16 of 30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PIPELINE IN PRACTICE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Meeting Extraction: Real Test Run</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Input transcript vs. extracted structured entities from the project test suite.</a:t>
            </a:r>
          </a:p>
        </p:txBody>
      </p:sp>
      <p:sp>
        <p:nvSpPr>
          <p:cNvPr id="6" name="Rectangle 5"/>
          <p:cNvSpPr/>
          <p:nvPr/>
        </p:nvSpPr>
        <p:spPr>
          <a:xfrm>
            <a:off x="731520" y="1691640"/>
            <a:ext cx="52120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19"/>
            <a:ext cx="4663440" cy="4114800"/>
          </a:xfrm>
          <a:prstGeom prst="rect">
            <a:avLst/>
          </a:prstGeom>
          <a:noFill/>
        </p:spPr>
        <p:txBody>
          <a:bodyPr wrap="square">
            <a:spAutoFit/>
          </a:bodyPr>
          <a:lstStyle/>
          <a:p>
            <a:pPr>
              <a:defRPr sz="1100" b="1">
                <a:solidFill>
                  <a:srgbClr val="FF2D55"/>
                </a:solidFill>
                <a:latin typeface="Segoe UI"/>
              </a:defRPr>
            </a:pPr>
            <a:r>
              <a:t>INPUT: SPRINT PLANNING TRANSCRIPT</a:t>
            </a:r>
          </a:p>
          <a:p>
            <a:pPr>
              <a:spcBef>
                <a:spcPts val="800"/>
              </a:spcBef>
              <a:defRPr sz="1000">
                <a:solidFill>
                  <a:srgbClr val="9CA3AF"/>
                </a:solidFill>
                <a:latin typeface="Segoe UI"/>
              </a:defRPr>
            </a:pPr>
            <a:r>
              <a:t>Sarah (Admin): "Let's kick off sprint planning. Krish, what are our main operational bottlenecks?"</a:t>
            </a:r>
          </a:p>
          <a:p>
            <a:pPr>
              <a:spcBef>
                <a:spcPts val="800"/>
              </a:spcBef>
              <a:defRPr sz="1000">
                <a:solidFill>
                  <a:srgbClr val="9CA3AF"/>
                </a:solidFill>
                <a:latin typeface="Segoe UI"/>
              </a:defRPr>
            </a:pPr>
            <a:r>
              <a:t>Krish (Organizer): "Biggest priority is securing auditorium AV. Maya, can you confirm equipment with campus IT?"</a:t>
            </a:r>
          </a:p>
          <a:p>
            <a:pPr>
              <a:spcBef>
                <a:spcPts val="800"/>
              </a:spcBef>
              <a:defRPr sz="1000">
                <a:solidFill>
                  <a:srgbClr val="9CA3AF"/>
                </a:solidFill>
                <a:latin typeface="Segoe UI"/>
              </a:defRPr>
            </a:pPr>
            <a:r>
              <a:t>Maya (Volunteer): "I'll test wireless mics and the stage projector on Thursday. We also need backup power strips."</a:t>
            </a:r>
          </a:p>
          <a:p>
            <a:pPr>
              <a:spcBef>
                <a:spcPts val="800"/>
              </a:spcBef>
              <a:defRPr sz="1000">
                <a:solidFill>
                  <a:srgbClr val="9CA3AF"/>
                </a:solidFill>
                <a:latin typeface="Segoe UI"/>
              </a:defRPr>
            </a:pPr>
            <a:r>
              <a:t>Alex (Volunteer): "Swag kit printer confirmed delivery for Wednesday, but there might be a minor delay. I'll check tomorrow morning."</a:t>
            </a:r>
          </a:p>
          <a:p>
            <a:pPr>
              <a:spcBef>
                <a:spcPts val="800"/>
              </a:spcBef>
              <a:defRPr sz="1000">
                <a:solidFill>
                  <a:srgbClr val="9CA3AF"/>
                </a:solidFill>
                <a:latin typeface="Segoe UI"/>
              </a:defRPr>
            </a:pPr>
            <a:r>
              <a:t>David (Volunteer): "We also need high-capacity mesh Wi-Fi APs so 250 simultaneous laptops don't saturate the local gateway."</a:t>
            </a:r>
          </a:p>
        </p:txBody>
      </p:sp>
      <p:sp>
        <p:nvSpPr>
          <p:cNvPr id="8" name="Rectangle 7"/>
          <p:cNvSpPr/>
          <p:nvPr/>
        </p:nvSpPr>
        <p:spPr>
          <a:xfrm>
            <a:off x="6217920" y="1691640"/>
            <a:ext cx="5212080" cy="4480560"/>
          </a:xfrm>
          <a:prstGeom prst="rect">
            <a:avLst/>
          </a:prstGeom>
          <a:solidFill>
            <a:srgbClr val="F5F3EE"/>
          </a:solidFill>
          <a:ln w="12700">
            <a:solidFill>
              <a:srgbClr val="DA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19"/>
            <a:ext cx="4663440" cy="4114800"/>
          </a:xfrm>
          <a:prstGeom prst="rect">
            <a:avLst/>
          </a:prstGeom>
          <a:noFill/>
        </p:spPr>
        <p:txBody>
          <a:bodyPr wrap="square">
            <a:spAutoFit/>
          </a:bodyPr>
          <a:lstStyle/>
          <a:p>
            <a:pPr>
              <a:defRPr sz="1100" b="1">
                <a:solidFill>
                  <a:srgbClr val="FF2D55"/>
                </a:solidFill>
                <a:latin typeface="Segoe UI"/>
              </a:defRPr>
            </a:pPr>
            <a:r>
              <a:t>OUTPUT: STRUCTURED AIANALYSIS RECORD</a:t>
            </a:r>
          </a:p>
          <a:p>
            <a:pPr>
              <a:spcBef>
                <a:spcPts val="600"/>
              </a:spcBef>
              <a:defRPr sz="1000" b="1">
                <a:solidFill>
                  <a:srgbClr val="0F1117"/>
                </a:solidFill>
                <a:latin typeface="Segoe UI"/>
              </a:defRPr>
            </a:pPr>
            <a:r>
              <a:t>SUMMARY</a:t>
            </a:r>
          </a:p>
          <a:p>
            <a:pPr>
              <a:spcBef>
                <a:spcPts val="100"/>
              </a:spcBef>
              <a:defRPr sz="950">
                <a:solidFill>
                  <a:srgbClr val="2D313A"/>
                </a:solidFill>
                <a:latin typeface="Segoe UI"/>
              </a:defRPr>
            </a:pPr>
            <a:r>
              <a:t>Review of AV stage preparation, swag kit delivery timelines, dietary catering, and Wi-Fi mesh routing.</a:t>
            </a:r>
          </a:p>
          <a:p>
            <a:pPr>
              <a:spcBef>
                <a:spcPts val="600"/>
              </a:spcBef>
              <a:defRPr sz="1000" b="1">
                <a:solidFill>
                  <a:srgbClr val="0F1117"/>
                </a:solidFill>
                <a:latin typeface="Segoe UI"/>
              </a:defRPr>
            </a:pPr>
            <a:r>
              <a:t>EXTRACTED TASKS (DRAFTED)</a:t>
            </a:r>
          </a:p>
          <a:p>
            <a:pPr>
              <a:spcBef>
                <a:spcPts val="100"/>
              </a:spcBef>
              <a:defRPr sz="950">
                <a:solidFill>
                  <a:srgbClr val="2D313A"/>
                </a:solidFill>
                <a:latin typeface="Segoe UI"/>
              </a:defRPr>
            </a:pPr>
            <a:r>
              <a:t>• Maya: Test wireless lapel mics &amp; stage projector (Priority: High)</a:t>
            </a:r>
            <a:br/>
            <a:r>
              <a:t>• Alex: Follow up with swag kit vendor regarding shipment (Priority: Med)</a:t>
            </a:r>
            <a:br/>
            <a:r>
              <a:t>• Samira: Lock in vegan &amp; gluten-free catering headcounts (Priority: Critical)</a:t>
            </a:r>
          </a:p>
          <a:p>
            <a:pPr>
              <a:spcBef>
                <a:spcPts val="600"/>
              </a:spcBef>
              <a:defRPr sz="1000" b="1">
                <a:solidFill>
                  <a:srgbClr val="0F1117"/>
                </a:solidFill>
                <a:latin typeface="Segoe UI"/>
              </a:defRPr>
            </a:pPr>
            <a:r>
              <a:t>FLAGGED RISKS (CATEGORIZED)</a:t>
            </a:r>
          </a:p>
          <a:p>
            <a:pPr>
              <a:spcBef>
                <a:spcPts val="100"/>
              </a:spcBef>
              <a:defRPr sz="950">
                <a:solidFill>
                  <a:srgbClr val="2D313A"/>
                </a:solidFill>
                <a:latin typeface="Segoe UI"/>
              </a:defRPr>
            </a:pPr>
            <a:r>
              <a:t>• Wi-Fi gateway saturation during keynote streaming (Severity: High)</a:t>
            </a:r>
            <a:br/>
            <a:r>
              <a:t>• Swag kit delivery supply chain delay (Severity: Medium)</a:t>
            </a:r>
          </a:p>
          <a:p>
            <a:pPr>
              <a:spcBef>
                <a:spcPts val="600"/>
              </a:spcBef>
              <a:defRPr sz="1000" b="1">
                <a:solidFill>
                  <a:srgbClr val="0F1117"/>
                </a:solidFill>
                <a:latin typeface="Segoe UI"/>
              </a:defRPr>
            </a:pPr>
            <a:r>
              <a:t>DECISIONS LOGGED</a:t>
            </a:r>
          </a:p>
          <a:p>
            <a:pPr>
              <a:spcBef>
                <a:spcPts val="100"/>
              </a:spcBef>
              <a:defRPr sz="950">
                <a:solidFill>
                  <a:srgbClr val="2D313A"/>
                </a:solidFill>
                <a:latin typeface="Segoe UI"/>
              </a:defRPr>
            </a:pPr>
            <a:r>
              <a:t>• Approved deployment of 4 temporary Wi-Fi mesh access points</a:t>
            </a:r>
            <a:br/>
            <a:r>
              <a:t>• Restricted all soldering hardware prototyping strictly to Room 112</a:t>
            </a:r>
          </a:p>
        </p:txBody>
      </p:sp>
      <p:sp>
        <p:nvSpPr>
          <p:cNvPr id="10" name="TextBox 9"/>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17 of 30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RAG PIPELINE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In-Process RAG: Document Chunking &amp; Retrieval</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Lead: Krish K. Patel  •  Grounding Q&amp;A in campus venue rules and hackathon guidelines.</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STAGE 1: INGESTION</a:t>
            </a:r>
          </a:p>
          <a:p>
            <a:pPr>
              <a:spcBef>
                <a:spcPts val="300"/>
              </a:spcBef>
              <a:defRPr sz="1500" b="1">
                <a:solidFill>
                  <a:srgbClr val="FFFFFF"/>
                </a:solidFill>
                <a:latin typeface="Segoe UI"/>
              </a:defRPr>
            </a:pPr>
            <a:r>
              <a:t>Document Ingestion</a:t>
            </a:r>
          </a:p>
          <a:p>
            <a:pPr>
              <a:spcBef>
                <a:spcPts val="1000"/>
              </a:spcBef>
              <a:defRPr sz="1100" b="1">
                <a:solidFill>
                  <a:srgbClr val="FFFFFF"/>
                </a:solidFill>
                <a:latin typeface="Segoe UI"/>
              </a:defRPr>
            </a:pPr>
            <a:r>
              <a:t>• File Normalization</a:t>
            </a:r>
          </a:p>
          <a:p>
            <a:pPr>
              <a:spcBef>
                <a:spcPts val="200"/>
              </a:spcBef>
              <a:defRPr sz="950">
                <a:solidFill>
                  <a:srgbClr val="9CA3AF"/>
                </a:solidFill>
                <a:latin typeface="Segoe UI"/>
              </a:defRPr>
            </a:pPr>
            <a:r>
              <a:t>Extracts text content from uploaded venue agreements, fire safety codes, and hackathon rulebooks.</a:t>
            </a:r>
          </a:p>
          <a:p>
            <a:pPr>
              <a:spcBef>
                <a:spcPts val="1000"/>
              </a:spcBef>
              <a:defRPr sz="1100" b="1">
                <a:solidFill>
                  <a:srgbClr val="FFFFFF"/>
                </a:solidFill>
                <a:latin typeface="Segoe UI"/>
              </a:defRPr>
            </a:pPr>
            <a:r>
              <a:t>• Multi-Tenant Scoping</a:t>
            </a:r>
          </a:p>
          <a:p>
            <a:pPr>
              <a:spcBef>
                <a:spcPts val="200"/>
              </a:spcBef>
              <a:defRPr sz="950">
                <a:solidFill>
                  <a:srgbClr val="9CA3AF"/>
                </a:solidFill>
                <a:latin typeface="Segoe UI"/>
              </a:defRPr>
            </a:pPr>
            <a:r>
              <a:t>Documents are tied to specific clubId and eventId to prevent cross-club data visibility.</a:t>
            </a:r>
          </a:p>
          <a:p>
            <a:pPr>
              <a:spcBef>
                <a:spcPts val="1000"/>
              </a:spcBef>
              <a:defRPr sz="1100" b="1">
                <a:solidFill>
                  <a:srgbClr val="FFFFFF"/>
                </a:solidFill>
                <a:latin typeface="Segoe UI"/>
              </a:defRPr>
            </a:pPr>
            <a:r>
              <a:t>• Document Registry</a:t>
            </a:r>
          </a:p>
          <a:p>
            <a:pPr>
              <a:spcBef>
                <a:spcPts val="200"/>
              </a:spcBef>
              <a:defRPr sz="950">
                <a:solidFill>
                  <a:srgbClr val="9CA3AF"/>
                </a:solidFill>
                <a:latin typeface="Segoe UI"/>
              </a:defRPr>
            </a:pPr>
            <a:r>
              <a:t>Stores title, fileName, upload author, and processed status in Document collection.</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STAGE 2: CHUNKING</a:t>
            </a:r>
          </a:p>
          <a:p>
            <a:pPr>
              <a:spcBef>
                <a:spcPts val="300"/>
              </a:spcBef>
              <a:defRPr sz="1500" b="1">
                <a:solidFill>
                  <a:srgbClr val="FFFFFF"/>
                </a:solidFill>
                <a:latin typeface="Segoe UI"/>
              </a:defRPr>
            </a:pPr>
            <a:r>
              <a:t>Sliding Window Chunker</a:t>
            </a:r>
          </a:p>
          <a:p>
            <a:pPr>
              <a:spcBef>
                <a:spcPts val="1000"/>
              </a:spcBef>
              <a:defRPr sz="1100" b="1">
                <a:solidFill>
                  <a:srgbClr val="FFFFFF"/>
                </a:solidFill>
                <a:latin typeface="Segoe UI"/>
              </a:defRPr>
            </a:pPr>
            <a:r>
              <a:t>• Chunk Window Size</a:t>
            </a:r>
          </a:p>
          <a:p>
            <a:pPr>
              <a:spcBef>
                <a:spcPts val="200"/>
              </a:spcBef>
              <a:defRPr sz="950">
                <a:solidFill>
                  <a:srgbClr val="9CA3AF"/>
                </a:solidFill>
                <a:latin typeface="Segoe UI"/>
              </a:defRPr>
            </a:pPr>
            <a:r>
              <a:t>Splits text into 400-character segments (chunker.js) to isolate individual rules cleanly.</a:t>
            </a:r>
          </a:p>
          <a:p>
            <a:pPr>
              <a:spcBef>
                <a:spcPts val="1000"/>
              </a:spcBef>
              <a:defRPr sz="1100" b="1">
                <a:solidFill>
                  <a:srgbClr val="FFFFFF"/>
                </a:solidFill>
                <a:latin typeface="Segoe UI"/>
              </a:defRPr>
            </a:pPr>
            <a:r>
              <a:t>• Semantic Overlap</a:t>
            </a:r>
          </a:p>
          <a:p>
            <a:pPr>
              <a:spcBef>
                <a:spcPts val="200"/>
              </a:spcBef>
              <a:defRPr sz="950">
                <a:solidFill>
                  <a:srgbClr val="9CA3AF"/>
                </a:solidFill>
                <a:latin typeface="Segoe UI"/>
              </a:defRPr>
            </a:pPr>
            <a:r>
              <a:t>Applies 40-character overlap between adjacent chunks to maintain sentence continuity.</a:t>
            </a:r>
          </a:p>
          <a:p>
            <a:pPr>
              <a:spcBef>
                <a:spcPts val="1000"/>
              </a:spcBef>
              <a:defRPr sz="1100" b="1">
                <a:solidFill>
                  <a:srgbClr val="FFFFFF"/>
                </a:solidFill>
                <a:latin typeface="Segoe UI"/>
              </a:defRPr>
            </a:pPr>
            <a:r>
              <a:t>• Metadata Tagging</a:t>
            </a:r>
          </a:p>
          <a:p>
            <a:pPr>
              <a:spcBef>
                <a:spcPts val="200"/>
              </a:spcBef>
              <a:defRPr sz="950">
                <a:solidFill>
                  <a:srgbClr val="9CA3AF"/>
                </a:solidFill>
                <a:latin typeface="Segoe UI"/>
              </a:defRPr>
            </a:pPr>
            <a:r>
              <a:t>Each chunk is tagged with chunkIndex, fileName, and documentId for source citations.</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STAGE 3: RETRIEVAL</a:t>
            </a:r>
          </a:p>
          <a:p>
            <a:pPr>
              <a:spcBef>
                <a:spcPts val="300"/>
              </a:spcBef>
              <a:defRPr sz="1500" b="1">
                <a:solidFill>
                  <a:srgbClr val="FFFFFF"/>
                </a:solidFill>
                <a:latin typeface="Segoe UI"/>
              </a:defRPr>
            </a:pPr>
            <a:r>
              <a:t>Cosine Similarity Search</a:t>
            </a:r>
          </a:p>
          <a:p>
            <a:pPr>
              <a:spcBef>
                <a:spcPts val="1000"/>
              </a:spcBef>
              <a:defRPr sz="1100" b="1">
                <a:solidFill>
                  <a:srgbClr val="FFFFFF"/>
                </a:solidFill>
                <a:latin typeface="Segoe UI"/>
              </a:defRPr>
            </a:pPr>
            <a:r>
              <a:t>• Gemini Embeddings</a:t>
            </a:r>
          </a:p>
          <a:p>
            <a:pPr>
              <a:spcBef>
                <a:spcPts val="200"/>
              </a:spcBef>
              <a:defRPr sz="950">
                <a:solidFill>
                  <a:srgbClr val="9CA3AF"/>
                </a:solidFill>
                <a:latin typeface="Segoe UI"/>
              </a:defRPr>
            </a:pPr>
            <a:r>
              <a:t>Generates dense vector embeddings for each chunk via Google Gen AI SDK.</a:t>
            </a:r>
          </a:p>
          <a:p>
            <a:pPr>
              <a:spcBef>
                <a:spcPts val="1000"/>
              </a:spcBef>
              <a:defRPr sz="1100" b="1">
                <a:solidFill>
                  <a:srgbClr val="FFFFFF"/>
                </a:solidFill>
                <a:latin typeface="Segoe UI"/>
              </a:defRPr>
            </a:pPr>
            <a:r>
              <a:t>• DocumentChunk Store</a:t>
            </a:r>
          </a:p>
          <a:p>
            <a:pPr>
              <a:spcBef>
                <a:spcPts val="200"/>
              </a:spcBef>
              <a:defRPr sz="950">
                <a:solidFill>
                  <a:srgbClr val="9CA3AF"/>
                </a:solidFill>
                <a:latin typeface="Segoe UI"/>
              </a:defRPr>
            </a:pPr>
            <a:r>
              <a:t>Embeddings are stored in MongoDB DocumentChunk records alongside plain text.</a:t>
            </a:r>
          </a:p>
          <a:p>
            <a:pPr>
              <a:spcBef>
                <a:spcPts val="1000"/>
              </a:spcBef>
              <a:defRPr sz="1100" b="1">
                <a:solidFill>
                  <a:srgbClr val="FFFFFF"/>
                </a:solidFill>
                <a:latin typeface="Segoe UI"/>
              </a:defRPr>
            </a:pPr>
            <a:r>
              <a:t>• In-Process Matching</a:t>
            </a:r>
          </a:p>
          <a:p>
            <a:pPr>
              <a:spcBef>
                <a:spcPts val="200"/>
              </a:spcBef>
              <a:defRPr sz="950">
                <a:solidFill>
                  <a:srgbClr val="9CA3AF"/>
                </a:solidFill>
                <a:latin typeface="Segoe UI"/>
              </a:defRPr>
            </a:pPr>
            <a:r>
              <a:t>retriever.js calculates cosine similarity in Node.js to return top-3 matching chunks.</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18 of 30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RAG IN PRACTICE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Context-Grounded Q&amp;A: Real Document Query</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Answering venue safety, noise curfew, and lab rules strictly from uploaded PDF context.</a:t>
            </a:r>
          </a:p>
        </p:txBody>
      </p:sp>
      <p:sp>
        <p:nvSpPr>
          <p:cNvPr id="6" name="Rectangle 5"/>
          <p:cNvSpPr/>
          <p:nvPr/>
        </p:nvSpPr>
        <p:spPr>
          <a:xfrm>
            <a:off x="731520" y="1691640"/>
            <a:ext cx="52120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19"/>
            <a:ext cx="4663440" cy="4114800"/>
          </a:xfrm>
          <a:prstGeom prst="rect">
            <a:avLst/>
          </a:prstGeom>
          <a:noFill/>
        </p:spPr>
        <p:txBody>
          <a:bodyPr wrap="square">
            <a:spAutoFit/>
          </a:bodyPr>
          <a:lstStyle/>
          <a:p>
            <a:pPr>
              <a:defRPr sz="1100" b="1">
                <a:solidFill>
                  <a:srgbClr val="FF2D55"/>
                </a:solidFill>
                <a:latin typeface="Segoe UI"/>
              </a:defRPr>
            </a:pPr>
            <a:r>
              <a:t>USER QUERY &amp; RETRIEVED DOCUMENT CHUNKS</a:t>
            </a:r>
          </a:p>
          <a:p>
            <a:pPr>
              <a:spcBef>
                <a:spcPts val="600"/>
              </a:spcBef>
              <a:defRPr sz="1050" b="1">
                <a:solidFill>
                  <a:srgbClr val="FFFFFF"/>
                </a:solidFill>
                <a:latin typeface="Segoe UI"/>
              </a:defRPr>
            </a:pPr>
            <a:r>
              <a:t>Organizer Prompt:</a:t>
            </a:r>
          </a:p>
          <a:p>
            <a:pPr>
              <a:spcBef>
                <a:spcPts val="200"/>
              </a:spcBef>
              <a:defRPr sz="1100">
                <a:solidFill>
                  <a:srgbClr val="9CA3AF"/>
                </a:solidFill>
                <a:latin typeface="Segoe UI"/>
              </a:defRPr>
            </a:pPr>
            <a:r>
              <a:t>"According to our venue guidelines, what is our auditorium occupancy limit, noise curfew, and lab soldering protocol?"</a:t>
            </a:r>
          </a:p>
          <a:p>
            <a:pPr>
              <a:spcBef>
                <a:spcPts val="1000"/>
              </a:spcBef>
              <a:defRPr sz="1050" b="1">
                <a:solidFill>
                  <a:srgbClr val="FFFFFF"/>
                </a:solidFill>
                <a:latin typeface="Segoe UI"/>
              </a:defRPr>
            </a:pPr>
            <a:r>
              <a:t>Retrieved Evidence (Auditorium_Safety_Guidelines_2026.pdf):</a:t>
            </a:r>
          </a:p>
          <a:p>
            <a:pPr>
              <a:spcBef>
                <a:spcPts val="300"/>
              </a:spcBef>
              <a:defRPr sz="1000">
                <a:solidFill>
                  <a:srgbClr val="9CA3AF"/>
                </a:solidFill>
                <a:latin typeface="Segoe UI"/>
              </a:defRPr>
            </a:pPr>
            <a:r>
              <a:t>• "Maximum auditorium occupancy is strictly limited to 300 seated persons at any time."</a:t>
            </a:r>
            <a:br/>
            <a:r>
              <a:t>• "Quiet hours and noise curfews commence strictly at 11:00 PM each night. Amplified music must cease."</a:t>
            </a:r>
            <a:br/>
            <a:r>
              <a:t>• "Soldering and high-draw hardware testing are restricted exclusively to Room 112."</a:t>
            </a:r>
          </a:p>
        </p:txBody>
      </p:sp>
      <p:sp>
        <p:nvSpPr>
          <p:cNvPr id="8" name="Rectangle 7"/>
          <p:cNvSpPr/>
          <p:nvPr/>
        </p:nvSpPr>
        <p:spPr>
          <a:xfrm>
            <a:off x="6217920" y="1691640"/>
            <a:ext cx="5212080" cy="4480560"/>
          </a:xfrm>
          <a:prstGeom prst="rect">
            <a:avLst/>
          </a:prstGeom>
          <a:solidFill>
            <a:srgbClr val="F5F3EE"/>
          </a:solidFill>
          <a:ln w="12700">
            <a:solidFill>
              <a:srgbClr val="DAD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19"/>
            <a:ext cx="4663440" cy="4114800"/>
          </a:xfrm>
          <a:prstGeom prst="rect">
            <a:avLst/>
          </a:prstGeom>
          <a:noFill/>
        </p:spPr>
        <p:txBody>
          <a:bodyPr wrap="square">
            <a:spAutoFit/>
          </a:bodyPr>
          <a:lstStyle/>
          <a:p>
            <a:pPr>
              <a:defRPr sz="1100" b="1">
                <a:solidFill>
                  <a:srgbClr val="FF2D55"/>
                </a:solidFill>
                <a:latin typeface="Segoe UI"/>
              </a:defRPr>
            </a:pPr>
            <a:r>
              <a:t>GROUNDED SYNTHESIS WITH CITATIONS</a:t>
            </a:r>
          </a:p>
          <a:p>
            <a:pPr>
              <a:spcBef>
                <a:spcPts val="800"/>
              </a:spcBef>
              <a:defRPr sz="1100" b="1">
                <a:solidFill>
                  <a:srgbClr val="0F1117"/>
                </a:solidFill>
                <a:latin typeface="Segoe UI"/>
              </a:defRPr>
            </a:pPr>
            <a:r>
              <a:t>• Auditorium Capacity Cap</a:t>
            </a:r>
          </a:p>
          <a:p>
            <a:pPr>
              <a:spcBef>
                <a:spcPts val="100"/>
              </a:spcBef>
              <a:defRPr sz="950">
                <a:solidFill>
                  <a:srgbClr val="2D313A"/>
                </a:solidFill>
                <a:latin typeface="Segoe UI"/>
              </a:defRPr>
            </a:pPr>
            <a:r>
              <a:t>The Grand Campus Hall auditorium is strictly limited to 300 seated attendees at any time in compliance with campus fire codes.</a:t>
            </a:r>
          </a:p>
          <a:p>
            <a:pPr>
              <a:spcBef>
                <a:spcPts val="800"/>
              </a:spcBef>
              <a:defRPr sz="1100" b="1">
                <a:solidFill>
                  <a:srgbClr val="0F1117"/>
                </a:solidFill>
                <a:latin typeface="Segoe UI"/>
              </a:defRPr>
            </a:pPr>
            <a:r>
              <a:t>• 11:00 PM Noise Curfew</a:t>
            </a:r>
          </a:p>
          <a:p>
            <a:pPr>
              <a:spcBef>
                <a:spcPts val="100"/>
              </a:spcBef>
              <a:defRPr sz="950">
                <a:solidFill>
                  <a:srgbClr val="2D313A"/>
                </a:solidFill>
                <a:latin typeface="Segoe UI"/>
              </a:defRPr>
            </a:pPr>
            <a:r>
              <a:t>Amplified music, sound systems, and loudspeaker announcements must cease by 11:00 PM each night. Hackathon work continues quietly.</a:t>
            </a:r>
          </a:p>
          <a:p>
            <a:pPr>
              <a:spcBef>
                <a:spcPts val="800"/>
              </a:spcBef>
              <a:defRPr sz="1100" b="1">
                <a:solidFill>
                  <a:srgbClr val="0F1117"/>
                </a:solidFill>
                <a:latin typeface="Segoe UI"/>
              </a:defRPr>
            </a:pPr>
            <a:r>
              <a:t>• Prototyping Lab Restriction</a:t>
            </a:r>
          </a:p>
          <a:p>
            <a:pPr>
              <a:spcBef>
                <a:spcPts val="100"/>
              </a:spcBef>
              <a:defRPr sz="950">
                <a:solidFill>
                  <a:srgbClr val="2D313A"/>
                </a:solidFill>
                <a:latin typeface="Segoe UI"/>
              </a:defRPr>
            </a:pPr>
            <a:r>
              <a:t>Soldering stations and high-voltage prototyping are restricted exclusively to Room 112 to prevent circuit breaker tripping in the main hall.</a:t>
            </a:r>
          </a:p>
          <a:p>
            <a:pPr>
              <a:spcBef>
                <a:spcPts val="800"/>
              </a:spcBef>
              <a:defRPr sz="1100" b="1">
                <a:solidFill>
                  <a:srgbClr val="0F1117"/>
                </a:solidFill>
                <a:latin typeface="Segoe UI"/>
              </a:defRPr>
            </a:pPr>
            <a:r>
              <a:t>• Source Citations</a:t>
            </a:r>
          </a:p>
          <a:p>
            <a:pPr>
              <a:spcBef>
                <a:spcPts val="100"/>
              </a:spcBef>
              <a:defRPr sz="950">
                <a:solidFill>
                  <a:srgbClr val="2D313A"/>
                </a:solidFill>
                <a:latin typeface="Segoe UI"/>
              </a:defRPr>
            </a:pPr>
            <a:r>
              <a:t>Source: Auditorium_Safety_Guidelines_2026.pdf (Chunk 1 &amp; 3) | Context-Grounded Answer</a:t>
            </a:r>
          </a:p>
        </p:txBody>
      </p:sp>
      <p:sp>
        <p:nvSpPr>
          <p:cNvPr id="10" name="TextBox 9"/>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19 of 30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HYBRID RETRIEVAL</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Hybrid Knowledge Fusion: DB State + Document RAG</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Unifying live MongoDB records and static guideline documents into a single query handler.</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THE CONTEXT GAP</a:t>
            </a:r>
          </a:p>
          <a:p>
            <a:pPr>
              <a:spcBef>
                <a:spcPts val="300"/>
              </a:spcBef>
              <a:defRPr sz="1500" b="1">
                <a:solidFill>
                  <a:srgbClr val="FFFFFF"/>
                </a:solidFill>
                <a:latin typeface="Segoe UI"/>
              </a:defRPr>
            </a:pPr>
            <a:r>
              <a:t>Fragmented Knowledge Types</a:t>
            </a:r>
          </a:p>
          <a:p>
            <a:pPr>
              <a:spcBef>
                <a:spcPts val="1000"/>
              </a:spcBef>
              <a:defRPr sz="1100" b="1">
                <a:solidFill>
                  <a:srgbClr val="FFFFFF"/>
                </a:solidFill>
                <a:latin typeface="Segoe UI"/>
              </a:defRPr>
            </a:pPr>
            <a:r>
              <a:t>• Dual Question Types</a:t>
            </a:r>
          </a:p>
          <a:p>
            <a:pPr>
              <a:spcBef>
                <a:spcPts val="200"/>
              </a:spcBef>
              <a:defRPr sz="950">
                <a:solidFill>
                  <a:srgbClr val="9CA3AF"/>
                </a:solidFill>
                <a:latin typeface="Segoe UI"/>
              </a:defRPr>
            </a:pPr>
            <a:r>
              <a:t>Organizers ask questions covering live deliverables ('Who is testing AV?') and static rules ('What is the room curfew?').</a:t>
            </a:r>
          </a:p>
          <a:p>
            <a:pPr>
              <a:spcBef>
                <a:spcPts val="1000"/>
              </a:spcBef>
              <a:defRPr sz="1100" b="1">
                <a:solidFill>
                  <a:srgbClr val="FFFFFF"/>
                </a:solidFill>
                <a:latin typeface="Segoe UI"/>
              </a:defRPr>
            </a:pPr>
            <a:r>
              <a:t>• RAG Limitation</a:t>
            </a:r>
          </a:p>
          <a:p>
            <a:pPr>
              <a:spcBef>
                <a:spcPts val="200"/>
              </a:spcBef>
              <a:defRPr sz="950">
                <a:solidFill>
                  <a:srgbClr val="9CA3AF"/>
                </a:solidFill>
                <a:latin typeface="Segoe UI"/>
              </a:defRPr>
            </a:pPr>
            <a:r>
              <a:t>Document RAG alone cannot inspect database task statuses or volunteer assignments.</a:t>
            </a:r>
          </a:p>
          <a:p>
            <a:pPr>
              <a:spcBef>
                <a:spcPts val="1000"/>
              </a:spcBef>
              <a:defRPr sz="1100" b="1">
                <a:solidFill>
                  <a:srgbClr val="FFFFFF"/>
                </a:solidFill>
                <a:latin typeface="Segoe UI"/>
              </a:defRPr>
            </a:pPr>
            <a:r>
              <a:t>• DB Query Limitation</a:t>
            </a:r>
          </a:p>
          <a:p>
            <a:pPr>
              <a:spcBef>
                <a:spcPts val="200"/>
              </a:spcBef>
              <a:defRPr sz="950">
                <a:solidFill>
                  <a:srgbClr val="9CA3AF"/>
                </a:solidFill>
                <a:latin typeface="Segoe UI"/>
              </a:defRPr>
            </a:pPr>
            <a:r>
              <a:t>Standard database filters cannot answer semantic questions regarding policy text in venue agreements.</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CONCURRENT HARVESTING</a:t>
            </a:r>
          </a:p>
          <a:p>
            <a:pPr>
              <a:spcBef>
                <a:spcPts val="300"/>
              </a:spcBef>
              <a:defRPr sz="1500" b="1">
                <a:solidFill>
                  <a:srgbClr val="FFFFFF"/>
                </a:solidFill>
                <a:latin typeface="Segoe UI"/>
              </a:defRPr>
            </a:pPr>
            <a:r>
              <a:t>Parallel Context Retrieval</a:t>
            </a:r>
          </a:p>
          <a:p>
            <a:pPr>
              <a:spcBef>
                <a:spcPts val="1000"/>
              </a:spcBef>
              <a:defRPr sz="1100" b="1">
                <a:solidFill>
                  <a:srgbClr val="FFFFFF"/>
                </a:solidFill>
                <a:latin typeface="Segoe UI"/>
              </a:defRPr>
            </a:pPr>
            <a:r>
              <a:t>• Live DB State</a:t>
            </a:r>
          </a:p>
          <a:p>
            <a:pPr>
              <a:spcBef>
                <a:spcPts val="200"/>
              </a:spcBef>
              <a:defRPr sz="950">
                <a:solidFill>
                  <a:srgbClr val="9CA3AF"/>
                </a:solidFill>
                <a:latin typeface="Segoe UI"/>
              </a:defRPr>
            </a:pPr>
            <a:r>
              <a:t>queryKnowledge.js queries Task, Risk, Volunteer, and Meeting collections concurrently via Mongoose.</a:t>
            </a:r>
          </a:p>
          <a:p>
            <a:pPr>
              <a:spcBef>
                <a:spcPts val="1000"/>
              </a:spcBef>
              <a:defRPr sz="1100" b="1">
                <a:solidFill>
                  <a:srgbClr val="FFFFFF"/>
                </a:solidFill>
                <a:latin typeface="Segoe UI"/>
              </a:defRPr>
            </a:pPr>
            <a:r>
              <a:t>• Vector Document Chunks</a:t>
            </a:r>
          </a:p>
          <a:p>
            <a:pPr>
              <a:spcBef>
                <a:spcPts val="200"/>
              </a:spcBef>
              <a:defRPr sz="950">
                <a:solidFill>
                  <a:srgbClr val="9CA3AF"/>
                </a:solidFill>
                <a:latin typeface="Segoe UI"/>
              </a:defRPr>
            </a:pPr>
            <a:r>
              <a:t>In parallel, runs cosine similarity against DocumentChunk embeddings to find relevant policy text.</a:t>
            </a:r>
          </a:p>
          <a:p>
            <a:pPr>
              <a:spcBef>
                <a:spcPts val="1000"/>
              </a:spcBef>
              <a:defRPr sz="1100" b="1">
                <a:solidFill>
                  <a:srgbClr val="FFFFFF"/>
                </a:solidFill>
                <a:latin typeface="Segoe UI"/>
              </a:defRPr>
            </a:pPr>
            <a:r>
              <a:t>• Structured Briefing</a:t>
            </a:r>
          </a:p>
          <a:p>
            <a:pPr>
              <a:spcBef>
                <a:spcPts val="200"/>
              </a:spcBef>
              <a:defRPr sz="950">
                <a:solidFill>
                  <a:srgbClr val="9CA3AF"/>
                </a:solidFill>
                <a:latin typeface="Segoe UI"/>
              </a:defRPr>
            </a:pPr>
            <a:r>
              <a:t>Builds a formatted prompt with clear sections: [LIVE TASKS], [LIVE RISKS], [EVENT DOCUMENTS].</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UNIFIED ANSWER</a:t>
            </a:r>
          </a:p>
          <a:p>
            <a:pPr>
              <a:spcBef>
                <a:spcPts val="300"/>
              </a:spcBef>
              <a:defRPr sz="1500" b="1">
                <a:solidFill>
                  <a:srgbClr val="FFFFFF"/>
                </a:solidFill>
                <a:latin typeface="Segoe UI"/>
              </a:defRPr>
            </a:pPr>
            <a:r>
              <a:t>Transparent Attribution</a:t>
            </a:r>
          </a:p>
          <a:p>
            <a:pPr>
              <a:spcBef>
                <a:spcPts val="1000"/>
              </a:spcBef>
              <a:defRPr sz="1100" b="1">
                <a:solidFill>
                  <a:srgbClr val="FFFFFF"/>
                </a:solidFill>
                <a:latin typeface="Segoe UI"/>
              </a:defRPr>
            </a:pPr>
            <a:r>
              <a:t>• Holistic Response</a:t>
            </a:r>
          </a:p>
          <a:p>
            <a:pPr>
              <a:spcBef>
                <a:spcPts val="200"/>
              </a:spcBef>
              <a:defRPr sz="950">
                <a:solidFill>
                  <a:srgbClr val="9CA3AF"/>
                </a:solidFill>
                <a:latin typeface="Segoe UI"/>
              </a:defRPr>
            </a:pPr>
            <a:r>
              <a:t>Gemini synthesizes a single, complete answer combining live team status with official guidelines.</a:t>
            </a:r>
          </a:p>
          <a:p>
            <a:pPr>
              <a:spcBef>
                <a:spcPts val="1000"/>
              </a:spcBef>
              <a:defRPr sz="1100" b="1">
                <a:solidFill>
                  <a:srgbClr val="FFFFFF"/>
                </a:solidFill>
                <a:latin typeface="Segoe UI"/>
              </a:defRPr>
            </a:pPr>
            <a:r>
              <a:t>• Attributed Sources</a:t>
            </a:r>
          </a:p>
          <a:p>
            <a:pPr>
              <a:spcBef>
                <a:spcPts val="200"/>
              </a:spcBef>
              <a:defRPr sz="950">
                <a:solidFill>
                  <a:srgbClr val="9CA3AF"/>
                </a:solidFill>
                <a:latin typeface="Segoe UI"/>
              </a:defRPr>
            </a:pPr>
            <a:r>
              <a:t>Returns a sources array detailing which live MongoDB tasks and document chunks supported the response.</a:t>
            </a:r>
          </a:p>
          <a:p>
            <a:pPr>
              <a:spcBef>
                <a:spcPts val="1000"/>
              </a:spcBef>
              <a:defRPr sz="1100" b="1">
                <a:solidFill>
                  <a:srgbClr val="FFFFFF"/>
                </a:solidFill>
                <a:latin typeface="Segoe UI"/>
              </a:defRPr>
            </a:pPr>
            <a:r>
              <a:t>• Consistent Endpoint</a:t>
            </a:r>
          </a:p>
          <a:p>
            <a:pPr>
              <a:spcBef>
                <a:spcPts val="200"/>
              </a:spcBef>
              <a:defRPr sz="950">
                <a:solidFill>
                  <a:srgbClr val="9CA3AF"/>
                </a:solidFill>
                <a:latin typeface="Segoe UI"/>
              </a:defRPr>
            </a:pPr>
            <a:r>
              <a:t>Organizers use the same conversational interface for both operational status checks and policy lookups.</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20 of 30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SECURITY &amp; BACKEND</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Backend Architecture, Security &amp; Governance</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Lead: Krish M. Patel  •  Authentication, role-based access control, and server-side validation.</a:t>
            </a:r>
          </a:p>
        </p:txBody>
      </p:sp>
      <p:sp>
        <p:nvSpPr>
          <p:cNvPr id="6" name="Rectangle 5"/>
          <p:cNvSpPr/>
          <p:nvPr/>
        </p:nvSpPr>
        <p:spPr>
          <a:xfrm>
            <a:off x="7315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4663440" cy="1645920"/>
          </a:xfrm>
          <a:prstGeom prst="rect">
            <a:avLst/>
          </a:prstGeom>
          <a:noFill/>
        </p:spPr>
        <p:txBody>
          <a:bodyPr wrap="square">
            <a:spAutoFit/>
          </a:bodyPr>
          <a:lstStyle/>
          <a:p>
            <a:pPr>
              <a:defRPr sz="1000" b="1">
                <a:solidFill>
                  <a:srgbClr val="FF2D55"/>
                </a:solidFill>
                <a:latin typeface="Segoe UI"/>
              </a:defRPr>
            </a:pPr>
            <a:r>
              <a:t>AUTH &amp; PASSWORDS</a:t>
            </a:r>
          </a:p>
          <a:p>
            <a:pPr>
              <a:spcBef>
                <a:spcPts val="300"/>
              </a:spcBef>
              <a:defRPr sz="1400" b="1">
                <a:solidFill>
                  <a:srgbClr val="FFFFFF"/>
                </a:solidFill>
                <a:latin typeface="Segoe UI"/>
              </a:defRPr>
            </a:pPr>
            <a:r>
              <a:t>Cryptographic Identity Protection</a:t>
            </a:r>
          </a:p>
          <a:p>
            <a:pPr>
              <a:spcBef>
                <a:spcPts val="500"/>
              </a:spcBef>
              <a:defRPr sz="1050">
                <a:solidFill>
                  <a:srgbClr val="9CA3AF"/>
                </a:solidFill>
                <a:latin typeface="Segoe UI"/>
              </a:defRPr>
            </a:pPr>
            <a:r>
              <a:t>Uses BCrypt with 10 salt rounds for secure password hashing. Generates signed JSON Web Tokens (JWT) for stateless authentication across protected API routes with configured expiry.</a:t>
            </a:r>
          </a:p>
        </p:txBody>
      </p:sp>
      <p:sp>
        <p:nvSpPr>
          <p:cNvPr id="8" name="Rectangle 7"/>
          <p:cNvSpPr/>
          <p:nvPr/>
        </p:nvSpPr>
        <p:spPr>
          <a:xfrm>
            <a:off x="62179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920240"/>
            <a:ext cx="4663440" cy="1645920"/>
          </a:xfrm>
          <a:prstGeom prst="rect">
            <a:avLst/>
          </a:prstGeom>
          <a:noFill/>
        </p:spPr>
        <p:txBody>
          <a:bodyPr wrap="square">
            <a:spAutoFit/>
          </a:bodyPr>
          <a:lstStyle/>
          <a:p>
            <a:pPr>
              <a:defRPr sz="1000" b="1">
                <a:solidFill>
                  <a:srgbClr val="FF2D55"/>
                </a:solidFill>
                <a:latin typeface="Segoe UI"/>
              </a:defRPr>
            </a:pPr>
            <a:r>
              <a:t>RBAC MIDDLEWARE</a:t>
            </a:r>
          </a:p>
          <a:p>
            <a:pPr>
              <a:spcBef>
                <a:spcPts val="300"/>
              </a:spcBef>
              <a:defRPr sz="1400" b="1">
                <a:solidFill>
                  <a:srgbClr val="FFFFFF"/>
                </a:solidFill>
                <a:latin typeface="Segoe UI"/>
              </a:defRPr>
            </a:pPr>
            <a:r>
              <a:t>Role-Based Access Control</a:t>
            </a:r>
          </a:p>
          <a:p>
            <a:pPr>
              <a:spcBef>
                <a:spcPts val="500"/>
              </a:spcBef>
              <a:defRPr sz="1050">
                <a:solidFill>
                  <a:srgbClr val="9CA3AF"/>
                </a:solidFill>
                <a:latin typeface="Segoe UI"/>
              </a:defRPr>
            </a:pPr>
            <a:r>
              <a:t>Enforces strict authorization between Admin, Organizer, and Member roles. Restricts event creation, volunteer squad modification, and risk updates to authorized leadership.</a:t>
            </a:r>
          </a:p>
        </p:txBody>
      </p:sp>
      <p:sp>
        <p:nvSpPr>
          <p:cNvPr id="10" name="Rectangle 9"/>
          <p:cNvSpPr/>
          <p:nvPr/>
        </p:nvSpPr>
        <p:spPr>
          <a:xfrm>
            <a:off x="7315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251960"/>
            <a:ext cx="4663440" cy="1645920"/>
          </a:xfrm>
          <a:prstGeom prst="rect">
            <a:avLst/>
          </a:prstGeom>
          <a:noFill/>
        </p:spPr>
        <p:txBody>
          <a:bodyPr wrap="square">
            <a:spAutoFit/>
          </a:bodyPr>
          <a:lstStyle/>
          <a:p>
            <a:pPr>
              <a:defRPr sz="1000" b="1">
                <a:solidFill>
                  <a:srgbClr val="FF2D55"/>
                </a:solidFill>
                <a:latin typeface="Segoe UI"/>
              </a:defRPr>
            </a:pPr>
            <a:r>
              <a:t>CLUB TENANT SCOPING</a:t>
            </a:r>
          </a:p>
          <a:p>
            <a:pPr>
              <a:spcBef>
                <a:spcPts val="300"/>
              </a:spcBef>
              <a:defRPr sz="1400" b="1">
                <a:solidFill>
                  <a:srgbClr val="FFFFFF"/>
                </a:solidFill>
                <a:latin typeface="Segoe UI"/>
              </a:defRPr>
            </a:pPr>
            <a:r>
              <a:t>Multi-Tenant Data Boundaries</a:t>
            </a:r>
          </a:p>
          <a:p>
            <a:pPr>
              <a:spcBef>
                <a:spcPts val="500"/>
              </a:spcBef>
              <a:defRPr sz="1050">
                <a:solidFill>
                  <a:srgbClr val="9CA3AF"/>
                </a:solidFill>
                <a:latin typeface="Segoe UI"/>
              </a:defRPr>
            </a:pPr>
            <a:r>
              <a:t>API endpoints strictly validate clubId and verify club membership before querying. Students belonging to Club A cannot read, query, or mutate events belonging to Club B.</a:t>
            </a:r>
          </a:p>
        </p:txBody>
      </p:sp>
      <p:sp>
        <p:nvSpPr>
          <p:cNvPr id="12" name="Rectangle 11"/>
          <p:cNvSpPr/>
          <p:nvPr/>
        </p:nvSpPr>
        <p:spPr>
          <a:xfrm>
            <a:off x="62179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251960"/>
            <a:ext cx="4663440" cy="1645920"/>
          </a:xfrm>
          <a:prstGeom prst="rect">
            <a:avLst/>
          </a:prstGeom>
          <a:noFill/>
        </p:spPr>
        <p:txBody>
          <a:bodyPr wrap="square">
            <a:spAutoFit/>
          </a:bodyPr>
          <a:lstStyle/>
          <a:p>
            <a:pPr>
              <a:defRPr sz="1000" b="1">
                <a:solidFill>
                  <a:srgbClr val="FF2D55"/>
                </a:solidFill>
                <a:latin typeface="Segoe UI"/>
              </a:defRPr>
            </a:pPr>
            <a:r>
              <a:t>SERVER VALIDATION</a:t>
            </a:r>
          </a:p>
          <a:p>
            <a:pPr>
              <a:spcBef>
                <a:spcPts val="300"/>
              </a:spcBef>
              <a:defRPr sz="1400" b="1">
                <a:solidFill>
                  <a:srgbClr val="FFFFFF"/>
                </a:solidFill>
                <a:latin typeface="Segoe UI"/>
              </a:defRPr>
            </a:pPr>
            <a:r>
              <a:t>Sanitized AI Action Execution</a:t>
            </a:r>
          </a:p>
          <a:p>
            <a:pPr>
              <a:spcBef>
                <a:spcPts val="500"/>
              </a:spcBef>
              <a:defRPr sz="1050">
                <a:solidFill>
                  <a:srgbClr val="9CA3AF"/>
                </a:solidFill>
                <a:latin typeface="Segoe UI"/>
              </a:defRPr>
            </a:pPr>
            <a:r>
              <a:t>The AI layer cannot inject raw ObjectIDs. Spoken names are validated against registered users in the database, and parameters are checked against Mongoose enum bounds.</a:t>
            </a:r>
          </a:p>
        </p:txBody>
      </p:sp>
      <p:sp>
        <p:nvSpPr>
          <p:cNvPr id="14" name="TextBox 1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21 of 30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ENGINEERING RESILIENCE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Dual-Tier Reliability: Heuristic Fallbacks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Ensuring basic operations remain available if Gemini hits rate limits (HTTP 429) or goes offline.</a:t>
            </a:r>
          </a:p>
        </p:txBody>
      </p:sp>
      <p:sp>
        <p:nvSpPr>
          <p:cNvPr id="6" name="Rectangle 5"/>
          <p:cNvSpPr/>
          <p:nvPr/>
        </p:nvSpPr>
        <p:spPr>
          <a:xfrm>
            <a:off x="731520" y="1691640"/>
            <a:ext cx="52120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19"/>
            <a:ext cx="4663440" cy="4114800"/>
          </a:xfrm>
          <a:prstGeom prst="rect">
            <a:avLst/>
          </a:prstGeom>
          <a:noFill/>
        </p:spPr>
        <p:txBody>
          <a:bodyPr wrap="square">
            <a:spAutoFit/>
          </a:bodyPr>
          <a:lstStyle/>
          <a:p>
            <a:pPr>
              <a:defRPr sz="1100" b="1">
                <a:solidFill>
                  <a:srgbClr val="FF2D55"/>
                </a:solidFill>
                <a:latin typeface="Segoe UI"/>
              </a:defRPr>
            </a:pPr>
            <a:r>
              <a:t>TIER 1: PRIMARY GEMINI API</a:t>
            </a:r>
          </a:p>
          <a:p>
            <a:pPr>
              <a:spcBef>
                <a:spcPts val="800"/>
              </a:spcBef>
              <a:defRPr sz="1100" b="1">
                <a:solidFill>
                  <a:srgbClr val="FFFFFF"/>
                </a:solidFill>
                <a:latin typeface="Segoe UI"/>
              </a:defRPr>
            </a:pPr>
            <a:r>
              <a:t>• Powered by Gemini 3.6 &amp; 2.5 Flash</a:t>
            </a:r>
          </a:p>
          <a:p>
            <a:pPr>
              <a:spcBef>
                <a:spcPts val="100"/>
              </a:spcBef>
              <a:defRPr sz="950">
                <a:solidFill>
                  <a:srgbClr val="9CA3AF"/>
                </a:solidFill>
                <a:latin typeface="Segoe UI"/>
              </a:defRPr>
            </a:pPr>
            <a:r>
              <a:t>Generative inference providing structured JSON extraction from complex natural language and meeting dialogue.</a:t>
            </a:r>
          </a:p>
          <a:p>
            <a:pPr>
              <a:spcBef>
                <a:spcPts val="800"/>
              </a:spcBef>
              <a:defRPr sz="1100" b="1">
                <a:solidFill>
                  <a:srgbClr val="FFFFFF"/>
                </a:solidFill>
                <a:latin typeface="Segoe UI"/>
              </a:defRPr>
            </a:pPr>
            <a:r>
              <a:t>• Context Synthesis</a:t>
            </a:r>
          </a:p>
          <a:p>
            <a:pPr>
              <a:spcBef>
                <a:spcPts val="100"/>
              </a:spcBef>
              <a:defRPr sz="950">
                <a:solidFill>
                  <a:srgbClr val="9CA3AF"/>
                </a:solidFill>
                <a:latin typeface="Segoe UI"/>
              </a:defRPr>
            </a:pPr>
            <a:r>
              <a:t>Synthesizes multi-paragraph meeting transcripts and disparate document chunks into clean executive summaries.</a:t>
            </a:r>
          </a:p>
          <a:p>
            <a:pPr>
              <a:spcBef>
                <a:spcPts val="800"/>
              </a:spcBef>
              <a:defRPr sz="1100" b="1">
                <a:solidFill>
                  <a:srgbClr val="FFFFFF"/>
                </a:solidFill>
                <a:latin typeface="Segoe UI"/>
              </a:defRPr>
            </a:pPr>
            <a:r>
              <a:t>• Multi-Entity Extraction</a:t>
            </a:r>
          </a:p>
          <a:p>
            <a:pPr>
              <a:spcBef>
                <a:spcPts val="100"/>
              </a:spcBef>
              <a:defRPr sz="950">
                <a:solidFill>
                  <a:srgbClr val="9CA3AF"/>
                </a:solidFill>
                <a:latin typeface="Segoe UI"/>
              </a:defRPr>
            </a:pPr>
            <a:r>
              <a:t>Parses ambiguous sentences, identifying implicit priorities and volunteer assignments.</a:t>
            </a:r>
          </a:p>
          <a:p>
            <a:pPr>
              <a:spcBef>
                <a:spcPts val="800"/>
              </a:spcBef>
              <a:defRPr sz="1100" b="1">
                <a:solidFill>
                  <a:srgbClr val="FFFFFF"/>
                </a:solidFill>
                <a:latin typeface="Segoe UI"/>
              </a:defRPr>
            </a:pPr>
            <a:r>
              <a:t>• Active Error Catching</a:t>
            </a:r>
          </a:p>
          <a:p>
            <a:pPr>
              <a:spcBef>
                <a:spcPts val="100"/>
              </a:spcBef>
              <a:defRPr sz="950">
                <a:solidFill>
                  <a:srgbClr val="9CA3AF"/>
                </a:solidFill>
                <a:latin typeface="Segoe UI"/>
              </a:defRPr>
            </a:pPr>
            <a:r>
              <a:t>Wrapped in try-catch blocks to catch network errors, timeouts, or quota limits gracefully.</a:t>
            </a:r>
          </a:p>
        </p:txBody>
      </p:sp>
      <p:sp>
        <p:nvSpPr>
          <p:cNvPr id="8" name="Rectangle 7"/>
          <p:cNvSpPr/>
          <p:nvPr/>
        </p:nvSpPr>
        <p:spPr>
          <a:xfrm>
            <a:off x="6217920" y="1691640"/>
            <a:ext cx="52120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19"/>
            <a:ext cx="4663440" cy="4114800"/>
          </a:xfrm>
          <a:prstGeom prst="rect">
            <a:avLst/>
          </a:prstGeom>
          <a:noFill/>
        </p:spPr>
        <p:txBody>
          <a:bodyPr wrap="square">
            <a:spAutoFit/>
          </a:bodyPr>
          <a:lstStyle/>
          <a:p>
            <a:pPr>
              <a:defRPr sz="1100" b="1">
                <a:solidFill>
                  <a:srgbClr val="10B981"/>
                </a:solidFill>
                <a:latin typeface="Segoe UI"/>
              </a:defRPr>
            </a:pPr>
            <a:r>
              <a:t>TIER 2: DETERMINISTIC HEURISTIC FALLBACK</a:t>
            </a:r>
          </a:p>
          <a:p>
            <a:pPr>
              <a:spcBef>
                <a:spcPts val="800"/>
              </a:spcBef>
              <a:defRPr sz="1100" b="1">
                <a:solidFill>
                  <a:srgbClr val="FFFFFF"/>
                </a:solidFill>
                <a:latin typeface="Segoe UI"/>
              </a:defRPr>
            </a:pPr>
            <a:r>
              <a:t>• Automatic Activation</a:t>
            </a:r>
          </a:p>
          <a:p>
            <a:pPr>
              <a:spcBef>
                <a:spcPts val="100"/>
              </a:spcBef>
              <a:defRPr sz="950">
                <a:solidFill>
                  <a:srgbClr val="9CA3AF"/>
                </a:solidFill>
                <a:latin typeface="Segoe UI"/>
              </a:defRPr>
            </a:pPr>
            <a:r>
              <a:t>Triggered automatically when Gemini API returns 429 (Rate Limit), network downtime, or missing API key.</a:t>
            </a:r>
          </a:p>
          <a:p>
            <a:pPr>
              <a:spcBef>
                <a:spcPts val="800"/>
              </a:spcBef>
              <a:defRPr sz="1100" b="1">
                <a:solidFill>
                  <a:srgbClr val="FFFFFF"/>
                </a:solidFill>
                <a:latin typeface="Segoe UI"/>
              </a:defRPr>
            </a:pPr>
            <a:r>
              <a:t>• fallbackParseIntent Pattern Matcher</a:t>
            </a:r>
          </a:p>
          <a:p>
            <a:pPr>
              <a:spcBef>
                <a:spcPts val="100"/>
              </a:spcBef>
              <a:defRPr sz="950">
                <a:solidFill>
                  <a:srgbClr val="9CA3AF"/>
                </a:solidFill>
                <a:latin typeface="Segoe UI"/>
              </a:defRPr>
            </a:pPr>
            <a:r>
              <a:t>Heuristic engine (intentParser.js) analyzes keywords ('who', 'assign', 'risk', 'notify') to classify commands.</a:t>
            </a:r>
          </a:p>
          <a:p>
            <a:pPr>
              <a:spcBef>
                <a:spcPts val="800"/>
              </a:spcBef>
              <a:defRPr sz="1100" b="1">
                <a:solidFill>
                  <a:srgbClr val="FFFFFF"/>
                </a:solidFill>
                <a:latin typeface="Segoe UI"/>
              </a:defRPr>
            </a:pPr>
            <a:r>
              <a:t>• extractDirectAnswer Database Scanner</a:t>
            </a:r>
          </a:p>
          <a:p>
            <a:pPr>
              <a:spcBef>
                <a:spcPts val="100"/>
              </a:spcBef>
              <a:defRPr sz="950">
                <a:solidFill>
                  <a:srgbClr val="9CA3AF"/>
                </a:solidFill>
                <a:latin typeface="Segoe UI"/>
              </a:defRPr>
            </a:pPr>
            <a:r>
              <a:t>Fuzzy-matches question terms directly against live Task titles and Volunteer names in queryKnowledge.js.</a:t>
            </a:r>
          </a:p>
          <a:p>
            <a:pPr>
              <a:spcBef>
                <a:spcPts val="800"/>
              </a:spcBef>
              <a:defRPr sz="1100" b="1">
                <a:solidFill>
                  <a:srgbClr val="FFFFFF"/>
                </a:solidFill>
                <a:latin typeface="Segoe UI"/>
              </a:defRPr>
            </a:pPr>
            <a:r>
              <a:t>• Operational Continuity</a:t>
            </a:r>
          </a:p>
          <a:p>
            <a:pPr>
              <a:spcBef>
                <a:spcPts val="100"/>
              </a:spcBef>
              <a:defRPr sz="950">
                <a:solidFill>
                  <a:srgbClr val="9CA3AF"/>
                </a:solidFill>
                <a:latin typeface="Segoe UI"/>
              </a:defRPr>
            </a:pPr>
            <a:r>
              <a:t>Organizers can still create tasks, check assignments, and send alerts even during external API downtime.</a:t>
            </a:r>
          </a:p>
        </p:txBody>
      </p:sp>
      <p:sp>
        <p:nvSpPr>
          <p:cNvPr id="10" name="TextBox 9"/>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22 of 30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FRONTEND UI SHOWCASE</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Responsive Neo-Brutalist Dashboard UI</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Lead: Krish Panchal  •  React 18, Vite, Tailwind CSS, and live event telemetry.</a:t>
            </a:r>
          </a:p>
        </p:txBody>
      </p:sp>
      <p:sp>
        <p:nvSpPr>
          <p:cNvPr id="6" name="Rectangle 5"/>
          <p:cNvSpPr/>
          <p:nvPr/>
        </p:nvSpPr>
        <p:spPr>
          <a:xfrm>
            <a:off x="731520" y="1691640"/>
            <a:ext cx="685800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edia_1789886068494.png"/>
          <p:cNvPicPr>
            <a:picLocks noChangeAspect="1"/>
          </p:cNvPicPr>
          <p:nvPr/>
        </p:nvPicPr>
        <p:blipFill>
          <a:blip r:embed="rId2"/>
          <a:stretch>
            <a:fillRect/>
          </a:stretch>
        </p:blipFill>
        <p:spPr>
          <a:xfrm>
            <a:off x="822960" y="1783080"/>
            <a:ext cx="6675120" cy="2959477"/>
          </a:xfrm>
          <a:prstGeom prst="rect">
            <a:avLst/>
          </a:prstGeom>
        </p:spPr>
      </p:pic>
      <p:sp>
        <p:nvSpPr>
          <p:cNvPr id="8" name="Rectangle 7"/>
          <p:cNvSpPr/>
          <p:nvPr/>
        </p:nvSpPr>
        <p:spPr>
          <a:xfrm>
            <a:off x="7772400" y="1691640"/>
            <a:ext cx="3687775"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01000" y="1874519"/>
            <a:ext cx="3230575" cy="4114800"/>
          </a:xfrm>
          <a:prstGeom prst="rect">
            <a:avLst/>
          </a:prstGeom>
          <a:noFill/>
        </p:spPr>
        <p:txBody>
          <a:bodyPr wrap="square">
            <a:spAutoFit/>
          </a:bodyPr>
          <a:lstStyle/>
          <a:p>
            <a:pPr>
              <a:defRPr sz="1100" b="1">
                <a:solidFill>
                  <a:srgbClr val="FF2D55"/>
                </a:solidFill>
                <a:latin typeface="Segoe UI"/>
              </a:defRPr>
            </a:pPr>
            <a:r>
              <a:t>DESIGN SYSTEM HIGHLIGHTS</a:t>
            </a:r>
          </a:p>
          <a:p>
            <a:pPr>
              <a:spcBef>
                <a:spcPts val="800"/>
              </a:spcBef>
              <a:defRPr sz="1100" b="1">
                <a:solidFill>
                  <a:srgbClr val="FFFFFF"/>
                </a:solidFill>
                <a:latin typeface="Segoe UI"/>
              </a:defRPr>
            </a:pPr>
            <a:r>
              <a:t>• Neo-Brutalist Aesthetic</a:t>
            </a:r>
          </a:p>
          <a:p>
            <a:pPr>
              <a:spcBef>
                <a:spcPts val="200"/>
              </a:spcBef>
              <a:defRPr sz="950">
                <a:solidFill>
                  <a:srgbClr val="9CA3AF"/>
                </a:solidFill>
                <a:latin typeface="Segoe UI"/>
              </a:defRPr>
            </a:pPr>
            <a:r>
              <a:t>High-contrast bone cream cards against dark slate backgrounds with sharp structural outlines.</a:t>
            </a:r>
          </a:p>
          <a:p>
            <a:pPr>
              <a:spcBef>
                <a:spcPts val="800"/>
              </a:spcBef>
              <a:defRPr sz="1100" b="1">
                <a:solidFill>
                  <a:srgbClr val="FFFFFF"/>
                </a:solidFill>
                <a:latin typeface="Segoe UI"/>
              </a:defRPr>
            </a:pPr>
            <a:r>
              <a:t>• Telemetry Counters</a:t>
            </a:r>
          </a:p>
          <a:p>
            <a:pPr>
              <a:spcBef>
                <a:spcPts val="200"/>
              </a:spcBef>
              <a:defRPr sz="950">
                <a:solidFill>
                  <a:srgbClr val="9CA3AF"/>
                </a:solidFill>
                <a:latin typeface="Segoe UI"/>
              </a:defRPr>
            </a:pPr>
            <a:r>
              <a:t>Live attendee, volunteer, and event duration metrics rendered in clean tabular cards.</a:t>
            </a:r>
          </a:p>
          <a:p>
            <a:pPr>
              <a:spcBef>
                <a:spcPts val="800"/>
              </a:spcBef>
              <a:defRPr sz="1100" b="1">
                <a:solidFill>
                  <a:srgbClr val="FFFFFF"/>
                </a:solidFill>
                <a:latin typeface="Segoe UI"/>
              </a:defRPr>
            </a:pPr>
            <a:r>
              <a:t>• Quick-Action Buttons</a:t>
            </a:r>
          </a:p>
          <a:p>
            <a:pPr>
              <a:spcBef>
                <a:spcPts val="200"/>
              </a:spcBef>
              <a:defRPr sz="950">
                <a:solidFill>
                  <a:srgbClr val="9CA3AF"/>
                </a:solidFill>
                <a:latin typeface="Segoe UI"/>
              </a:defRPr>
            </a:pPr>
            <a:r>
              <a:t>High-emphasis coral red buttons for 'OPEN TASK BOARD', 'PROCESS MEETING', and 'RUN AGENT'.</a:t>
            </a:r>
          </a:p>
          <a:p>
            <a:pPr>
              <a:spcBef>
                <a:spcPts val="800"/>
              </a:spcBef>
              <a:defRPr sz="1100" b="1">
                <a:solidFill>
                  <a:srgbClr val="FFFFFF"/>
                </a:solidFill>
                <a:latin typeface="Segoe UI"/>
              </a:defRPr>
            </a:pPr>
            <a:r>
              <a:t>• Assistant Command Console</a:t>
            </a:r>
          </a:p>
          <a:p>
            <a:pPr>
              <a:spcBef>
                <a:spcPts val="200"/>
              </a:spcBef>
              <a:defRPr sz="950">
                <a:solidFill>
                  <a:srgbClr val="9CA3AF"/>
                </a:solidFill>
                <a:latin typeface="Segoe UI"/>
              </a:defRPr>
            </a:pPr>
            <a:r>
              <a:t>Docked command bar at the bottom with real-time intent execution feedback.</a:t>
            </a:r>
          </a:p>
        </p:txBody>
      </p:sp>
      <p:sp>
        <p:nvSpPr>
          <p:cNvPr id="10" name="TextBox 9"/>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23 of 30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SYSTEM BENCHMARKS</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Engineering Benchmarks &amp; Query Metrics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Practical performance measurements recorded across backend, RAG, and AI pipelines.</a:t>
            </a:r>
          </a:p>
        </p:txBody>
      </p:sp>
      <p:sp>
        <p:nvSpPr>
          <p:cNvPr id="6" name="Rectangle 5"/>
          <p:cNvSpPr/>
          <p:nvPr/>
        </p:nvSpPr>
        <p:spPr>
          <a:xfrm>
            <a:off x="7315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20"/>
            <a:ext cx="4663440" cy="1737360"/>
          </a:xfrm>
          <a:prstGeom prst="rect">
            <a:avLst/>
          </a:prstGeom>
          <a:noFill/>
        </p:spPr>
        <p:txBody>
          <a:bodyPr wrap="square">
            <a:spAutoFit/>
          </a:bodyPr>
          <a:lstStyle/>
          <a:p>
            <a:pPr>
              <a:defRPr sz="2600" b="1">
                <a:solidFill>
                  <a:srgbClr val="FF2D55"/>
                </a:solidFill>
                <a:latin typeface="Segoe UI"/>
              </a:defRPr>
            </a:pPr>
            <a:r>
              <a:t>~6 SECONDS</a:t>
            </a:r>
          </a:p>
          <a:p>
            <a:pPr>
              <a:spcBef>
                <a:spcPts val="200"/>
              </a:spcBef>
              <a:defRPr sz="1400" b="1">
                <a:solidFill>
                  <a:srgbClr val="FFFFFF"/>
                </a:solidFill>
                <a:latin typeface="Segoe UI"/>
              </a:defRPr>
            </a:pPr>
            <a:r>
              <a:t>Transcript Synthesis Latency</a:t>
            </a:r>
          </a:p>
          <a:p>
            <a:pPr>
              <a:spcBef>
                <a:spcPts val="400"/>
              </a:spcBef>
              <a:defRPr sz="1050">
                <a:solidFill>
                  <a:srgbClr val="9CA3AF"/>
                </a:solidFill>
                <a:latin typeface="Segoe UI"/>
              </a:defRPr>
            </a:pPr>
            <a:r>
              <a:t>Average processing time for Gemini 3.6 Flash to parse a 600-word multi-speaker transcript, extract structured tasks, identify risks, and return sanitized JSON.</a:t>
            </a:r>
          </a:p>
        </p:txBody>
      </p:sp>
      <p:sp>
        <p:nvSpPr>
          <p:cNvPr id="8" name="Rectangle 7"/>
          <p:cNvSpPr/>
          <p:nvPr/>
        </p:nvSpPr>
        <p:spPr>
          <a:xfrm>
            <a:off x="6217920" y="169164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74520"/>
            <a:ext cx="4663440" cy="1737360"/>
          </a:xfrm>
          <a:prstGeom prst="rect">
            <a:avLst/>
          </a:prstGeom>
          <a:noFill/>
        </p:spPr>
        <p:txBody>
          <a:bodyPr wrap="square">
            <a:spAutoFit/>
          </a:bodyPr>
          <a:lstStyle/>
          <a:p>
            <a:pPr>
              <a:defRPr sz="2600" b="1">
                <a:solidFill>
                  <a:srgbClr val="FF2D55"/>
                </a:solidFill>
                <a:latin typeface="Segoe UI"/>
              </a:defRPr>
            </a:pPr>
            <a:r>
              <a:t>&lt; 50 MS</a:t>
            </a:r>
          </a:p>
          <a:p>
            <a:pPr>
              <a:spcBef>
                <a:spcPts val="200"/>
              </a:spcBef>
              <a:defRPr sz="1400" b="1">
                <a:solidFill>
                  <a:srgbClr val="FFFFFF"/>
                </a:solidFill>
                <a:latin typeface="Segoe UI"/>
              </a:defRPr>
            </a:pPr>
            <a:r>
              <a:t>In-Process Cosine Retrieval</a:t>
            </a:r>
          </a:p>
          <a:p>
            <a:pPr>
              <a:spcBef>
                <a:spcPts val="400"/>
              </a:spcBef>
              <a:defRPr sz="1050">
                <a:solidFill>
                  <a:srgbClr val="9CA3AF"/>
                </a:solidFill>
                <a:latin typeface="Segoe UI"/>
              </a:defRPr>
            </a:pPr>
            <a:r>
              <a:t>Retrieval latency for cosine similarity matching across in-memory document chunks in Node.js, eliminating network roundtrips to remote vector databases.</a:t>
            </a:r>
          </a:p>
        </p:txBody>
      </p:sp>
      <p:sp>
        <p:nvSpPr>
          <p:cNvPr id="10" name="Rectangle 9"/>
          <p:cNvSpPr/>
          <p:nvPr/>
        </p:nvSpPr>
        <p:spPr>
          <a:xfrm>
            <a:off x="7315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206240"/>
            <a:ext cx="4663440" cy="1737360"/>
          </a:xfrm>
          <a:prstGeom prst="rect">
            <a:avLst/>
          </a:prstGeom>
          <a:noFill/>
        </p:spPr>
        <p:txBody>
          <a:bodyPr wrap="square">
            <a:spAutoFit/>
          </a:bodyPr>
          <a:lstStyle/>
          <a:p>
            <a:pPr>
              <a:defRPr sz="2600" b="1">
                <a:solidFill>
                  <a:srgbClr val="FF2D55"/>
                </a:solidFill>
                <a:latin typeface="Segoe UI"/>
              </a:defRPr>
            </a:pPr>
            <a:r>
              <a:t>&lt; 20 MS</a:t>
            </a:r>
          </a:p>
          <a:p>
            <a:pPr>
              <a:spcBef>
                <a:spcPts val="200"/>
              </a:spcBef>
              <a:defRPr sz="1400" b="1">
                <a:solidFill>
                  <a:srgbClr val="FFFFFF"/>
                </a:solidFill>
                <a:latin typeface="Segoe UI"/>
              </a:defRPr>
            </a:pPr>
            <a:r>
              <a:t>Indexed MongoDB Queries</a:t>
            </a:r>
          </a:p>
          <a:p>
            <a:pPr>
              <a:spcBef>
                <a:spcPts val="400"/>
              </a:spcBef>
              <a:defRPr sz="1050">
                <a:solidFill>
                  <a:srgbClr val="9CA3AF"/>
                </a:solidFill>
                <a:latin typeface="Segoe UI"/>
              </a:defRPr>
            </a:pPr>
            <a:r>
              <a:t>Average response latency for task, risk, and volunteer lookups across indexed fields (clubId, eventId, assignedTo) on MongoDB Atlas.</a:t>
            </a:r>
          </a:p>
        </p:txBody>
      </p:sp>
      <p:sp>
        <p:nvSpPr>
          <p:cNvPr id="12" name="Rectangle 11"/>
          <p:cNvSpPr/>
          <p:nvPr/>
        </p:nvSpPr>
        <p:spPr>
          <a:xfrm>
            <a:off x="6217920" y="4023360"/>
            <a:ext cx="5212080" cy="210312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206240"/>
            <a:ext cx="4663440" cy="1737360"/>
          </a:xfrm>
          <a:prstGeom prst="rect">
            <a:avLst/>
          </a:prstGeom>
          <a:noFill/>
        </p:spPr>
        <p:txBody>
          <a:bodyPr wrap="square">
            <a:spAutoFit/>
          </a:bodyPr>
          <a:lstStyle/>
          <a:p>
            <a:pPr>
              <a:defRPr sz="2600" b="1">
                <a:solidFill>
                  <a:srgbClr val="FF2D55"/>
                </a:solidFill>
                <a:latin typeface="Segoe UI"/>
              </a:defRPr>
            </a:pPr>
            <a:r>
              <a:t>11 SCHEMAS</a:t>
            </a:r>
          </a:p>
          <a:p>
            <a:pPr>
              <a:spcBef>
                <a:spcPts val="200"/>
              </a:spcBef>
              <a:defRPr sz="1400" b="1">
                <a:solidFill>
                  <a:srgbClr val="FFFFFF"/>
                </a:solidFill>
                <a:latin typeface="Segoe UI"/>
              </a:defRPr>
            </a:pPr>
            <a:r>
              <a:t>Relational Data Modeling</a:t>
            </a:r>
          </a:p>
          <a:p>
            <a:pPr>
              <a:spcBef>
                <a:spcPts val="400"/>
              </a:spcBef>
              <a:defRPr sz="1050">
                <a:solidFill>
                  <a:srgbClr val="9CA3AF"/>
                </a:solidFill>
                <a:latin typeface="Segoe UI"/>
              </a:defRPr>
            </a:pPr>
            <a:r>
              <a:t>Comprehensive Mongoose data architecture supporting User, Club, Event, Task, Volunteer, Risk, Meeting, AIAnalysis, Document, Chunk, and Action entities.</a:t>
            </a:r>
          </a:p>
        </p:txBody>
      </p:sp>
      <p:sp>
        <p:nvSpPr>
          <p:cNvPr id="14" name="TextBox 1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24 of 30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TECHNICAL MATRIX</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Feature Comparison: Specialized Ops vs. Ad-Hoc Tools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Evaluating dedicated club operations software against general-purpose productivity tools.</a:t>
            </a:r>
          </a:p>
        </p:txBody>
      </p:sp>
      <p:graphicFrame>
        <p:nvGraphicFramePr>
          <p:cNvPr id="6" name="Table 5"/>
          <p:cNvGraphicFramePr>
            <a:graphicFrameLocks noGrp="1"/>
          </p:cNvGraphicFramePr>
          <p:nvPr>
            <p:extLst>
              <p:ext uri="{D42A27DB-BD31-4B8C-83A1-F6EECF244321}">
                <p14:modId xmlns:p14="http://schemas.microsoft.com/office/powerpoint/2010/main" val="51546920"/>
              </p:ext>
            </p:extLst>
          </p:nvPr>
        </p:nvGraphicFramePr>
        <p:xfrm>
          <a:off x="731520" y="1691640"/>
          <a:ext cx="10728655" cy="43891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133295">
                  <a:extLst>
                    <a:ext uri="{9D8B030D-6E8A-4147-A177-3AD203B41FA5}">
                      <a16:colId xmlns:a16="http://schemas.microsoft.com/office/drawing/2014/main" val="20004"/>
                    </a:ext>
                  </a:extLst>
                </a:gridCol>
              </a:tblGrid>
              <a:tr h="627017">
                <a:tc>
                  <a:txBody>
                    <a:bodyPr/>
                    <a:lstStyle/>
                    <a:p>
                      <a:pPr algn="l">
                        <a:defRPr sz="1100" b="1">
                          <a:solidFill>
                            <a:srgbClr val="FFFFFF"/>
                          </a:solidFill>
                          <a:latin typeface="Segoe UI"/>
                        </a:defRPr>
                      </a:pPr>
                      <a:r>
                        <a:rPr dirty="0">
                          <a:solidFill>
                            <a:schemeClr val="tx1"/>
                          </a:solidFill>
                        </a:rPr>
                        <a:t>CAPABILITY</a:t>
                      </a:r>
                    </a:p>
                  </a:txBody>
                  <a:tcPr/>
                </a:tc>
                <a:tc>
                  <a:txBody>
                    <a:bodyPr/>
                    <a:lstStyle/>
                    <a:p>
                      <a:pPr algn="l">
                        <a:defRPr sz="1100" b="1">
                          <a:solidFill>
                            <a:srgbClr val="FFFFFF"/>
                          </a:solidFill>
                          <a:latin typeface="Segoe UI"/>
                        </a:defRPr>
                      </a:pPr>
                      <a:r>
                        <a:rPr>
                          <a:solidFill>
                            <a:schemeClr val="tx1"/>
                          </a:solidFill>
                        </a:rPr>
                        <a:t>NOTION / TRELLO</a:t>
                      </a:r>
                    </a:p>
                  </a:txBody>
                  <a:tcPr/>
                </a:tc>
                <a:tc>
                  <a:txBody>
                    <a:bodyPr/>
                    <a:lstStyle/>
                    <a:p>
                      <a:pPr algn="l">
                        <a:defRPr sz="1100" b="1">
                          <a:solidFill>
                            <a:srgbClr val="FFFFFF"/>
                          </a:solidFill>
                          <a:latin typeface="Segoe UI"/>
                        </a:defRPr>
                      </a:pPr>
                      <a:r>
                        <a:rPr>
                          <a:solidFill>
                            <a:schemeClr val="tx1"/>
                          </a:solidFill>
                        </a:rPr>
                        <a:t>WHATSAPP / DISCORD</a:t>
                      </a:r>
                    </a:p>
                  </a:txBody>
                  <a:tcPr/>
                </a:tc>
                <a:tc>
                  <a:txBody>
                    <a:bodyPr/>
                    <a:lstStyle/>
                    <a:p>
                      <a:pPr algn="l">
                        <a:defRPr sz="1100" b="1">
                          <a:solidFill>
                            <a:srgbClr val="FFFFFF"/>
                          </a:solidFill>
                          <a:latin typeface="Segoe UI"/>
                        </a:defRPr>
                      </a:pPr>
                      <a:r>
                        <a:rPr>
                          <a:solidFill>
                            <a:schemeClr val="tx1"/>
                          </a:solidFill>
                        </a:rPr>
                        <a:t>GENERIC AI CHAT</a:t>
                      </a:r>
                    </a:p>
                  </a:txBody>
                  <a:tcPr/>
                </a:tc>
                <a:tc>
                  <a:txBody>
                    <a:bodyPr/>
                    <a:lstStyle/>
                    <a:p>
                      <a:pPr algn="l">
                        <a:defRPr sz="1100" b="1">
                          <a:solidFill>
                            <a:srgbClr val="FF2D55"/>
                          </a:solidFill>
                          <a:latin typeface="Segoe UI"/>
                        </a:defRPr>
                      </a:pPr>
                      <a:r>
                        <a:rPr>
                          <a:solidFill>
                            <a:schemeClr val="tx1"/>
                          </a:solidFill>
                        </a:rPr>
                        <a:t>CLUBOPS AI</a:t>
                      </a:r>
                    </a:p>
                  </a:txBody>
                  <a:tcPr/>
                </a:tc>
                <a:extLst>
                  <a:ext uri="{0D108BD9-81ED-4DB2-BD59-A6C34878D82A}">
                    <a16:rowId xmlns:a16="http://schemas.microsoft.com/office/drawing/2014/main" val="10000"/>
                  </a:ext>
                </a:extLst>
              </a:tr>
              <a:tr h="627017">
                <a:tc>
                  <a:txBody>
                    <a:bodyPr/>
                    <a:lstStyle/>
                    <a:p>
                      <a:pPr algn="l">
                        <a:defRPr sz="1000" b="1">
                          <a:solidFill>
                            <a:srgbClr val="FFFFFF"/>
                          </a:solidFill>
                          <a:latin typeface="Segoe UI"/>
                        </a:defRPr>
                      </a:pPr>
                      <a:r>
                        <a:rPr dirty="0">
                          <a:solidFill>
                            <a:schemeClr val="tx1"/>
                          </a:solidFill>
                        </a:rPr>
                        <a:t>Multi-Event Workspace</a:t>
                      </a:r>
                    </a:p>
                  </a:txBody>
                  <a:tcPr/>
                </a:tc>
                <a:tc>
                  <a:txBody>
                    <a:bodyPr/>
                    <a:lstStyle/>
                    <a:p>
                      <a:pPr algn="l">
                        <a:defRPr sz="1000">
                          <a:solidFill>
                            <a:srgbClr val="9CA3AF"/>
                          </a:solidFill>
                          <a:latin typeface="Segoe UI"/>
                        </a:defRPr>
                      </a:pPr>
                      <a:r>
                        <a:rPr dirty="0">
                          <a:solidFill>
                            <a:schemeClr val="tx1"/>
                          </a:solidFill>
                        </a:rPr>
                        <a:t>Manual setup per board</a:t>
                      </a:r>
                    </a:p>
                  </a:txBody>
                  <a:tcPr/>
                </a:tc>
                <a:tc>
                  <a:txBody>
                    <a:bodyPr/>
                    <a:lstStyle/>
                    <a:p>
                      <a:pPr algn="l">
                        <a:defRPr sz="1000">
                          <a:solidFill>
                            <a:srgbClr val="9CA3AF"/>
                          </a:solidFill>
                          <a:latin typeface="Segoe UI"/>
                        </a:defRPr>
                      </a:pPr>
                      <a:r>
                        <a:rPr>
                          <a:solidFill>
                            <a:schemeClr val="tx1"/>
                          </a:solidFill>
                        </a:rPr>
                        <a:t>Chat channels only</a:t>
                      </a:r>
                    </a:p>
                  </a:txBody>
                  <a:tcPr/>
                </a:tc>
                <a:tc>
                  <a:txBody>
                    <a:bodyPr/>
                    <a:lstStyle/>
                    <a:p>
                      <a:pPr algn="l">
                        <a:defRPr sz="1000">
                          <a:solidFill>
                            <a:srgbClr val="9CA3AF"/>
                          </a:solidFill>
                          <a:latin typeface="Segoe UI"/>
                        </a:defRPr>
                      </a:pPr>
                      <a:r>
                        <a:rPr>
                          <a:solidFill>
                            <a:schemeClr val="tx1"/>
                          </a:solidFill>
                        </a:rPr>
                        <a:t>None (Ephemeral)</a:t>
                      </a:r>
                    </a:p>
                  </a:txBody>
                  <a:tcPr/>
                </a:tc>
                <a:tc>
                  <a:txBody>
                    <a:bodyPr/>
                    <a:lstStyle/>
                    <a:p>
                      <a:pPr algn="l">
                        <a:defRPr sz="1000" b="1">
                          <a:solidFill>
                            <a:srgbClr val="FF2D55"/>
                          </a:solidFill>
                          <a:latin typeface="Segoe UI"/>
                        </a:defRPr>
                      </a:pPr>
                      <a:r>
                        <a:rPr>
                          <a:solidFill>
                            <a:schemeClr val="tx1"/>
                          </a:solidFill>
                        </a:rPr>
                        <a:t>Native Event Engine</a:t>
                      </a:r>
                    </a:p>
                  </a:txBody>
                  <a:tcPr/>
                </a:tc>
                <a:extLst>
                  <a:ext uri="{0D108BD9-81ED-4DB2-BD59-A6C34878D82A}">
                    <a16:rowId xmlns:a16="http://schemas.microsoft.com/office/drawing/2014/main" val="10001"/>
                  </a:ext>
                </a:extLst>
              </a:tr>
              <a:tr h="627017">
                <a:tc>
                  <a:txBody>
                    <a:bodyPr/>
                    <a:lstStyle/>
                    <a:p>
                      <a:pPr algn="l">
                        <a:defRPr sz="1000" b="1">
                          <a:solidFill>
                            <a:srgbClr val="FFFFFF"/>
                          </a:solidFill>
                          <a:latin typeface="Segoe UI"/>
                        </a:defRPr>
                      </a:pPr>
                      <a:r>
                        <a:rPr>
                          <a:solidFill>
                            <a:schemeClr val="tx1"/>
                          </a:solidFill>
                        </a:rPr>
                        <a:t>Meeting Transcript Parsing</a:t>
                      </a:r>
                    </a:p>
                  </a:txBody>
                  <a:tcPr/>
                </a:tc>
                <a:tc>
                  <a:txBody>
                    <a:bodyPr/>
                    <a:lstStyle/>
                    <a:p>
                      <a:pPr algn="l">
                        <a:defRPr sz="1000">
                          <a:solidFill>
                            <a:srgbClr val="9CA3AF"/>
                          </a:solidFill>
                          <a:latin typeface="Segoe UI"/>
                        </a:defRPr>
                      </a:pPr>
                      <a:r>
                        <a:rPr dirty="0">
                          <a:solidFill>
                            <a:schemeClr val="tx1"/>
                          </a:solidFill>
                        </a:rPr>
                        <a:t>Manual note formatting</a:t>
                      </a:r>
                    </a:p>
                  </a:txBody>
                  <a:tcPr/>
                </a:tc>
                <a:tc>
                  <a:txBody>
                    <a:bodyPr/>
                    <a:lstStyle/>
                    <a:p>
                      <a:pPr algn="l">
                        <a:defRPr sz="1000">
                          <a:solidFill>
                            <a:srgbClr val="9CA3AF"/>
                          </a:solidFill>
                          <a:latin typeface="Segoe UI"/>
                        </a:defRPr>
                      </a:pPr>
                      <a:r>
                        <a:rPr>
                          <a:solidFill>
                            <a:schemeClr val="tx1"/>
                          </a:solidFill>
                        </a:rPr>
                        <a:t>None</a:t>
                      </a:r>
                    </a:p>
                  </a:txBody>
                  <a:tcPr/>
                </a:tc>
                <a:tc>
                  <a:txBody>
                    <a:bodyPr/>
                    <a:lstStyle/>
                    <a:p>
                      <a:pPr algn="l">
                        <a:defRPr sz="1000">
                          <a:solidFill>
                            <a:srgbClr val="9CA3AF"/>
                          </a:solidFill>
                          <a:latin typeface="Segoe UI"/>
                        </a:defRPr>
                      </a:pPr>
                      <a:r>
                        <a:rPr>
                          <a:solidFill>
                            <a:schemeClr val="tx1"/>
                          </a:solidFill>
                        </a:rPr>
                        <a:t>Text-only summary</a:t>
                      </a:r>
                    </a:p>
                  </a:txBody>
                  <a:tcPr/>
                </a:tc>
                <a:tc>
                  <a:txBody>
                    <a:bodyPr/>
                    <a:lstStyle/>
                    <a:p>
                      <a:pPr algn="l">
                        <a:defRPr sz="1000" b="1">
                          <a:solidFill>
                            <a:srgbClr val="FF2D55"/>
                          </a:solidFill>
                          <a:latin typeface="Segoe UI"/>
                        </a:defRPr>
                      </a:pPr>
                      <a:r>
                        <a:rPr>
                          <a:solidFill>
                            <a:schemeClr val="tx1"/>
                          </a:solidFill>
                        </a:rPr>
                        <a:t>Extracts to DB Tasks &amp; Risks</a:t>
                      </a:r>
                    </a:p>
                  </a:txBody>
                  <a:tcPr/>
                </a:tc>
                <a:extLst>
                  <a:ext uri="{0D108BD9-81ED-4DB2-BD59-A6C34878D82A}">
                    <a16:rowId xmlns:a16="http://schemas.microsoft.com/office/drawing/2014/main" val="10002"/>
                  </a:ext>
                </a:extLst>
              </a:tr>
              <a:tr h="627017">
                <a:tc>
                  <a:txBody>
                    <a:bodyPr/>
                    <a:lstStyle/>
                    <a:p>
                      <a:pPr algn="l">
                        <a:defRPr sz="1000" b="1">
                          <a:solidFill>
                            <a:srgbClr val="FFFFFF"/>
                          </a:solidFill>
                          <a:latin typeface="Segoe UI"/>
                        </a:defRPr>
                      </a:pPr>
                      <a:r>
                        <a:rPr>
                          <a:solidFill>
                            <a:schemeClr val="tx1"/>
                          </a:solidFill>
                        </a:rPr>
                        <a:t>Guideline Document RAG</a:t>
                      </a:r>
                    </a:p>
                  </a:txBody>
                  <a:tcPr/>
                </a:tc>
                <a:tc>
                  <a:txBody>
                    <a:bodyPr/>
                    <a:lstStyle/>
                    <a:p>
                      <a:pPr algn="l">
                        <a:defRPr sz="1000">
                          <a:solidFill>
                            <a:srgbClr val="9CA3AF"/>
                          </a:solidFill>
                          <a:latin typeface="Segoe UI"/>
                        </a:defRPr>
                      </a:pPr>
                      <a:r>
                        <a:rPr dirty="0">
                          <a:solidFill>
                            <a:schemeClr val="tx1"/>
                          </a:solidFill>
                        </a:rPr>
                        <a:t>Third-party AI add-on</a:t>
                      </a:r>
                    </a:p>
                  </a:txBody>
                  <a:tcPr/>
                </a:tc>
                <a:tc>
                  <a:txBody>
                    <a:bodyPr/>
                    <a:lstStyle/>
                    <a:p>
                      <a:pPr algn="l">
                        <a:defRPr sz="1000">
                          <a:solidFill>
                            <a:srgbClr val="9CA3AF"/>
                          </a:solidFill>
                          <a:latin typeface="Segoe UI"/>
                        </a:defRPr>
                      </a:pPr>
                      <a:r>
                        <a:rPr>
                          <a:solidFill>
                            <a:schemeClr val="tx1"/>
                          </a:solidFill>
                        </a:rPr>
                        <a:t>None</a:t>
                      </a:r>
                    </a:p>
                  </a:txBody>
                  <a:tcPr/>
                </a:tc>
                <a:tc>
                  <a:txBody>
                    <a:bodyPr/>
                    <a:lstStyle/>
                    <a:p>
                      <a:pPr algn="l">
                        <a:defRPr sz="1000">
                          <a:solidFill>
                            <a:srgbClr val="9CA3AF"/>
                          </a:solidFill>
                          <a:latin typeface="Segoe UI"/>
                        </a:defRPr>
                      </a:pPr>
                      <a:r>
                        <a:rPr>
                          <a:solidFill>
                            <a:schemeClr val="tx1"/>
                          </a:solidFill>
                        </a:rPr>
                        <a:t>Manual file upload</a:t>
                      </a:r>
                    </a:p>
                  </a:txBody>
                  <a:tcPr/>
                </a:tc>
                <a:tc>
                  <a:txBody>
                    <a:bodyPr/>
                    <a:lstStyle/>
                    <a:p>
                      <a:pPr algn="l">
                        <a:defRPr sz="1000" b="1">
                          <a:solidFill>
                            <a:srgbClr val="FF2D55"/>
                          </a:solidFill>
                          <a:latin typeface="Segoe UI"/>
                        </a:defRPr>
                      </a:pPr>
                      <a:r>
                        <a:rPr>
                          <a:solidFill>
                            <a:schemeClr val="tx1"/>
                          </a:solidFill>
                        </a:rPr>
                        <a:t>In-Process Cosine Embeddings</a:t>
                      </a:r>
                    </a:p>
                  </a:txBody>
                  <a:tcPr/>
                </a:tc>
                <a:extLst>
                  <a:ext uri="{0D108BD9-81ED-4DB2-BD59-A6C34878D82A}">
                    <a16:rowId xmlns:a16="http://schemas.microsoft.com/office/drawing/2014/main" val="10003"/>
                  </a:ext>
                </a:extLst>
              </a:tr>
              <a:tr h="627017">
                <a:tc>
                  <a:txBody>
                    <a:bodyPr/>
                    <a:lstStyle/>
                    <a:p>
                      <a:pPr algn="l">
                        <a:defRPr sz="1000" b="1">
                          <a:solidFill>
                            <a:srgbClr val="FFFFFF"/>
                          </a:solidFill>
                          <a:latin typeface="Segoe UI"/>
                        </a:defRPr>
                      </a:pPr>
                      <a:r>
                        <a:rPr>
                          <a:solidFill>
                            <a:schemeClr val="tx1"/>
                          </a:solidFill>
                        </a:rPr>
                        <a:t>Assistant Database Actions</a:t>
                      </a:r>
                    </a:p>
                  </a:txBody>
                  <a:tcPr/>
                </a:tc>
                <a:tc>
                  <a:txBody>
                    <a:bodyPr/>
                    <a:lstStyle/>
                    <a:p>
                      <a:pPr algn="l">
                        <a:defRPr sz="1000">
                          <a:solidFill>
                            <a:srgbClr val="9CA3AF"/>
                          </a:solidFill>
                          <a:latin typeface="Segoe UI"/>
                        </a:defRPr>
                      </a:pPr>
                      <a:r>
                        <a:rPr dirty="0">
                          <a:solidFill>
                            <a:schemeClr val="tx1"/>
                          </a:solidFill>
                        </a:rPr>
                        <a:t>None</a:t>
                      </a:r>
                    </a:p>
                  </a:txBody>
                  <a:tcPr/>
                </a:tc>
                <a:tc>
                  <a:txBody>
                    <a:bodyPr/>
                    <a:lstStyle/>
                    <a:p>
                      <a:pPr algn="l">
                        <a:defRPr sz="1000">
                          <a:solidFill>
                            <a:srgbClr val="9CA3AF"/>
                          </a:solidFill>
                          <a:latin typeface="Segoe UI"/>
                        </a:defRPr>
                      </a:pPr>
                      <a:r>
                        <a:rPr>
                          <a:solidFill>
                            <a:schemeClr val="tx1"/>
                          </a:solidFill>
                        </a:rPr>
                        <a:t>Basic slash commands</a:t>
                      </a:r>
                    </a:p>
                  </a:txBody>
                  <a:tcPr/>
                </a:tc>
                <a:tc>
                  <a:txBody>
                    <a:bodyPr/>
                    <a:lstStyle/>
                    <a:p>
                      <a:pPr algn="l">
                        <a:defRPr sz="1000">
                          <a:solidFill>
                            <a:srgbClr val="9CA3AF"/>
                          </a:solidFill>
                          <a:latin typeface="Segoe UI"/>
                        </a:defRPr>
                      </a:pPr>
                      <a:r>
                        <a:rPr>
                          <a:solidFill>
                            <a:schemeClr val="tx1"/>
                          </a:solidFill>
                        </a:rPr>
                        <a:t>None (No DB writes)</a:t>
                      </a:r>
                    </a:p>
                  </a:txBody>
                  <a:tcPr/>
                </a:tc>
                <a:tc>
                  <a:txBody>
                    <a:bodyPr/>
                    <a:lstStyle/>
                    <a:p>
                      <a:pPr algn="l">
                        <a:defRPr sz="1000" b="1">
                          <a:solidFill>
                            <a:srgbClr val="FF2D55"/>
                          </a:solidFill>
                          <a:latin typeface="Segoe UI"/>
                        </a:defRPr>
                      </a:pPr>
                      <a:r>
                        <a:rPr>
                          <a:solidFill>
                            <a:schemeClr val="tx1"/>
                          </a:solidFill>
                        </a:rPr>
                        <a:t>Mongoose-Validated Tools</a:t>
                      </a:r>
                    </a:p>
                  </a:txBody>
                  <a:tcPr/>
                </a:tc>
                <a:extLst>
                  <a:ext uri="{0D108BD9-81ED-4DB2-BD59-A6C34878D82A}">
                    <a16:rowId xmlns:a16="http://schemas.microsoft.com/office/drawing/2014/main" val="10004"/>
                  </a:ext>
                </a:extLst>
              </a:tr>
              <a:tr h="627017">
                <a:tc>
                  <a:txBody>
                    <a:bodyPr/>
                    <a:lstStyle/>
                    <a:p>
                      <a:pPr algn="l">
                        <a:defRPr sz="1000" b="1">
                          <a:solidFill>
                            <a:srgbClr val="FFFFFF"/>
                          </a:solidFill>
                          <a:latin typeface="Segoe UI"/>
                        </a:defRPr>
                      </a:pPr>
                      <a:r>
                        <a:rPr>
                          <a:solidFill>
                            <a:schemeClr val="tx1"/>
                          </a:solidFill>
                        </a:rPr>
                        <a:t>Proactive Risk Matrix</a:t>
                      </a:r>
                    </a:p>
                  </a:txBody>
                  <a:tcPr/>
                </a:tc>
                <a:tc>
                  <a:txBody>
                    <a:bodyPr/>
                    <a:lstStyle/>
                    <a:p>
                      <a:pPr algn="l">
                        <a:defRPr sz="1000">
                          <a:solidFill>
                            <a:srgbClr val="9CA3AF"/>
                          </a:solidFill>
                          <a:latin typeface="Segoe UI"/>
                        </a:defRPr>
                      </a:pPr>
                      <a:r>
                        <a:rPr dirty="0">
                          <a:solidFill>
                            <a:schemeClr val="tx1"/>
                          </a:solidFill>
                        </a:rPr>
                        <a:t>None</a:t>
                      </a:r>
                    </a:p>
                  </a:txBody>
                  <a:tcPr/>
                </a:tc>
                <a:tc>
                  <a:txBody>
                    <a:bodyPr/>
                    <a:lstStyle/>
                    <a:p>
                      <a:pPr algn="l">
                        <a:defRPr sz="1000">
                          <a:solidFill>
                            <a:srgbClr val="9CA3AF"/>
                          </a:solidFill>
                          <a:latin typeface="Segoe UI"/>
                        </a:defRPr>
                      </a:pPr>
                      <a:r>
                        <a:rPr dirty="0">
                          <a:solidFill>
                            <a:schemeClr val="tx1"/>
                          </a:solidFill>
                        </a:rPr>
                        <a:t>None</a:t>
                      </a:r>
                    </a:p>
                  </a:txBody>
                  <a:tcPr/>
                </a:tc>
                <a:tc>
                  <a:txBody>
                    <a:bodyPr/>
                    <a:lstStyle/>
                    <a:p>
                      <a:pPr algn="l">
                        <a:defRPr sz="1000">
                          <a:solidFill>
                            <a:srgbClr val="9CA3AF"/>
                          </a:solidFill>
                          <a:latin typeface="Segoe UI"/>
                        </a:defRPr>
                      </a:pPr>
                      <a:r>
                        <a:rPr dirty="0">
                          <a:solidFill>
                            <a:schemeClr val="tx1"/>
                          </a:solidFill>
                        </a:rPr>
                        <a:t>None</a:t>
                      </a:r>
                    </a:p>
                  </a:txBody>
                  <a:tcPr/>
                </a:tc>
                <a:tc>
                  <a:txBody>
                    <a:bodyPr/>
                    <a:lstStyle/>
                    <a:p>
                      <a:pPr algn="l">
                        <a:defRPr sz="1000" b="1">
                          <a:solidFill>
                            <a:srgbClr val="FF2D55"/>
                          </a:solidFill>
                          <a:latin typeface="Segoe UI"/>
                        </a:defRPr>
                      </a:pPr>
                      <a:r>
                        <a:rPr dirty="0">
                          <a:solidFill>
                            <a:schemeClr val="tx1"/>
                          </a:solidFill>
                        </a:rPr>
                        <a:t>Severity x Probability Engine</a:t>
                      </a:r>
                    </a:p>
                  </a:txBody>
                  <a:tcPr/>
                </a:tc>
                <a:extLst>
                  <a:ext uri="{0D108BD9-81ED-4DB2-BD59-A6C34878D82A}">
                    <a16:rowId xmlns:a16="http://schemas.microsoft.com/office/drawing/2014/main" val="10005"/>
                  </a:ext>
                </a:extLst>
              </a:tr>
              <a:tr h="627018">
                <a:tc>
                  <a:txBody>
                    <a:bodyPr/>
                    <a:lstStyle/>
                    <a:p>
                      <a:pPr algn="l">
                        <a:defRPr sz="1000" b="1">
                          <a:solidFill>
                            <a:srgbClr val="FFFFFF"/>
                          </a:solidFill>
                          <a:latin typeface="Segoe UI"/>
                        </a:defRPr>
                      </a:pPr>
                      <a:r>
                        <a:rPr>
                          <a:solidFill>
                            <a:schemeClr val="tx1"/>
                          </a:solidFill>
                        </a:rPr>
                        <a:t>Rate-Limit Resilience</a:t>
                      </a:r>
                    </a:p>
                  </a:txBody>
                  <a:tcPr/>
                </a:tc>
                <a:tc>
                  <a:txBody>
                    <a:bodyPr/>
                    <a:lstStyle/>
                    <a:p>
                      <a:pPr algn="l">
                        <a:defRPr sz="1000">
                          <a:solidFill>
                            <a:srgbClr val="9CA3AF"/>
                          </a:solidFill>
                          <a:latin typeface="Segoe UI"/>
                        </a:defRPr>
                      </a:pPr>
                      <a:r>
                        <a:rPr>
                          <a:solidFill>
                            <a:schemeClr val="tx1"/>
                          </a:solidFill>
                        </a:rPr>
                        <a:t>N/A</a:t>
                      </a:r>
                    </a:p>
                  </a:txBody>
                  <a:tcPr/>
                </a:tc>
                <a:tc>
                  <a:txBody>
                    <a:bodyPr/>
                    <a:lstStyle/>
                    <a:p>
                      <a:pPr algn="l">
                        <a:defRPr sz="1000">
                          <a:solidFill>
                            <a:srgbClr val="9CA3AF"/>
                          </a:solidFill>
                          <a:latin typeface="Segoe UI"/>
                        </a:defRPr>
                      </a:pPr>
                      <a:r>
                        <a:rPr>
                          <a:solidFill>
                            <a:schemeClr val="tx1"/>
                          </a:solidFill>
                        </a:rPr>
                        <a:t>N/A</a:t>
                      </a:r>
                    </a:p>
                  </a:txBody>
                  <a:tcPr/>
                </a:tc>
                <a:tc>
                  <a:txBody>
                    <a:bodyPr/>
                    <a:lstStyle/>
                    <a:p>
                      <a:pPr algn="l">
                        <a:defRPr sz="1000">
                          <a:solidFill>
                            <a:srgbClr val="9CA3AF"/>
                          </a:solidFill>
                          <a:latin typeface="Segoe UI"/>
                        </a:defRPr>
                      </a:pPr>
                      <a:r>
                        <a:rPr>
                          <a:solidFill>
                            <a:schemeClr val="tx1"/>
                          </a:solidFill>
                        </a:rPr>
                        <a:t>Fails on 429 quota</a:t>
                      </a:r>
                    </a:p>
                  </a:txBody>
                  <a:tcPr/>
                </a:tc>
                <a:tc>
                  <a:txBody>
                    <a:bodyPr/>
                    <a:lstStyle/>
                    <a:p>
                      <a:pPr algn="l">
                        <a:defRPr sz="1000" b="1">
                          <a:solidFill>
                            <a:srgbClr val="FF2D55"/>
                          </a:solidFill>
                          <a:latin typeface="Segoe UI"/>
                        </a:defRPr>
                      </a:pPr>
                      <a:r>
                        <a:rPr dirty="0">
                          <a:solidFill>
                            <a:schemeClr val="tx1"/>
                          </a:solidFill>
                        </a:rPr>
                        <a:t>Deterministic Regex Fallback</a:t>
                      </a:r>
                    </a:p>
                  </a:txBody>
                  <a:tcPr/>
                </a:tc>
                <a:extLst>
                  <a:ext uri="{0D108BD9-81ED-4DB2-BD59-A6C34878D82A}">
                    <a16:rowId xmlns:a16="http://schemas.microsoft.com/office/drawing/2014/main" val="10006"/>
                  </a:ext>
                </a:extLst>
              </a:tr>
            </a:tbl>
          </a:graphicData>
        </a:graphic>
      </p:graphicFrame>
      <p:sp>
        <p:nvSpPr>
          <p:cNvPr id="7" name="TextBox 6"/>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25 of 30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SCALABILITY</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Implementation Architecture &amp; Scaling Strategy</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Considerations for expanding from a single student club to campus-wide deployment.</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IN-PROCESS TO VECTOR DB</a:t>
            </a:r>
          </a:p>
          <a:p>
            <a:pPr>
              <a:spcBef>
                <a:spcPts val="300"/>
              </a:spcBef>
              <a:defRPr sz="1500" b="1">
                <a:solidFill>
                  <a:srgbClr val="FFFFFF"/>
                </a:solidFill>
                <a:latin typeface="Segoe UI"/>
              </a:defRPr>
            </a:pPr>
            <a:r>
              <a:t>RAG Scaling Path</a:t>
            </a:r>
          </a:p>
          <a:p>
            <a:pPr>
              <a:spcBef>
                <a:spcPts val="1000"/>
              </a:spcBef>
              <a:defRPr sz="1100" b="1">
                <a:solidFill>
                  <a:srgbClr val="FFFFFF"/>
                </a:solidFill>
                <a:latin typeface="Segoe UI"/>
              </a:defRPr>
            </a:pPr>
            <a:r>
              <a:t>• Current Architecture</a:t>
            </a:r>
          </a:p>
          <a:p>
            <a:pPr>
              <a:spcBef>
                <a:spcPts val="200"/>
              </a:spcBef>
              <a:defRPr sz="950">
                <a:solidFill>
                  <a:srgbClr val="9CA3AF"/>
                </a:solidFill>
                <a:latin typeface="Segoe UI"/>
              </a:defRPr>
            </a:pPr>
            <a:r>
              <a:t>In-process cosine similarity in Node.js provides lightweight, zero-dependency search for club PDFs.</a:t>
            </a:r>
          </a:p>
          <a:p>
            <a:pPr>
              <a:spcBef>
                <a:spcPts val="1000"/>
              </a:spcBef>
              <a:defRPr sz="1100" b="1">
                <a:solidFill>
                  <a:srgbClr val="FFFFFF"/>
                </a:solidFill>
                <a:latin typeface="Segoe UI"/>
              </a:defRPr>
            </a:pPr>
            <a:r>
              <a:t>• Scaling Threshold</a:t>
            </a:r>
          </a:p>
          <a:p>
            <a:pPr>
              <a:spcBef>
                <a:spcPts val="200"/>
              </a:spcBef>
              <a:defRPr sz="950">
                <a:solidFill>
                  <a:srgbClr val="9CA3AF"/>
                </a:solidFill>
                <a:latin typeface="Segoe UI"/>
              </a:defRPr>
            </a:pPr>
            <a:r>
              <a:t>For thousands of documents across university departments, migration to MongoDB Atlas Vector Search or pgvector.</a:t>
            </a:r>
          </a:p>
          <a:p>
            <a:pPr>
              <a:spcBef>
                <a:spcPts val="1000"/>
              </a:spcBef>
              <a:defRPr sz="1100" b="1">
                <a:solidFill>
                  <a:srgbClr val="FFFFFF"/>
                </a:solidFill>
                <a:latin typeface="Segoe UI"/>
              </a:defRPr>
            </a:pPr>
            <a:r>
              <a:t>• No Code Rewrite</a:t>
            </a:r>
          </a:p>
          <a:p>
            <a:pPr>
              <a:spcBef>
                <a:spcPts val="200"/>
              </a:spcBef>
              <a:defRPr sz="950">
                <a:solidFill>
                  <a:srgbClr val="9CA3AF"/>
                </a:solidFill>
                <a:latin typeface="Segoe UI"/>
              </a:defRPr>
            </a:pPr>
            <a:r>
              <a:t>retriever.js interface cleanly separates retrieval logic from controller handlers.</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CONSOLIDATED BACKEND</a:t>
            </a:r>
          </a:p>
          <a:p>
            <a:pPr>
              <a:spcBef>
                <a:spcPts val="300"/>
              </a:spcBef>
              <a:defRPr sz="1500" b="1">
                <a:solidFill>
                  <a:srgbClr val="FFFFFF"/>
                </a:solidFill>
                <a:latin typeface="Segoe UI"/>
              </a:defRPr>
            </a:pPr>
            <a:r>
              <a:t>Monolithic Micro-Service Design</a:t>
            </a:r>
          </a:p>
          <a:p>
            <a:pPr>
              <a:spcBef>
                <a:spcPts val="1000"/>
              </a:spcBef>
              <a:defRPr sz="1100" b="1">
                <a:solidFill>
                  <a:srgbClr val="FFFFFF"/>
                </a:solidFill>
                <a:latin typeface="Segoe UI"/>
              </a:defRPr>
            </a:pPr>
            <a:r>
              <a:t>• Consolidated Service</a:t>
            </a:r>
          </a:p>
          <a:p>
            <a:pPr>
              <a:spcBef>
                <a:spcPts val="200"/>
              </a:spcBef>
              <a:defRPr sz="950">
                <a:solidFill>
                  <a:srgbClr val="9CA3AF"/>
                </a:solidFill>
                <a:latin typeface="Segoe UI"/>
              </a:defRPr>
            </a:pPr>
            <a:r>
              <a:t>Migrated RAG pipeline directly into the Express backend, removing unnecessary network hops between microservices.</a:t>
            </a:r>
          </a:p>
          <a:p>
            <a:pPr>
              <a:spcBef>
                <a:spcPts val="1000"/>
              </a:spcBef>
              <a:defRPr sz="1100" b="1">
                <a:solidFill>
                  <a:srgbClr val="FFFFFF"/>
                </a:solidFill>
                <a:latin typeface="Segoe UI"/>
              </a:defRPr>
            </a:pPr>
            <a:r>
              <a:t>• Lower Latency</a:t>
            </a:r>
          </a:p>
          <a:p>
            <a:pPr>
              <a:spcBef>
                <a:spcPts val="200"/>
              </a:spcBef>
              <a:defRPr sz="950">
                <a:solidFill>
                  <a:srgbClr val="9CA3AF"/>
                </a:solidFill>
                <a:latin typeface="Segoe UI"/>
              </a:defRPr>
            </a:pPr>
            <a:r>
              <a:t>Eliminated inter-process serialization, resulting in faster end-to-end question answering.</a:t>
            </a:r>
          </a:p>
          <a:p>
            <a:pPr>
              <a:spcBef>
                <a:spcPts val="1000"/>
              </a:spcBef>
              <a:defRPr sz="1100" b="1">
                <a:solidFill>
                  <a:srgbClr val="FFFFFF"/>
                </a:solidFill>
                <a:latin typeface="Segoe UI"/>
              </a:defRPr>
            </a:pPr>
            <a:r>
              <a:t>• Unified Deployment</a:t>
            </a:r>
          </a:p>
          <a:p>
            <a:pPr>
              <a:spcBef>
                <a:spcPts val="200"/>
              </a:spcBef>
              <a:defRPr sz="950">
                <a:solidFill>
                  <a:srgbClr val="9CA3AF"/>
                </a:solidFill>
                <a:latin typeface="Segoe UI"/>
              </a:defRPr>
            </a:pPr>
            <a:r>
              <a:t>Single Node.js service simplifies continuous integration and environment configuration.</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STATELESS SESSIONS</a:t>
            </a:r>
          </a:p>
          <a:p>
            <a:pPr>
              <a:spcBef>
                <a:spcPts val="300"/>
              </a:spcBef>
              <a:defRPr sz="1500" b="1">
                <a:solidFill>
                  <a:srgbClr val="FFFFFF"/>
                </a:solidFill>
                <a:latin typeface="Segoe UI"/>
              </a:defRPr>
            </a:pPr>
            <a:r>
              <a:t>Horizontal API Scalability</a:t>
            </a:r>
          </a:p>
          <a:p>
            <a:pPr>
              <a:spcBef>
                <a:spcPts val="1000"/>
              </a:spcBef>
              <a:defRPr sz="1100" b="1">
                <a:solidFill>
                  <a:srgbClr val="FFFFFF"/>
                </a:solidFill>
                <a:latin typeface="Segoe UI"/>
              </a:defRPr>
            </a:pPr>
            <a:r>
              <a:t>• Stateless JWTs</a:t>
            </a:r>
          </a:p>
          <a:p>
            <a:pPr>
              <a:spcBef>
                <a:spcPts val="200"/>
              </a:spcBef>
              <a:defRPr sz="950">
                <a:solidFill>
                  <a:srgbClr val="9CA3AF"/>
                </a:solidFill>
                <a:latin typeface="Segoe UI"/>
              </a:defRPr>
            </a:pPr>
            <a:r>
              <a:t>Authentication tokens contain user role and id, allowing API instances to scale horizontally without sticky sessions.</a:t>
            </a:r>
          </a:p>
          <a:p>
            <a:pPr>
              <a:spcBef>
                <a:spcPts val="1000"/>
              </a:spcBef>
              <a:defRPr sz="1100" b="1">
                <a:solidFill>
                  <a:srgbClr val="FFFFFF"/>
                </a:solidFill>
                <a:latin typeface="Segoe UI"/>
              </a:defRPr>
            </a:pPr>
            <a:r>
              <a:t>• Database Indexing</a:t>
            </a:r>
          </a:p>
          <a:p>
            <a:pPr>
              <a:spcBef>
                <a:spcPts val="200"/>
              </a:spcBef>
              <a:defRPr sz="950">
                <a:solidFill>
                  <a:srgbClr val="9CA3AF"/>
                </a:solidFill>
                <a:latin typeface="Segoe UI"/>
              </a:defRPr>
            </a:pPr>
            <a:r>
              <a:t>Compound indexes on { clubId: 1, eventId: 1 } ensure fast queries under growing task volumes.</a:t>
            </a:r>
          </a:p>
          <a:p>
            <a:pPr>
              <a:spcBef>
                <a:spcPts val="1000"/>
              </a:spcBef>
              <a:defRPr sz="1100" b="1">
                <a:solidFill>
                  <a:srgbClr val="FFFFFF"/>
                </a:solidFill>
                <a:latin typeface="Segoe UI"/>
              </a:defRPr>
            </a:pPr>
            <a:r>
              <a:t>• Background Job Isolation</a:t>
            </a:r>
          </a:p>
          <a:p>
            <a:pPr>
              <a:spcBef>
                <a:spcPts val="200"/>
              </a:spcBef>
              <a:defRPr sz="950">
                <a:solidFill>
                  <a:srgbClr val="9CA3AF"/>
                </a:solidFill>
                <a:latin typeface="Segoe UI"/>
              </a:defRPr>
            </a:pPr>
            <a:r>
              <a:t>Cron jobs (deadline checks) can be offloaded to dedicated worker instances as event load expands.</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26 of 30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ENGINEERING CHALLENGES</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Technical Challenges Overcome During Development</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Practical obstacles solved across LLM formatting, chunk boundaries, and branch integration.</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CHALLENGE 01</a:t>
            </a:r>
          </a:p>
          <a:p>
            <a:pPr>
              <a:spcBef>
                <a:spcPts val="300"/>
              </a:spcBef>
              <a:defRPr sz="1500" b="1">
                <a:solidFill>
                  <a:srgbClr val="FFFFFF"/>
                </a:solidFill>
                <a:latin typeface="Segoe UI"/>
              </a:defRPr>
            </a:pPr>
            <a:r>
              <a:t>LLM JSON Formatting Inconsistencies</a:t>
            </a:r>
          </a:p>
          <a:p>
            <a:pPr>
              <a:spcBef>
                <a:spcPts val="1000"/>
              </a:spcBef>
              <a:defRPr sz="1100" b="1">
                <a:solidFill>
                  <a:srgbClr val="FFFFFF"/>
                </a:solidFill>
                <a:latin typeface="Segoe UI"/>
              </a:defRPr>
            </a:pPr>
            <a:r>
              <a:t>• The Problem</a:t>
            </a:r>
          </a:p>
          <a:p>
            <a:pPr>
              <a:spcBef>
                <a:spcPts val="200"/>
              </a:spcBef>
              <a:defRPr sz="950">
                <a:solidFill>
                  <a:srgbClr val="9CA3AF"/>
                </a:solidFill>
                <a:latin typeface="Segoe UI"/>
              </a:defRPr>
            </a:pPr>
            <a:r>
              <a:t>Gemini occasionally wraps outputs in markdown backticks (` ```json `) or prepends conversational text, breaking JSON.parse().</a:t>
            </a:r>
          </a:p>
          <a:p>
            <a:pPr>
              <a:spcBef>
                <a:spcPts val="1000"/>
              </a:spcBef>
              <a:defRPr sz="1100" b="1">
                <a:solidFill>
                  <a:srgbClr val="FFFFFF"/>
                </a:solidFill>
                <a:latin typeface="Segoe UI"/>
              </a:defRPr>
            </a:pPr>
            <a:r>
              <a:t>• The Solution</a:t>
            </a:r>
          </a:p>
          <a:p>
            <a:pPr>
              <a:spcBef>
                <a:spcPts val="200"/>
              </a:spcBef>
              <a:defRPr sz="950">
                <a:solidFill>
                  <a:srgbClr val="9CA3AF"/>
                </a:solidFill>
                <a:latin typeface="Segoe UI"/>
              </a:defRPr>
            </a:pPr>
            <a:r>
              <a:t>Implemented regex cleaning routines across aiService.js and intentParser.js to strip fences before parsing.</a:t>
            </a:r>
          </a:p>
          <a:p>
            <a:pPr>
              <a:spcBef>
                <a:spcPts val="1000"/>
              </a:spcBef>
              <a:defRPr sz="1100" b="1">
                <a:solidFill>
                  <a:srgbClr val="FFFFFF"/>
                </a:solidFill>
                <a:latin typeface="Segoe UI"/>
              </a:defRPr>
            </a:pPr>
            <a:r>
              <a:t>• Key Takeaway</a:t>
            </a:r>
          </a:p>
          <a:p>
            <a:pPr>
              <a:spcBef>
                <a:spcPts val="200"/>
              </a:spcBef>
              <a:defRPr sz="950">
                <a:solidFill>
                  <a:srgbClr val="9CA3AF"/>
                </a:solidFill>
                <a:latin typeface="Segoe UI"/>
              </a:defRPr>
            </a:pPr>
            <a:r>
              <a:t>Always sanitize generative outputs with defensive string processing before executing server parsers.</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CHALLENGE 02</a:t>
            </a:r>
          </a:p>
          <a:p>
            <a:pPr>
              <a:spcBef>
                <a:spcPts val="300"/>
              </a:spcBef>
              <a:defRPr sz="1500" b="1">
                <a:solidFill>
                  <a:srgbClr val="FFFFFF"/>
                </a:solidFill>
                <a:latin typeface="Segoe UI"/>
              </a:defRPr>
            </a:pPr>
            <a:r>
              <a:t>RAG Chunk Boundary Optimization</a:t>
            </a:r>
          </a:p>
          <a:p>
            <a:pPr>
              <a:spcBef>
                <a:spcPts val="1000"/>
              </a:spcBef>
              <a:defRPr sz="1100" b="1">
                <a:solidFill>
                  <a:srgbClr val="FFFFFF"/>
                </a:solidFill>
                <a:latin typeface="Segoe UI"/>
              </a:defRPr>
            </a:pPr>
            <a:r>
              <a:t>• The Problem</a:t>
            </a:r>
          </a:p>
          <a:p>
            <a:pPr>
              <a:spcBef>
                <a:spcPts val="200"/>
              </a:spcBef>
              <a:defRPr sz="950">
                <a:solidFill>
                  <a:srgbClr val="9CA3AF"/>
                </a:solidFill>
                <a:latin typeface="Segoe UI"/>
              </a:defRPr>
            </a:pPr>
            <a:r>
              <a:t>1,000+ character chunks diluted vector similarity; 100-character chunks fragmented multi-sentence rules.</a:t>
            </a:r>
          </a:p>
          <a:p>
            <a:pPr>
              <a:spcBef>
                <a:spcPts val="1000"/>
              </a:spcBef>
              <a:defRPr sz="1100" b="1">
                <a:solidFill>
                  <a:srgbClr val="FFFFFF"/>
                </a:solidFill>
                <a:latin typeface="Segoe UI"/>
              </a:defRPr>
            </a:pPr>
            <a:r>
              <a:t>• The Solution</a:t>
            </a:r>
          </a:p>
          <a:p>
            <a:pPr>
              <a:spcBef>
                <a:spcPts val="200"/>
              </a:spcBef>
              <a:defRPr sz="950">
                <a:solidFill>
                  <a:srgbClr val="9CA3AF"/>
                </a:solidFill>
                <a:latin typeface="Segoe UI"/>
              </a:defRPr>
            </a:pPr>
            <a:r>
              <a:t>Tuned chunker.js to 400-character windows with a 40-character sliding overlap for optimal clause isolation.</a:t>
            </a:r>
          </a:p>
          <a:p>
            <a:pPr>
              <a:spcBef>
                <a:spcPts val="1000"/>
              </a:spcBef>
              <a:defRPr sz="1100" b="1">
                <a:solidFill>
                  <a:srgbClr val="FFFFFF"/>
                </a:solidFill>
                <a:latin typeface="Segoe UI"/>
              </a:defRPr>
            </a:pPr>
            <a:r>
              <a:t>• Key Takeaway</a:t>
            </a:r>
          </a:p>
          <a:p>
            <a:pPr>
              <a:spcBef>
                <a:spcPts val="200"/>
              </a:spcBef>
              <a:defRPr sz="950">
                <a:solidFill>
                  <a:srgbClr val="9CA3AF"/>
                </a:solidFill>
                <a:latin typeface="Segoe UI"/>
              </a:defRPr>
            </a:pPr>
            <a:r>
              <a:t>Balancing chunk size with semantic overlap preserves specific policy rules during cosine matching.</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CHALLENGE 03</a:t>
            </a:r>
          </a:p>
          <a:p>
            <a:pPr>
              <a:spcBef>
                <a:spcPts val="300"/>
              </a:spcBef>
              <a:defRPr sz="1500" b="1">
                <a:solidFill>
                  <a:srgbClr val="FFFFFF"/>
                </a:solidFill>
                <a:latin typeface="Segoe UI"/>
              </a:defRPr>
            </a:pPr>
            <a:r>
              <a:t>Branch Consolidation &amp; Git Merges</a:t>
            </a:r>
          </a:p>
          <a:p>
            <a:pPr>
              <a:spcBef>
                <a:spcPts val="1000"/>
              </a:spcBef>
              <a:defRPr sz="1100" b="1">
                <a:solidFill>
                  <a:srgbClr val="FFFFFF"/>
                </a:solidFill>
                <a:latin typeface="Segoe UI"/>
              </a:defRPr>
            </a:pPr>
            <a:r>
              <a:t>• The Problem</a:t>
            </a:r>
          </a:p>
          <a:p>
            <a:pPr>
              <a:spcBef>
                <a:spcPts val="200"/>
              </a:spcBef>
              <a:defRPr sz="950">
                <a:solidFill>
                  <a:srgbClr val="9CA3AF"/>
                </a:solidFill>
                <a:latin typeface="Segoe UI"/>
              </a:defRPr>
            </a:pPr>
            <a:r>
              <a:t>Frontend, backend, RAG, and automation developed in parallel feature branches with diverging environment configurations.</a:t>
            </a:r>
          </a:p>
          <a:p>
            <a:pPr>
              <a:spcBef>
                <a:spcPts val="1000"/>
              </a:spcBef>
              <a:defRPr sz="1100" b="1">
                <a:solidFill>
                  <a:srgbClr val="FFFFFF"/>
                </a:solidFill>
                <a:latin typeface="Segoe UI"/>
              </a:defRPr>
            </a:pPr>
            <a:r>
              <a:t>• The Solution</a:t>
            </a:r>
          </a:p>
          <a:p>
            <a:pPr>
              <a:spcBef>
                <a:spcPts val="200"/>
              </a:spcBef>
              <a:defRPr sz="950">
                <a:solidFill>
                  <a:srgbClr val="9CA3AF"/>
                </a:solidFill>
                <a:latin typeface="Segoe UI"/>
              </a:defRPr>
            </a:pPr>
            <a:r>
              <a:t>Consolidated services into integration/frontend-backend-automation and validated end-to-end with autoDemo.js.</a:t>
            </a:r>
          </a:p>
          <a:p>
            <a:pPr>
              <a:spcBef>
                <a:spcPts val="1000"/>
              </a:spcBef>
              <a:defRPr sz="1100" b="1">
                <a:solidFill>
                  <a:srgbClr val="FFFFFF"/>
                </a:solidFill>
                <a:latin typeface="Segoe UI"/>
              </a:defRPr>
            </a:pPr>
            <a:r>
              <a:t>• Key Takeaway</a:t>
            </a:r>
          </a:p>
          <a:p>
            <a:pPr>
              <a:spcBef>
                <a:spcPts val="200"/>
              </a:spcBef>
              <a:defRPr sz="950">
                <a:solidFill>
                  <a:srgbClr val="9CA3AF"/>
                </a:solidFill>
                <a:latin typeface="Segoe UI"/>
              </a:defRPr>
            </a:pPr>
            <a:r>
              <a:t>Early integration testing and automated seeding scripts prevent late-stage merge surprises.</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27 of 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FUTURE ROADMAP</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Technical Roadmap &amp; Upcoming Milestones</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Planned post-hackathon feature expansion across real-time sockets, audio, and integrations.</a:t>
            </a:r>
          </a:p>
        </p:txBody>
      </p:sp>
      <p:sp>
        <p:nvSpPr>
          <p:cNvPr id="6" name="Rectangle 5"/>
          <p:cNvSpPr/>
          <p:nvPr/>
        </p:nvSpPr>
        <p:spPr>
          <a:xfrm>
            <a:off x="7315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834640" cy="4023360"/>
          </a:xfrm>
          <a:prstGeom prst="rect">
            <a:avLst/>
          </a:prstGeom>
          <a:noFill/>
        </p:spPr>
        <p:txBody>
          <a:bodyPr wrap="square">
            <a:spAutoFit/>
          </a:bodyPr>
          <a:lstStyle/>
          <a:p>
            <a:pPr>
              <a:defRPr sz="1000" b="1">
                <a:solidFill>
                  <a:srgbClr val="FF2D55"/>
                </a:solidFill>
                <a:latin typeface="Segoe UI"/>
              </a:defRPr>
            </a:pPr>
            <a:r>
              <a:t>PHASE 01 (SHORT TERM)</a:t>
            </a:r>
          </a:p>
          <a:p>
            <a:pPr>
              <a:spcBef>
                <a:spcPts val="300"/>
              </a:spcBef>
              <a:defRPr sz="1500" b="1">
                <a:solidFill>
                  <a:srgbClr val="FFFFFF"/>
                </a:solidFill>
                <a:latin typeface="Segoe UI"/>
              </a:defRPr>
            </a:pPr>
            <a:r>
              <a:t>Real-Time WebSockets</a:t>
            </a:r>
          </a:p>
          <a:p>
            <a:pPr>
              <a:spcBef>
                <a:spcPts val="1000"/>
              </a:spcBef>
              <a:defRPr sz="1100" b="1">
                <a:solidFill>
                  <a:srgbClr val="FFFFFF"/>
                </a:solidFill>
                <a:latin typeface="Segoe UI"/>
              </a:defRPr>
            </a:pPr>
            <a:r>
              <a:t>• Socket.IO Integration</a:t>
            </a:r>
          </a:p>
          <a:p>
            <a:pPr>
              <a:spcBef>
                <a:spcPts val="200"/>
              </a:spcBef>
              <a:defRPr sz="950">
                <a:solidFill>
                  <a:srgbClr val="9CA3AF"/>
                </a:solidFill>
                <a:latin typeface="Segoe UI"/>
              </a:defRPr>
            </a:pPr>
            <a:r>
              <a:t>Bidirectional updates to broadcast live task status changes and newly logged risks without page refresh.</a:t>
            </a:r>
          </a:p>
          <a:p>
            <a:pPr>
              <a:spcBef>
                <a:spcPts val="1000"/>
              </a:spcBef>
              <a:defRPr sz="1100" b="1">
                <a:solidFill>
                  <a:srgbClr val="FFFFFF"/>
                </a:solidFill>
                <a:latin typeface="Segoe UI"/>
              </a:defRPr>
            </a:pPr>
            <a:r>
              <a:t>• Interactive Task Boards</a:t>
            </a:r>
          </a:p>
          <a:p>
            <a:pPr>
              <a:spcBef>
                <a:spcPts val="200"/>
              </a:spcBef>
              <a:defRPr sz="950">
                <a:solidFill>
                  <a:srgbClr val="9CA3AF"/>
                </a:solidFill>
                <a:latin typeface="Segoe UI"/>
              </a:defRPr>
            </a:pPr>
            <a:r>
              <a:t>Kanban drag-and-drop task progression with optimistic UI updates in React.</a:t>
            </a:r>
          </a:p>
          <a:p>
            <a:pPr>
              <a:spcBef>
                <a:spcPts val="1000"/>
              </a:spcBef>
              <a:defRPr sz="1100" b="1">
                <a:solidFill>
                  <a:srgbClr val="FFFFFF"/>
                </a:solidFill>
                <a:latin typeface="Segoe UI"/>
              </a:defRPr>
            </a:pPr>
            <a:r>
              <a:t>• Live Volunteer Check-In</a:t>
            </a:r>
          </a:p>
          <a:p>
            <a:pPr>
              <a:spcBef>
                <a:spcPts val="200"/>
              </a:spcBef>
              <a:defRPr sz="950">
                <a:solidFill>
                  <a:srgbClr val="9CA3AF"/>
                </a:solidFill>
                <a:latin typeface="Segoe UI"/>
              </a:defRPr>
            </a:pPr>
            <a:r>
              <a:t>QR code verification for on-site volunteer badge arrivals during event morning registration.</a:t>
            </a:r>
          </a:p>
        </p:txBody>
      </p:sp>
      <p:sp>
        <p:nvSpPr>
          <p:cNvPr id="8" name="Rectangle 7"/>
          <p:cNvSpPr/>
          <p:nvPr/>
        </p:nvSpPr>
        <p:spPr>
          <a:xfrm>
            <a:off x="43891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63440" y="1920240"/>
            <a:ext cx="2834640" cy="4023360"/>
          </a:xfrm>
          <a:prstGeom prst="rect">
            <a:avLst/>
          </a:prstGeom>
          <a:noFill/>
        </p:spPr>
        <p:txBody>
          <a:bodyPr wrap="square">
            <a:spAutoFit/>
          </a:bodyPr>
          <a:lstStyle/>
          <a:p>
            <a:pPr>
              <a:defRPr sz="1000" b="1">
                <a:solidFill>
                  <a:srgbClr val="FF2D55"/>
                </a:solidFill>
                <a:latin typeface="Segoe UI"/>
              </a:defRPr>
            </a:pPr>
            <a:r>
              <a:t>PHASE 02 (MID TERM)</a:t>
            </a:r>
          </a:p>
          <a:p>
            <a:pPr>
              <a:spcBef>
                <a:spcPts val="300"/>
              </a:spcBef>
              <a:defRPr sz="1500" b="1">
                <a:solidFill>
                  <a:srgbClr val="FFFFFF"/>
                </a:solidFill>
                <a:latin typeface="Segoe UI"/>
              </a:defRPr>
            </a:pPr>
            <a:r>
              <a:t>Audio Memo Ingestion</a:t>
            </a:r>
          </a:p>
          <a:p>
            <a:pPr>
              <a:spcBef>
                <a:spcPts val="1000"/>
              </a:spcBef>
              <a:defRPr sz="1100" b="1">
                <a:solidFill>
                  <a:srgbClr val="FFFFFF"/>
                </a:solidFill>
                <a:latin typeface="Segoe UI"/>
              </a:defRPr>
            </a:pPr>
            <a:r>
              <a:t>• Voice Memo Ingestion</a:t>
            </a:r>
          </a:p>
          <a:p>
            <a:pPr>
              <a:spcBef>
                <a:spcPts val="200"/>
              </a:spcBef>
              <a:defRPr sz="950">
                <a:solidFill>
                  <a:srgbClr val="9CA3AF"/>
                </a:solidFill>
                <a:latin typeface="Segoe UI"/>
              </a:defRPr>
            </a:pPr>
            <a:r>
              <a:t>Upload audio recordings directly from smartphone voice memos with client-side audio pre-processing.</a:t>
            </a:r>
          </a:p>
          <a:p>
            <a:pPr>
              <a:spcBef>
                <a:spcPts val="1000"/>
              </a:spcBef>
              <a:defRPr sz="1100" b="1">
                <a:solidFill>
                  <a:srgbClr val="FFFFFF"/>
                </a:solidFill>
                <a:latin typeface="Segoe UI"/>
              </a:defRPr>
            </a:pPr>
            <a:r>
              <a:t>• Speech-to-Text Pipeline</a:t>
            </a:r>
          </a:p>
          <a:p>
            <a:pPr>
              <a:spcBef>
                <a:spcPts val="200"/>
              </a:spcBef>
              <a:defRPr sz="950">
                <a:solidFill>
                  <a:srgbClr val="9CA3AF"/>
                </a:solidFill>
                <a:latin typeface="Segoe UI"/>
              </a:defRPr>
            </a:pPr>
            <a:r>
              <a:t>Direct integration with Whisper or Gemini multimodal audio transcription for faster meeting capture.</a:t>
            </a:r>
          </a:p>
          <a:p>
            <a:pPr>
              <a:spcBef>
                <a:spcPts val="1000"/>
              </a:spcBef>
              <a:defRPr sz="1100" b="1">
                <a:solidFill>
                  <a:srgbClr val="FFFFFF"/>
                </a:solidFill>
                <a:latin typeface="Segoe UI"/>
              </a:defRPr>
            </a:pPr>
            <a:r>
              <a:t>• Calendar Integration</a:t>
            </a:r>
          </a:p>
          <a:p>
            <a:pPr>
              <a:spcBef>
                <a:spcPts val="200"/>
              </a:spcBef>
              <a:defRPr sz="950">
                <a:solidFill>
                  <a:srgbClr val="9CA3AF"/>
                </a:solidFill>
                <a:latin typeface="Segoe UI"/>
              </a:defRPr>
            </a:pPr>
            <a:r>
              <a:t>Two-way synchronization with Google Calendar and Outlook for automated mentor schedule invites.</a:t>
            </a:r>
          </a:p>
        </p:txBody>
      </p:sp>
      <p:sp>
        <p:nvSpPr>
          <p:cNvPr id="10" name="Rectangle 9"/>
          <p:cNvSpPr/>
          <p:nvPr/>
        </p:nvSpPr>
        <p:spPr>
          <a:xfrm>
            <a:off x="8046720" y="1691640"/>
            <a:ext cx="3383280"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920240"/>
            <a:ext cx="2834640" cy="4023360"/>
          </a:xfrm>
          <a:prstGeom prst="rect">
            <a:avLst/>
          </a:prstGeom>
          <a:noFill/>
        </p:spPr>
        <p:txBody>
          <a:bodyPr wrap="square">
            <a:spAutoFit/>
          </a:bodyPr>
          <a:lstStyle/>
          <a:p>
            <a:pPr>
              <a:defRPr sz="1000" b="1">
                <a:solidFill>
                  <a:srgbClr val="FF2D55"/>
                </a:solidFill>
                <a:latin typeface="Segoe UI"/>
              </a:defRPr>
            </a:pPr>
            <a:r>
              <a:t>PHASE 03 (LONG TERM)</a:t>
            </a:r>
          </a:p>
          <a:p>
            <a:pPr>
              <a:spcBef>
                <a:spcPts val="300"/>
              </a:spcBef>
              <a:defRPr sz="1500" b="1">
                <a:solidFill>
                  <a:srgbClr val="FFFFFF"/>
                </a:solidFill>
                <a:latin typeface="Segoe UI"/>
              </a:defRPr>
            </a:pPr>
            <a:r>
              <a:t>Mobile App &amp; Federation</a:t>
            </a:r>
          </a:p>
          <a:p>
            <a:pPr>
              <a:spcBef>
                <a:spcPts val="1000"/>
              </a:spcBef>
              <a:defRPr sz="1100" b="1">
                <a:solidFill>
                  <a:srgbClr val="FFFFFF"/>
                </a:solidFill>
                <a:latin typeface="Segoe UI"/>
              </a:defRPr>
            </a:pPr>
            <a:r>
              <a:t>• Cross-Platform App</a:t>
            </a:r>
          </a:p>
          <a:p>
            <a:pPr>
              <a:spcBef>
                <a:spcPts val="200"/>
              </a:spcBef>
              <a:defRPr sz="950">
                <a:solidFill>
                  <a:srgbClr val="9CA3AF"/>
                </a:solidFill>
                <a:latin typeface="Segoe UI"/>
              </a:defRPr>
            </a:pPr>
            <a:r>
              <a:t>React Native companion app for organizers and volunteers to receive push notifications on the move.</a:t>
            </a:r>
          </a:p>
          <a:p>
            <a:pPr>
              <a:spcBef>
                <a:spcPts val="1000"/>
              </a:spcBef>
              <a:defRPr sz="1100" b="1">
                <a:solidFill>
                  <a:srgbClr val="FFFFFF"/>
                </a:solidFill>
                <a:latin typeface="Segoe UI"/>
              </a:defRPr>
            </a:pPr>
            <a:r>
              <a:t>• Inter-Club Federation</a:t>
            </a:r>
          </a:p>
          <a:p>
            <a:pPr>
              <a:spcBef>
                <a:spcPts val="200"/>
              </a:spcBef>
              <a:defRPr sz="950">
                <a:solidFill>
                  <a:srgbClr val="9CA3AF"/>
                </a:solidFill>
                <a:latin typeface="Segoe UI"/>
              </a:defRPr>
            </a:pPr>
            <a:r>
              <a:t>Allow clubs on the same campus to co-host symposiums and share cross-society volunteer rosters.</a:t>
            </a:r>
          </a:p>
          <a:p>
            <a:pPr>
              <a:spcBef>
                <a:spcPts val="1000"/>
              </a:spcBef>
              <a:defRPr sz="1100" b="1">
                <a:solidFill>
                  <a:srgbClr val="FFFFFF"/>
                </a:solidFill>
                <a:latin typeface="Segoe UI"/>
              </a:defRPr>
            </a:pPr>
            <a:r>
              <a:t>• Budget &amp; Receipt OCR</a:t>
            </a:r>
          </a:p>
          <a:p>
            <a:pPr>
              <a:spcBef>
                <a:spcPts val="200"/>
              </a:spcBef>
              <a:defRPr sz="950">
                <a:solidFill>
                  <a:srgbClr val="9CA3AF"/>
                </a:solidFill>
                <a:latin typeface="Segoe UI"/>
              </a:defRPr>
            </a:pPr>
            <a:r>
              <a:t>Document loader expansion to parse sponsor contracts and scan reimbursement receipts.</a:t>
            </a:r>
          </a:p>
        </p:txBody>
      </p:sp>
      <p:sp>
        <p:nvSpPr>
          <p:cNvPr id="12" name="TextBox 11"/>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28 of 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411480" cy="320040"/>
          </a:xfrm>
          <a:prstGeom prst="rect">
            <a:avLst/>
          </a:prstGeom>
          <a:noFill/>
        </p:spPr>
        <p:txBody>
          <a:bodyPr wrap="none" lIns="0" tIns="0" rIns="0" bIns="0">
            <a:spAutoFit/>
          </a:bodyPr>
          <a:lstStyle/>
          <a:p>
            <a:pPr>
              <a:defRPr sz="1100" b="1">
                <a:solidFill>
                  <a:srgbClr val="FF2D55"/>
                </a:solidFill>
                <a:latin typeface="Segoe UI"/>
              </a:defRPr>
            </a:pPr>
            <a:r>
              <a:t>[C]</a:t>
            </a:r>
          </a:p>
        </p:txBody>
      </p:sp>
      <p:sp>
        <p:nvSpPr>
          <p:cNvPr id="3" name="TextBox 2"/>
          <p:cNvSpPr txBox="1"/>
          <p:nvPr/>
        </p:nvSpPr>
        <p:spPr>
          <a:xfrm>
            <a:off x="1188720" y="320040"/>
            <a:ext cx="10241280" cy="320040"/>
          </a:xfrm>
          <a:prstGeom prst="rect">
            <a:avLst/>
          </a:prstGeom>
          <a:noFill/>
        </p:spPr>
        <p:txBody>
          <a:bodyPr wrap="none" lIns="0" tIns="0" rIns="0" bIns="0">
            <a:spAutoFit/>
          </a:bodyPr>
          <a:lstStyle/>
          <a:p>
            <a:pPr>
              <a:defRPr sz="950" b="1">
                <a:solidFill>
                  <a:srgbClr val="9CA3AF"/>
                </a:solidFill>
                <a:latin typeface="Segoe UI"/>
              </a:defRPr>
            </a:pPr>
            <a:r>
              <a:t>CLUBOPS  •  BIT N BUILD 2026  •  THE TEAM</a:t>
            </a:r>
          </a:p>
        </p:txBody>
      </p:sp>
      <p:sp>
        <p:nvSpPr>
          <p:cNvPr id="4" name="TextBox 3"/>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The Engineering Team Behind ClubOps AI</a:t>
            </a:r>
          </a:p>
        </p:txBody>
      </p:sp>
      <p:sp>
        <p:nvSpPr>
          <p:cNvPr id="5" name="TextBox 4"/>
          <p:cNvSpPr txBox="1"/>
          <p:nvPr/>
        </p:nvSpPr>
        <p:spPr>
          <a:xfrm>
            <a:off x="731520" y="1188720"/>
            <a:ext cx="10698480" cy="320040"/>
          </a:xfrm>
          <a:prstGeom prst="rect">
            <a:avLst/>
          </a:prstGeom>
          <a:noFill/>
        </p:spPr>
        <p:txBody>
          <a:bodyPr wrap="square" lIns="0" tIns="0" rIns="0" bIns="0">
            <a:spAutoFit/>
          </a:bodyPr>
          <a:lstStyle/>
          <a:p>
            <a:pPr>
              <a:defRPr sz="1150">
                <a:solidFill>
                  <a:srgbClr val="9CA3AF"/>
                </a:solidFill>
                <a:latin typeface="Segoe UI"/>
              </a:defRPr>
            </a:pPr>
            <a:r>
              <a:t>Bit N Build 2026 Hackathon  •  Individual technical contributions and architectural ownership.</a:t>
            </a:r>
          </a:p>
        </p:txBody>
      </p:sp>
      <p:sp>
        <p:nvSpPr>
          <p:cNvPr id="6" name="Rectangle 5"/>
          <p:cNvSpPr/>
          <p:nvPr/>
        </p:nvSpPr>
        <p:spPr>
          <a:xfrm>
            <a:off x="731520"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74519"/>
            <a:ext cx="2121408" cy="3157275"/>
          </a:xfrm>
          <a:prstGeom prst="rect">
            <a:avLst/>
          </a:prstGeom>
          <a:noFill/>
        </p:spPr>
        <p:txBody>
          <a:bodyPr wrap="square">
            <a:spAutoFit/>
          </a:bodyPr>
          <a:lstStyle/>
          <a:p>
            <a:pPr>
              <a:defRPr sz="950" b="1">
                <a:solidFill>
                  <a:srgbClr val="FF2D55"/>
                </a:solidFill>
                <a:latin typeface="Segoe UI"/>
              </a:defRPr>
            </a:pPr>
            <a:r>
              <a:rPr dirty="0"/>
              <a:t>BACKEND LEAD</a:t>
            </a:r>
          </a:p>
          <a:p>
            <a:pPr>
              <a:spcBef>
                <a:spcPts val="200"/>
              </a:spcBef>
              <a:defRPr sz="1600" b="1">
                <a:solidFill>
                  <a:srgbClr val="FF2D55"/>
                </a:solidFill>
                <a:latin typeface="Segoe UI"/>
              </a:defRPr>
            </a:pPr>
            <a:r>
              <a:rPr lang="en-IN" dirty="0">
                <a:solidFill>
                  <a:schemeClr val="bg1"/>
                </a:solidFill>
              </a:rPr>
              <a:t>Krish M. Patel</a:t>
            </a:r>
            <a:endParaRPr dirty="0">
              <a:solidFill>
                <a:schemeClr val="bg1"/>
              </a:solidFill>
            </a:endParaRPr>
          </a:p>
          <a:p>
            <a:pPr>
              <a:spcBef>
                <a:spcPts val="800"/>
              </a:spcBef>
              <a:defRPr sz="1000" b="1">
                <a:solidFill>
                  <a:srgbClr val="FFFFFF"/>
                </a:solidFill>
                <a:latin typeface="Segoe UI"/>
              </a:defRPr>
            </a:pPr>
            <a:r>
              <a:rPr dirty="0"/>
              <a:t>• REST API Architecture</a:t>
            </a:r>
          </a:p>
          <a:p>
            <a:pPr>
              <a:spcBef>
                <a:spcPts val="100"/>
              </a:spcBef>
              <a:defRPr sz="850">
                <a:solidFill>
                  <a:srgbClr val="9CA3AF"/>
                </a:solidFill>
                <a:latin typeface="Segoe UI"/>
              </a:defRPr>
            </a:pPr>
            <a:r>
              <a:rPr dirty="0"/>
              <a:t>Engineered 11 Express controllers managing clubs, events, tasks, risks, meetings, and notifications.</a:t>
            </a:r>
          </a:p>
          <a:p>
            <a:pPr>
              <a:spcBef>
                <a:spcPts val="800"/>
              </a:spcBef>
              <a:defRPr sz="1000" b="1">
                <a:solidFill>
                  <a:srgbClr val="FFFFFF"/>
                </a:solidFill>
                <a:latin typeface="Segoe UI"/>
              </a:defRPr>
            </a:pPr>
            <a:r>
              <a:rPr dirty="0"/>
              <a:t>• Database Modeling</a:t>
            </a:r>
          </a:p>
          <a:p>
            <a:pPr>
              <a:spcBef>
                <a:spcPts val="100"/>
              </a:spcBef>
              <a:defRPr sz="850">
                <a:solidFill>
                  <a:srgbClr val="9CA3AF"/>
                </a:solidFill>
                <a:latin typeface="Segoe UI"/>
              </a:defRPr>
            </a:pPr>
            <a:r>
              <a:rPr dirty="0"/>
              <a:t>Designed Mongoose relational schemas, compound indexes, and foreign-key data population on MongoDB Atlas.</a:t>
            </a:r>
          </a:p>
          <a:p>
            <a:pPr>
              <a:spcBef>
                <a:spcPts val="800"/>
              </a:spcBef>
              <a:defRPr sz="1000" b="1">
                <a:solidFill>
                  <a:srgbClr val="FFFFFF"/>
                </a:solidFill>
                <a:latin typeface="Segoe UI"/>
              </a:defRPr>
            </a:pPr>
            <a:r>
              <a:rPr dirty="0"/>
              <a:t>• Security &amp; Governance</a:t>
            </a:r>
          </a:p>
          <a:p>
            <a:pPr>
              <a:spcBef>
                <a:spcPts val="100"/>
              </a:spcBef>
              <a:defRPr sz="850">
                <a:solidFill>
                  <a:srgbClr val="9CA3AF"/>
                </a:solidFill>
                <a:latin typeface="Segoe UI"/>
              </a:defRPr>
            </a:pPr>
            <a:r>
              <a:rPr dirty="0"/>
              <a:t>Implemented </a:t>
            </a:r>
            <a:r>
              <a:rPr dirty="0" err="1"/>
              <a:t>BCrypt</a:t>
            </a:r>
            <a:r>
              <a:rPr dirty="0"/>
              <a:t> password hashing, JWT authorization middleware, and role-based permissions.</a:t>
            </a:r>
          </a:p>
          <a:p>
            <a:pPr>
              <a:spcBef>
                <a:spcPts val="800"/>
              </a:spcBef>
              <a:defRPr sz="1000" b="1">
                <a:solidFill>
                  <a:srgbClr val="FFFFFF"/>
                </a:solidFill>
                <a:latin typeface="Segoe UI"/>
              </a:defRPr>
            </a:pPr>
            <a:r>
              <a:rPr dirty="0"/>
              <a:t>• Background Cron Jobs</a:t>
            </a:r>
          </a:p>
          <a:p>
            <a:pPr>
              <a:spcBef>
                <a:spcPts val="100"/>
              </a:spcBef>
              <a:defRPr sz="850">
                <a:solidFill>
                  <a:srgbClr val="9CA3AF"/>
                </a:solidFill>
                <a:latin typeface="Segoe UI"/>
              </a:defRPr>
            </a:pPr>
            <a:r>
              <a:rPr dirty="0"/>
              <a:t>Built taskDeadlineJob.js and eventCompletionJob.js to verify deadlines automatically.</a:t>
            </a:r>
          </a:p>
        </p:txBody>
      </p:sp>
      <p:sp>
        <p:nvSpPr>
          <p:cNvPr id="8" name="Rectangle 7"/>
          <p:cNvSpPr/>
          <p:nvPr/>
        </p:nvSpPr>
        <p:spPr>
          <a:xfrm>
            <a:off x="3447288"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30168" y="1874519"/>
            <a:ext cx="2121408" cy="4114800"/>
          </a:xfrm>
          <a:prstGeom prst="rect">
            <a:avLst/>
          </a:prstGeom>
          <a:noFill/>
        </p:spPr>
        <p:txBody>
          <a:bodyPr wrap="square">
            <a:spAutoFit/>
          </a:bodyPr>
          <a:lstStyle/>
          <a:p>
            <a:pPr>
              <a:defRPr sz="950" b="1">
                <a:solidFill>
                  <a:srgbClr val="FF2D55"/>
                </a:solidFill>
                <a:latin typeface="Segoe UI"/>
              </a:defRPr>
            </a:pPr>
            <a:r>
              <a:t>FRONTEND LEAD</a:t>
            </a:r>
          </a:p>
          <a:p>
            <a:pPr>
              <a:spcBef>
                <a:spcPts val="200"/>
              </a:spcBef>
              <a:defRPr sz="1600" b="1">
                <a:solidFill>
                  <a:srgbClr val="FFFFFF"/>
                </a:solidFill>
                <a:latin typeface="Segoe UI"/>
              </a:defRPr>
            </a:pPr>
            <a:r>
              <a:t>Krish Panchal</a:t>
            </a:r>
          </a:p>
          <a:p>
            <a:pPr>
              <a:spcBef>
                <a:spcPts val="800"/>
              </a:spcBef>
              <a:defRPr sz="1000" b="1">
                <a:solidFill>
                  <a:srgbClr val="FFFFFF"/>
                </a:solidFill>
                <a:latin typeface="Segoe UI"/>
              </a:defRPr>
            </a:pPr>
            <a:r>
              <a:t>• React 18 SPA</a:t>
            </a:r>
          </a:p>
          <a:p>
            <a:pPr>
              <a:spcBef>
                <a:spcPts val="100"/>
              </a:spcBef>
              <a:defRPr sz="850">
                <a:solidFill>
                  <a:srgbClr val="9CA3AF"/>
                </a:solidFill>
                <a:latin typeface="Segoe UI"/>
              </a:defRPr>
            </a:pPr>
            <a:r>
              <a:t>Architected component hierarchy, client routing with React Router, and modular dashboard layouts.</a:t>
            </a:r>
          </a:p>
          <a:p>
            <a:pPr>
              <a:spcBef>
                <a:spcPts val="800"/>
              </a:spcBef>
              <a:defRPr sz="1000" b="1">
                <a:solidFill>
                  <a:srgbClr val="FFFFFF"/>
                </a:solidFill>
                <a:latin typeface="Segoe UI"/>
              </a:defRPr>
            </a:pPr>
            <a:r>
              <a:t>• Tailwind CSS UI</a:t>
            </a:r>
          </a:p>
          <a:p>
            <a:pPr>
              <a:spcBef>
                <a:spcPts val="100"/>
              </a:spcBef>
              <a:defRPr sz="850">
                <a:solidFill>
                  <a:srgbClr val="9CA3AF"/>
                </a:solidFill>
                <a:latin typeface="Segoe UI"/>
              </a:defRPr>
            </a:pPr>
            <a:r>
              <a:t>Crafted the Neo-Brutalist design system featuring bone-cream cards and dark obsidian backgrounds.</a:t>
            </a:r>
          </a:p>
          <a:p>
            <a:pPr>
              <a:spcBef>
                <a:spcPts val="800"/>
              </a:spcBef>
              <a:defRPr sz="1000" b="1">
                <a:solidFill>
                  <a:srgbClr val="FFFFFF"/>
                </a:solidFill>
                <a:latin typeface="Segoe UI"/>
              </a:defRPr>
            </a:pPr>
            <a:r>
              <a:t>• Context Management</a:t>
            </a:r>
          </a:p>
          <a:p>
            <a:pPr>
              <a:spcBef>
                <a:spcPts val="100"/>
              </a:spcBef>
              <a:defRPr sz="850">
                <a:solidFill>
                  <a:srgbClr val="9CA3AF"/>
                </a:solidFill>
                <a:latin typeface="Segoe UI"/>
              </a:defRPr>
            </a:pPr>
            <a:r>
              <a:t>Engineered AuthContext for persistent session state, tokens, and active event selection.</a:t>
            </a:r>
          </a:p>
          <a:p>
            <a:pPr>
              <a:spcBef>
                <a:spcPts val="800"/>
              </a:spcBef>
              <a:defRPr sz="1000" b="1">
                <a:solidFill>
                  <a:srgbClr val="FFFFFF"/>
                </a:solidFill>
                <a:latin typeface="Segoe UI"/>
              </a:defRPr>
            </a:pPr>
            <a:r>
              <a:t>• Interactive Telemetry</a:t>
            </a:r>
          </a:p>
          <a:p>
            <a:pPr>
              <a:spcBef>
                <a:spcPts val="100"/>
              </a:spcBef>
              <a:defRPr sz="850">
                <a:solidFill>
                  <a:srgbClr val="9CA3AF"/>
                </a:solidFill>
                <a:latin typeface="Segoe UI"/>
              </a:defRPr>
            </a:pPr>
            <a:r>
              <a:t>Built responsive KPI stat cards, volunteer roster tables, and docked agent command bar.</a:t>
            </a:r>
          </a:p>
        </p:txBody>
      </p:sp>
      <p:sp>
        <p:nvSpPr>
          <p:cNvPr id="10" name="Rectangle 9"/>
          <p:cNvSpPr/>
          <p:nvPr/>
        </p:nvSpPr>
        <p:spPr>
          <a:xfrm>
            <a:off x="6163056"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45936" y="1874519"/>
            <a:ext cx="2121408" cy="4114800"/>
          </a:xfrm>
          <a:prstGeom prst="rect">
            <a:avLst/>
          </a:prstGeom>
          <a:noFill/>
        </p:spPr>
        <p:txBody>
          <a:bodyPr wrap="square">
            <a:spAutoFit/>
          </a:bodyPr>
          <a:lstStyle/>
          <a:p>
            <a:pPr>
              <a:defRPr sz="950" b="1">
                <a:solidFill>
                  <a:srgbClr val="FF2D55"/>
                </a:solidFill>
                <a:latin typeface="Segoe UI"/>
              </a:defRPr>
            </a:pPr>
            <a:r>
              <a:t>RAG SPECIALIST</a:t>
            </a:r>
          </a:p>
          <a:p>
            <a:pPr>
              <a:spcBef>
                <a:spcPts val="200"/>
              </a:spcBef>
              <a:defRPr sz="1600" b="1">
                <a:solidFill>
                  <a:srgbClr val="FFFFFF"/>
                </a:solidFill>
                <a:latin typeface="Segoe UI"/>
              </a:defRPr>
            </a:pPr>
            <a:r>
              <a:t>Krish K. Patel</a:t>
            </a:r>
          </a:p>
          <a:p>
            <a:pPr>
              <a:spcBef>
                <a:spcPts val="800"/>
              </a:spcBef>
              <a:defRPr sz="1000" b="1">
                <a:solidFill>
                  <a:srgbClr val="FFFFFF"/>
                </a:solidFill>
                <a:latin typeface="Segoe UI"/>
              </a:defRPr>
            </a:pPr>
            <a:r>
              <a:t>• Document Ingestion</a:t>
            </a:r>
          </a:p>
          <a:p>
            <a:pPr>
              <a:spcBef>
                <a:spcPts val="100"/>
              </a:spcBef>
              <a:defRPr sz="850">
                <a:solidFill>
                  <a:srgbClr val="9CA3AF"/>
                </a:solidFill>
                <a:latin typeface="Segoe UI"/>
              </a:defRPr>
            </a:pPr>
            <a:r>
              <a:t>Built document loader and text extraction for university venue policies and hackathon rulebooks.</a:t>
            </a:r>
          </a:p>
          <a:p>
            <a:pPr>
              <a:spcBef>
                <a:spcPts val="800"/>
              </a:spcBef>
              <a:defRPr sz="1000" b="1">
                <a:solidFill>
                  <a:srgbClr val="FFFFFF"/>
                </a:solidFill>
                <a:latin typeface="Segoe UI"/>
              </a:defRPr>
            </a:pPr>
            <a:r>
              <a:t>• Sliding Window Chunker</a:t>
            </a:r>
          </a:p>
          <a:p>
            <a:pPr>
              <a:spcBef>
                <a:spcPts val="100"/>
              </a:spcBef>
              <a:defRPr sz="850">
                <a:solidFill>
                  <a:srgbClr val="9CA3AF"/>
                </a:solidFill>
                <a:latin typeface="Segoe UI"/>
              </a:defRPr>
            </a:pPr>
            <a:r>
              <a:t>Engineered chunker.js with 400-char windows and 40-char overlap for optimal clause isolation.</a:t>
            </a:r>
          </a:p>
          <a:p>
            <a:pPr>
              <a:spcBef>
                <a:spcPts val="800"/>
              </a:spcBef>
              <a:defRPr sz="1000" b="1">
                <a:solidFill>
                  <a:srgbClr val="FFFFFF"/>
                </a:solidFill>
                <a:latin typeface="Segoe UI"/>
              </a:defRPr>
            </a:pPr>
            <a:r>
              <a:t>• Vector Embeddings</a:t>
            </a:r>
          </a:p>
          <a:p>
            <a:pPr>
              <a:spcBef>
                <a:spcPts val="100"/>
              </a:spcBef>
              <a:defRPr sz="850">
                <a:solidFill>
                  <a:srgbClr val="9CA3AF"/>
                </a:solidFill>
                <a:latin typeface="Segoe UI"/>
              </a:defRPr>
            </a:pPr>
            <a:r>
              <a:t>Integrated Gemini embedding model with DocumentChunk storage directly in MongoDB.</a:t>
            </a:r>
          </a:p>
          <a:p>
            <a:pPr>
              <a:spcBef>
                <a:spcPts val="800"/>
              </a:spcBef>
              <a:defRPr sz="1000" b="1">
                <a:solidFill>
                  <a:srgbClr val="FFFFFF"/>
                </a:solidFill>
                <a:latin typeface="Segoe UI"/>
              </a:defRPr>
            </a:pPr>
            <a:r>
              <a:t>• Cosine Similarity Engine</a:t>
            </a:r>
          </a:p>
          <a:p>
            <a:pPr>
              <a:spcBef>
                <a:spcPts val="100"/>
              </a:spcBef>
              <a:defRPr sz="850">
                <a:solidFill>
                  <a:srgbClr val="9CA3AF"/>
                </a:solidFill>
                <a:latin typeface="Segoe UI"/>
              </a:defRPr>
            </a:pPr>
            <a:r>
              <a:t>Implemented retriever.js calculating in-memory vector similarity directly inside Node.js.</a:t>
            </a:r>
          </a:p>
        </p:txBody>
      </p:sp>
      <p:sp>
        <p:nvSpPr>
          <p:cNvPr id="12" name="Rectangle 11"/>
          <p:cNvSpPr/>
          <p:nvPr/>
        </p:nvSpPr>
        <p:spPr>
          <a:xfrm>
            <a:off x="8878824" y="1691640"/>
            <a:ext cx="2487168" cy="4480560"/>
          </a:xfrm>
          <a:prstGeom prst="rect">
            <a:avLst/>
          </a:prstGeom>
          <a:solidFill>
            <a:srgbClr val="14161D"/>
          </a:solidFill>
          <a:ln w="1270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61704" y="1874519"/>
            <a:ext cx="2121408" cy="4114800"/>
          </a:xfrm>
          <a:prstGeom prst="rect">
            <a:avLst/>
          </a:prstGeom>
          <a:noFill/>
        </p:spPr>
        <p:txBody>
          <a:bodyPr wrap="square">
            <a:spAutoFit/>
          </a:bodyPr>
          <a:lstStyle/>
          <a:p>
            <a:pPr>
              <a:defRPr sz="950" b="1">
                <a:solidFill>
                  <a:srgbClr val="FF2D55"/>
                </a:solidFill>
                <a:latin typeface="Segoe UI"/>
              </a:defRPr>
            </a:pPr>
            <a:r>
              <a:t>AI AUTOMATION LEAD</a:t>
            </a:r>
          </a:p>
          <a:p>
            <a:pPr>
              <a:spcBef>
                <a:spcPts val="200"/>
              </a:spcBef>
              <a:defRPr sz="1600" b="1">
                <a:solidFill>
                  <a:srgbClr val="FFFFFF"/>
                </a:solidFill>
                <a:latin typeface="Segoe UI"/>
              </a:defRPr>
            </a:pPr>
            <a:r>
              <a:t>Dhruv Patel</a:t>
            </a:r>
          </a:p>
          <a:p>
            <a:pPr>
              <a:spcBef>
                <a:spcPts val="800"/>
              </a:spcBef>
              <a:defRPr sz="1000" b="1">
                <a:solidFill>
                  <a:srgbClr val="FFFFFF"/>
                </a:solidFill>
                <a:latin typeface="Segoe UI"/>
              </a:defRPr>
            </a:pPr>
            <a:r>
              <a:t>• Gemini Integration</a:t>
            </a:r>
          </a:p>
          <a:p>
            <a:pPr>
              <a:spcBef>
                <a:spcPts val="100"/>
              </a:spcBef>
              <a:defRPr sz="850">
                <a:solidFill>
                  <a:srgbClr val="9CA3AF"/>
                </a:solidFill>
                <a:latin typeface="Segoe UI"/>
              </a:defRPr>
            </a:pPr>
            <a:r>
              <a:t>Integrated Google Gemini API via @google/genai SDK for meeting transcript analysis.</a:t>
            </a:r>
          </a:p>
          <a:p>
            <a:pPr>
              <a:spcBef>
                <a:spcPts val="800"/>
              </a:spcBef>
              <a:defRPr sz="1000" b="1">
                <a:solidFill>
                  <a:srgbClr val="FFFFFF"/>
                </a:solidFill>
                <a:latin typeface="Segoe UI"/>
              </a:defRPr>
            </a:pPr>
            <a:r>
              <a:t>• Intent Parser Engine</a:t>
            </a:r>
          </a:p>
          <a:p>
            <a:pPr>
              <a:spcBef>
                <a:spcPts val="100"/>
              </a:spcBef>
              <a:defRPr sz="850">
                <a:solidFill>
                  <a:srgbClr val="9CA3AF"/>
                </a:solidFill>
                <a:latin typeface="Segoe UI"/>
              </a:defRPr>
            </a:pPr>
            <a:r>
              <a:t>Engineered intentParser.js with strict JSON schema constraints mapping to 5 backend tools.</a:t>
            </a:r>
          </a:p>
          <a:p>
            <a:pPr>
              <a:spcBef>
                <a:spcPts val="800"/>
              </a:spcBef>
              <a:defRPr sz="1000" b="1">
                <a:solidFill>
                  <a:srgbClr val="FFFFFF"/>
                </a:solidFill>
                <a:latin typeface="Segoe UI"/>
              </a:defRPr>
            </a:pPr>
            <a:r>
              <a:t>• Tool Execution Registry</a:t>
            </a:r>
          </a:p>
          <a:p>
            <a:pPr>
              <a:spcBef>
                <a:spcPts val="100"/>
              </a:spcBef>
              <a:defRPr sz="850">
                <a:solidFill>
                  <a:srgbClr val="9CA3AF"/>
                </a:solidFill>
                <a:latin typeface="Segoe UI"/>
              </a:defRPr>
            </a:pPr>
            <a:r>
              <a:t>Built toolRegistry.js providing a safe bridge between extracted intent parameters and Mongoose models.</a:t>
            </a:r>
          </a:p>
          <a:p>
            <a:pPr>
              <a:spcBef>
                <a:spcPts val="800"/>
              </a:spcBef>
              <a:defRPr sz="1000" b="1">
                <a:solidFill>
                  <a:srgbClr val="FFFFFF"/>
                </a:solidFill>
                <a:latin typeface="Segoe UI"/>
              </a:defRPr>
            </a:pPr>
            <a:r>
              <a:t>• Deterministic Fallback</a:t>
            </a:r>
          </a:p>
          <a:p>
            <a:pPr>
              <a:spcBef>
                <a:spcPts val="100"/>
              </a:spcBef>
              <a:defRPr sz="850">
                <a:solidFill>
                  <a:srgbClr val="9CA3AF"/>
                </a:solidFill>
                <a:latin typeface="Segoe UI"/>
              </a:defRPr>
            </a:pPr>
            <a:r>
              <a:t>Authored fallbackParseIntent heuristics to ensure basic functionality under rate limits.</a:t>
            </a:r>
          </a:p>
        </p:txBody>
      </p:sp>
      <p:sp>
        <p:nvSpPr>
          <p:cNvPr id="14" name="TextBox 1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29 of 30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C0D10"/>
        </a:solidFill>
        <a:effectLst/>
      </p:bgPr>
    </p:bg>
    <p:spTree>
      <p:nvGrpSpPr>
        <p:cNvPr id="1" name=""/>
        <p:cNvGrpSpPr/>
        <p:nvPr/>
      </p:nvGrpSpPr>
      <p:grpSpPr>
        <a:xfrm>
          <a:off x="0" y="0"/>
          <a:ext cx="0" cy="0"/>
          <a:chOff x="0" y="0"/>
          <a:chExt cx="0" cy="0"/>
        </a:xfrm>
      </p:grpSpPr>
      <p:sp>
        <p:nvSpPr>
          <p:cNvPr id="2" name="Rectangle 1"/>
          <p:cNvSpPr/>
          <p:nvPr/>
        </p:nvSpPr>
        <p:spPr>
          <a:xfrm>
            <a:off x="731520" y="731520"/>
            <a:ext cx="10728655" cy="5394960"/>
          </a:xfrm>
          <a:prstGeom prst="rect">
            <a:avLst/>
          </a:prstGeom>
          <a:solidFill>
            <a:srgbClr val="14161D"/>
          </a:solidFill>
          <a:ln w="19050">
            <a:solidFill>
              <a:srgbClr val="2A2E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097280"/>
            <a:ext cx="9601200" cy="4663440"/>
          </a:xfrm>
          <a:prstGeom prst="rect">
            <a:avLst/>
          </a:prstGeom>
          <a:noFill/>
        </p:spPr>
        <p:txBody>
          <a:bodyPr wrap="square">
            <a:spAutoFit/>
          </a:bodyPr>
          <a:lstStyle/>
          <a:p>
            <a:pPr>
              <a:defRPr sz="1100" b="1">
                <a:solidFill>
                  <a:srgbClr val="FF2D55"/>
                </a:solidFill>
                <a:latin typeface="Segoe UI"/>
              </a:defRPr>
            </a:pPr>
            <a:r>
              <a:t>BIT N BUILD 2026 HACKATHON  •  SUMMARY &amp; DEMONSTRATION</a:t>
            </a:r>
          </a:p>
          <a:p>
            <a:pPr>
              <a:spcBef>
                <a:spcPts val="600"/>
              </a:spcBef>
              <a:defRPr sz="3600" b="1">
                <a:solidFill>
                  <a:srgbClr val="FFFFFF"/>
                </a:solidFill>
                <a:latin typeface="Segoe UI"/>
              </a:defRPr>
            </a:pPr>
            <a:r>
              <a:t>Empowering College Clubs with Practical Intelligence</a:t>
            </a:r>
          </a:p>
          <a:p>
            <a:pPr>
              <a:spcBef>
                <a:spcPts val="800"/>
              </a:spcBef>
              <a:defRPr sz="1300">
                <a:solidFill>
                  <a:srgbClr val="9CA3AF"/>
                </a:solidFill>
                <a:latin typeface="Segoe UI"/>
              </a:defRPr>
            </a:pPr>
            <a:r>
              <a:t>ClubOps AI demonstrates how modern full-stack web technologies and generative AI can be integrated responsibly to reduce operational friction in university organizations—without giving up human verification.</a:t>
            </a:r>
          </a:p>
          <a:p>
            <a:pPr>
              <a:spcBef>
                <a:spcPts val="600"/>
              </a:spcBef>
              <a:defRPr sz="1150" b="1">
                <a:solidFill>
                  <a:srgbClr val="FFFFFF"/>
                </a:solidFill>
                <a:latin typeface="Segoe UI"/>
              </a:defRPr>
            </a:pPr>
            <a:r>
              <a:t>✓  Complete Full-Stack Implementation: Working codebase integrated across frontend, backend, RAG, and automation branches.</a:t>
            </a:r>
          </a:p>
          <a:p>
            <a:pPr>
              <a:spcBef>
                <a:spcPts val="600"/>
              </a:spcBef>
              <a:defRPr sz="1150" b="1">
                <a:solidFill>
                  <a:srgbClr val="FFFFFF"/>
                </a:solidFill>
                <a:latin typeface="Segoe UI"/>
              </a:defRPr>
            </a:pPr>
            <a:r>
              <a:t>✓  Server-Side Verification: AI assists with drafting and extraction, while Node.js validates and enforces Mongoose schema constraints.</a:t>
            </a:r>
          </a:p>
          <a:p>
            <a:pPr>
              <a:spcBef>
                <a:spcPts val="600"/>
              </a:spcBef>
              <a:defRPr sz="1150" b="1">
                <a:solidFill>
                  <a:srgbClr val="FFFFFF"/>
                </a:solidFill>
                <a:latin typeface="Segoe UI"/>
              </a:defRPr>
            </a:pPr>
            <a:r>
              <a:t>✓  Context-Grounded RAG: Venue guidelines and hackathon policies searched via vector embeddings for cited factual answers.</a:t>
            </a:r>
          </a:p>
          <a:p>
            <a:pPr>
              <a:spcBef>
                <a:spcPts val="600"/>
              </a:spcBef>
              <a:defRPr sz="1150" b="1">
                <a:solidFill>
                  <a:srgbClr val="FFFFFF"/>
                </a:solidFill>
                <a:latin typeface="Segoe UI"/>
              </a:defRPr>
            </a:pPr>
            <a:r>
              <a:t>✓  Resilient Heuristic Fallbacks: Deterministic keyword matching ensures core event operations remain usable if APIs rate-limit.</a:t>
            </a:r>
          </a:p>
          <a:p>
            <a:pPr>
              <a:spcBef>
                <a:spcPts val="1400"/>
              </a:spcBef>
              <a:defRPr sz="1300" b="1">
                <a:solidFill>
                  <a:srgbClr val="FF2D55"/>
                </a:solidFill>
                <a:latin typeface="Segoe UI"/>
              </a:defRPr>
            </a:pPr>
            <a:r>
              <a:t>GitHub Repository: https://github.com/Kpanchal1210/ClubOps-AI</a:t>
            </a:r>
            <a:br/>
            <a:r>
              <a:t>Ready for Live Demo &amp; Judges' Q&amp;A</a:t>
            </a:r>
          </a:p>
        </p:txBody>
      </p:sp>
      <p:sp>
        <p:nvSpPr>
          <p:cNvPr id="4" name="TextBox 3"/>
          <p:cNvSpPr txBox="1"/>
          <p:nvPr/>
        </p:nvSpPr>
        <p:spPr>
          <a:xfrm>
            <a:off x="731520" y="6473952"/>
            <a:ext cx="10698480" cy="274320"/>
          </a:xfrm>
          <a:prstGeom prst="rect">
            <a:avLst/>
          </a:prstGeom>
          <a:noFill/>
        </p:spPr>
        <p:txBody>
          <a:bodyPr wrap="square" lIns="0" tIns="0" rIns="0" bIns="0">
            <a:spAutoFit/>
          </a:bodyPr>
          <a:lstStyle/>
          <a:p>
            <a:pPr>
              <a:defRPr sz="900">
                <a:solidFill>
                  <a:srgbClr val="6E7382"/>
                </a:solidFill>
                <a:latin typeface="Segoe UI"/>
              </a:defRPr>
            </a:pPr>
            <a:r>
              <a:t>ClubOps AI  •  Bit N Build 2026 Hackathon  •  Slide 30 of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6457</Words>
  <Application>Microsoft Office PowerPoint</Application>
  <PresentationFormat>Widescreen</PresentationFormat>
  <Paragraphs>764</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Krish Patel</cp:lastModifiedBy>
  <cp:revision>2</cp:revision>
  <dcterms:created xsi:type="dcterms:W3CDTF">2013-01-27T09:14:16Z</dcterms:created>
  <dcterms:modified xsi:type="dcterms:W3CDTF">2026-09-20T06:44:35Z</dcterms:modified>
  <cp:category/>
</cp:coreProperties>
</file>